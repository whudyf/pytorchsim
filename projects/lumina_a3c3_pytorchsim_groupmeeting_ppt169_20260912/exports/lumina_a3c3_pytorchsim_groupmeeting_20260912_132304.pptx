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报告主线是 Lumina、HIDA 和 PyTorchSim。我们从搜索闭环讲到固定算法下的联合实验。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固定算法语义 A，搜索实现映射 I 和硬件 H。难点是组合多且评估慢。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用 QualE、QuanE、SE、EE、TM 把模拟反馈变成搜索依据。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QualE 从模拟器代码提取影响关系，迁移后要继续追踪 MLIR、TOG 和指标。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QuanE 用小幅微扰估计局部方向和资源代价。局部斜率不能外推整个空间。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SE 定位瓶颈，EE 执行模拟，TM 记录轨迹。迁移后还要检查合法性和正确性。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Lumina 外层重点搜索硬件，但 mapper 也可能随硬件调整映射。我们的增量是显式暴露 I。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SkyNet、EDD、Medusa、SnapKV 分别代表结构搜索、连续松弛、解码组织和 KV 压缩。HIDA 最贴近固定算法的实现问题。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从 PyTorch 或 C++ 进入 MLIR，依次处理 Functional、Structural dataflow，最后生成 HLS C++ 和 RTL。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Functional 层表示任务层级，Structural 层表示存储、接口和调度细节。lowering 把上层选择变成约束。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按模式融合任务并检查关键路径。PyTorchSim 还要检查 TOG 的搬运和同步。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先保证多生产者等并发合法，再平衡路径。buffer 复制、soft FIFO 和 token flow 支持弹性流水。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IA 看计算强度，CA 看共享 buffer 连接和布局。并行因子受总预算与整除约束。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论文 Algorithm 4 是局部 DSE 描述，公开仓库用多个 MLIR pass 实现 pipeline。二者不能逐行等同。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PyTorchSim 主链是 PyTorch、MLIR、TOG 和 TOGSim。Gem5、Spike、TOGSim 分工不同。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torch_openreg 注册 npu 并接入 TorchInductor。fusion、tile、vector lane 和 scratchpad 是关键入口。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MLIRCodeCache 生成验证二进制、周期样本和 TOG，缓存避免重复编译。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TOG 节点表达 MOVIN、COMP、MOVOUT 和 BAR，并携带循环、地址和 cycle 属性。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TOGSim 每周期推进 Scheduler、Core、DMA、NoC 和 DRAM，输出 cycles、利用率、流量和 stall。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YAML 字段分别影响编译和系统模拟。每个候选都要保存配置、TOG、属性和结果。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短片段适合预筛，完整 workload 才能确认跨 kernel 影响。microbenchmark 不能直接当最终答案。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HIDA 提供表示和约束，Lumina 提供搜索顺序，PyTorchSim 提供执行证据。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拟议闭环先固定 A，生成合法 I，再搜索 H 加 I。首个问题是相同预算下是否更有效。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第一阶段选 GEMM、attention、conv，暴露最小映射旋钮。随后比较 H-only 与 I 加 H，并解释每个结果。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52450" y="1847850"/>
            <a:ext cx="6014537" cy="1695450"/>
            <a:chOff x="552450" y="1847850"/>
            <a:chExt cx="6014537" cy="1695450"/>
          </a:xfrm>
        </p:grpSpPr>
        <p:sp>
          <p:nvSpPr>
            <p:cNvPr id="3" name="TextBox 3"/>
            <p:cNvSpPr txBox="1"/>
            <p:nvPr/>
          </p:nvSpPr>
          <p:spPr>
            <a:xfrm>
              <a:off x="552450" y="1847850"/>
              <a:ext cx="425481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从搜索策略到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2450" y="2628900"/>
              <a:ext cx="601453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映射—硬件协同设计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2455" y="721042"/>
            <a:ext cx="7662481" cy="3550920"/>
            <a:chOff x="592455" y="721042"/>
            <a:chExt cx="7662481" cy="3550920"/>
          </a:xfrm>
        </p:grpSpPr>
        <p:sp>
          <p:nvSpPr>
            <p:cNvPr id="6" name="TextBox 6"/>
            <p:cNvSpPr txBox="1"/>
            <p:nvPr/>
          </p:nvSpPr>
          <p:spPr>
            <a:xfrm>
              <a:off x="592455" y="721042"/>
              <a:ext cx="31889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组会文献研读与研究方案 · 2026.09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4840" y="3529965"/>
              <a:ext cx="76300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Lumina 的搜索闭环 · HIDA 的实现机制 · PyTorchSim 的系统架构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0555" y="3997642"/>
              <a:ext cx="46282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固定算法结构，怎样用更少的仿真理解并优化 I × H？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1030" y="4943475"/>
            <a:ext cx="10808970" cy="995363"/>
            <a:chOff x="621030" y="4943475"/>
            <a:chExt cx="10808970" cy="995363"/>
          </a:xfrm>
        </p:grpSpPr>
        <p:sp>
          <p:nvSpPr>
            <p:cNvPr id="10" name="Line 10"/>
            <p:cNvSpPr/>
            <p:nvPr/>
          </p:nvSpPr>
          <p:spPr>
            <a:xfrm>
              <a:off x="647700" y="5010150"/>
              <a:ext cx="10782300" cy="9525"/>
            </a:xfrm>
            <a:custGeom>
              <a:avLst/>
              <a:gdLst/>
              <a:ahLst/>
              <a:cxnLst/>
              <a:rect l="l" t="t" r="r" b="b"/>
              <a:pathLst>
                <a:path w="10782300" h="9525">
                  <a:moveTo>
                    <a:pt x="0" y="0"/>
                  </a:moveTo>
                  <a:lnTo>
                    <a:pt x="10782300" y="0"/>
                  </a:lnTo>
                </a:path>
              </a:pathLst>
            </a:custGeom>
            <a:noFill/>
            <a:ln w="19050">
              <a:solidFill>
                <a:srgbClr val="2A3A5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695325" y="4943475"/>
              <a:ext cx="133350" cy="133350"/>
            </a:xfrm>
            <a:prstGeom prst="ellipse">
              <a:avLst/>
            </a:prstGeom>
            <a:solidFill>
              <a:srgbClr val="4DA3F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181475" y="4943475"/>
              <a:ext cx="133350" cy="13335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181975" y="4943475"/>
              <a:ext cx="133350" cy="133350"/>
            </a:xfrm>
            <a:prstGeom prst="ellipse">
              <a:avLst/>
            </a:prstGeom>
            <a:solidFill>
              <a:srgbClr val="36D6B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1030" y="5250180"/>
              <a:ext cx="147031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01 Lumina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0555" y="566451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下一次应该评估什么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07180" y="5250180"/>
              <a:ext cx="221101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02 A3C3 / HIDA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16705" y="566451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如何组织与约束设计空间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07680" y="5250180"/>
              <a:ext cx="225931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03 PyTorchSim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17205" y="566451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如何落到可验证的实验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01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10005822" cy="1137286"/>
            <a:chOff x="499110" y="496252"/>
            <a:chExt cx="10005822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研究问题 · 固定算法结构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100058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我们要缩小搜索空间，同时保留软硬件之间的相互影响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73196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难点是组合多、单次评估慢，而且并非任意 workload 都能显出映射与硬件的耦合。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1080" y="2435542"/>
            <a:ext cx="8529971" cy="1055370"/>
            <a:chOff x="1021080" y="2435542"/>
            <a:chExt cx="8529971" cy="1055370"/>
          </a:xfrm>
        </p:grpSpPr>
        <p:sp>
          <p:nvSpPr>
            <p:cNvPr id="7" name="TextBox 7"/>
            <p:cNvSpPr txBox="1"/>
            <p:nvPr/>
          </p:nvSpPr>
          <p:spPr>
            <a:xfrm>
              <a:off x="1021080" y="2630805"/>
              <a:ext cx="92744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AAB8CC"/>
                  </a:solidFill>
                  <a:latin typeface="Georgia"/>
                  <a:ea typeface="Microsoft YaHei"/>
                  <a:cs typeface="Georgia"/>
                </a:rPr>
                <a:t>固定 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88005" y="2435542"/>
              <a:ext cx="1126998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dirty="0">
                  <a:solidFill>
                    <a:srgbClr val="4DA3FF"/>
                  </a:solidFill>
                  <a:latin typeface="Georgia"/>
                  <a:ea typeface="Microsoft YaHei"/>
                  <a:cs typeface="Georgia"/>
                </a:rPr>
                <a:t>min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26255" y="2435542"/>
              <a:ext cx="5224796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Latency(A, I, H)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61360" y="3094672"/>
              <a:ext cx="53368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4DA3FF"/>
                  </a:solidFill>
                  <a:latin typeface="Georgia"/>
                  <a:ea typeface="Microsoft YaHei"/>
                  <a:cs typeface="Georgia"/>
                </a:rPr>
                <a:t>I, H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4890" y="3714750"/>
            <a:ext cx="10119360" cy="2409825"/>
            <a:chOff x="1024890" y="3714750"/>
            <a:chExt cx="10119360" cy="2409825"/>
          </a:xfrm>
        </p:grpSpPr>
        <p:sp>
          <p:nvSpPr>
            <p:cNvPr id="12" name="Line 12"/>
            <p:cNvSpPr/>
            <p:nvPr/>
          </p:nvSpPr>
          <p:spPr>
            <a:xfrm>
              <a:off x="1047750" y="37147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4890" y="4044315"/>
              <a:ext cx="161911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A · 算法语义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09950" y="4076700"/>
              <a:ext cx="50768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网络拓扑、权重、输入任务；数值误差在约定容差内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4890" y="4587240"/>
              <a:ext cx="182614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I · 实现与映射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09950" y="4619625"/>
              <a:ext cx="42552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融合边界、tile、循环/数据布局、合法调度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4890" y="5130165"/>
              <a:ext cx="161911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H · 硬件配置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09950" y="51625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计算资源、片上存储、NoC、DRAM；遵守资源预算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8700" y="5819775"/>
              <a:ext cx="62160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先找“能解释机制的代表场景”，再研究“如何高效找到好配置”。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21970" y="6408420"/>
            <a:ext cx="40976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研究表述：A / I / H 为本报告的解释性记号；后续方案尚待实验验证。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8453128" cy="1137286"/>
            <a:chOff x="499110" y="496252"/>
            <a:chExt cx="8453128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01 · LUMINA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84531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Lumina：把模拟器知识变成下一次搜索的依据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57422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先建立架构启发式知识 AHK，再用瓶颈反馈选择候选并修正认识。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2019300"/>
            <a:ext cx="11125200" cy="1428750"/>
            <a:chOff x="533400" y="2019300"/>
            <a:chExt cx="11125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2019300"/>
              <a:ext cx="11125200" cy="1428750"/>
            </a:xfrm>
            <a:prstGeom prst="roundRect">
              <a:avLst>
                <a:gd name="adj" fmla="val 8000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8190" y="22059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知识构建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56535" y="2246948"/>
              <a:ext cx="8569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QualE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64155" y="2721292"/>
              <a:ext cx="30213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读取源码 → 参数与指标的影响关系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14235" y="2246948"/>
              <a:ext cx="93169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QuanE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21855" y="2721292"/>
              <a:ext cx="2429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局部微扰 → 方向与影响强度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66060" y="3080385"/>
              <a:ext cx="4227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18096"/>
                  </a:solidFill>
                  <a:latin typeface="Noto Sans CJK SC"/>
                  <a:ea typeface="Microsoft YaHei"/>
                  <a:cs typeface="Noto Sans CJK SC"/>
                </a:rPr>
                <a:t>关系与权重组成可更新的 AHK，而非已证明的因果模型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3400" y="3876675"/>
            <a:ext cx="11125200" cy="2286000"/>
            <a:chOff x="533400" y="3876675"/>
            <a:chExt cx="11125200" cy="2286000"/>
          </a:xfrm>
        </p:grpSpPr>
        <p:sp>
          <p:nvSpPr>
            <p:cNvPr id="15" name="Rectangle 15"/>
            <p:cNvSpPr/>
            <p:nvPr/>
          </p:nvSpPr>
          <p:spPr>
            <a:xfrm>
              <a:off x="533400" y="3876675"/>
              <a:ext cx="2238375" cy="1323975"/>
            </a:xfrm>
            <a:prstGeom prst="roundRect">
              <a:avLst>
                <a:gd name="adj" fmla="val 7194"/>
              </a:avLst>
            </a:prstGeom>
            <a:solidFill>
              <a:srgbClr val="162235"/>
            </a:solidFill>
            <a:ln w="9525">
              <a:solidFill>
                <a:srgbClr val="FFB45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5335" y="4104322"/>
              <a:ext cx="19185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SE · 制定策略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2955" y="4588192"/>
              <a:ext cx="14440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瓶颈 + 资源权衡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495675" y="3876675"/>
              <a:ext cx="2238375" cy="1323975"/>
            </a:xfrm>
            <a:prstGeom prst="roundRect">
              <a:avLst>
                <a:gd name="adj" fmla="val 7194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737610" y="4104322"/>
              <a:ext cx="191851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EE · 执行评估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45230" y="4588192"/>
              <a:ext cx="16412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配置序列化 + 模拟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67475" y="3876675"/>
              <a:ext cx="2238375" cy="1323975"/>
            </a:xfrm>
            <a:prstGeom prst="roundRect">
              <a:avLst>
                <a:gd name="adj" fmla="val 7194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09410" y="4104322"/>
              <a:ext cx="14400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Simulator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17030" y="4588192"/>
              <a:ext cx="1769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PPA + 关键路径反馈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429750" y="3876675"/>
              <a:ext cx="2228850" cy="1323975"/>
            </a:xfrm>
            <a:prstGeom prst="roundRect">
              <a:avLst>
                <a:gd name="adj" fmla="val 7194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71685" y="4104322"/>
              <a:ext cx="197832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TM · 记忆轨迹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79305" y="4588192"/>
              <a:ext cx="16707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结果 + 失败 + 修正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2781300" y="4533900"/>
              <a:ext cx="6496050" cy="9525"/>
            </a:xfrm>
            <a:custGeom>
              <a:avLst/>
              <a:gdLst/>
              <a:ahLst/>
              <a:cxnLst/>
              <a:rect l="l" t="t" r="r" b="b"/>
              <a:pathLst>
                <a:path w="6496050" h="9525">
                  <a:moveTo>
                    <a:pt x="0" y="0"/>
                  </a:moveTo>
                  <a:lnTo>
                    <a:pt x="561975" y="0"/>
                  </a:lnTo>
                  <a:moveTo>
                    <a:pt x="2952750" y="0"/>
                  </a:moveTo>
                  <a:lnTo>
                    <a:pt x="3533775" y="0"/>
                  </a:lnTo>
                  <a:moveTo>
                    <a:pt x="5924550" y="0"/>
                  </a:moveTo>
                  <a:lnTo>
                    <a:pt x="6496050" y="0"/>
                  </a:lnTo>
                </a:path>
              </a:pathLst>
            </a:custGeom>
            <a:noFill/>
            <a:ln w="19050">
              <a:solidFill>
                <a:srgbClr val="4DA3F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3276600" y="44767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6248400" y="44767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30" name="Polygon 30"/>
            <p:cNvSpPr/>
            <p:nvPr/>
          </p:nvSpPr>
          <p:spPr>
            <a:xfrm>
              <a:off x="9210675" y="44767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657350" y="5219700"/>
              <a:ext cx="8886825" cy="457200"/>
            </a:xfrm>
            <a:custGeom>
              <a:avLst/>
              <a:gdLst/>
              <a:ahLst/>
              <a:cxnLst/>
              <a:rect l="l" t="t" r="r" b="b"/>
              <a:pathLst>
                <a:path w="8886825" h="457200">
                  <a:moveTo>
                    <a:pt x="8886825" y="0"/>
                  </a:moveTo>
                  <a:lnTo>
                    <a:pt x="8886825" y="457200"/>
                  </a:lnTo>
                  <a:lnTo>
                    <a:pt x="0" y="457200"/>
                  </a:lnTo>
                  <a:lnTo>
                    <a:pt x="0" y="19050"/>
                  </a:lnTo>
                </a:path>
              </a:pathLst>
            </a:custGeom>
            <a:noFill/>
            <a:ln w="19050">
              <a:solidFill>
                <a:srgbClr val="A78BFA"/>
              </a:solidFill>
              <a:custDash>
                <a:ds d="350000" sp="300000"/>
              </a:custDash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48125" y="5857875"/>
              <a:ext cx="3324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每次评估都改变下一轮的选择依据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21970" y="6408420"/>
            <a:ext cx="24151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来源：LUMINA §3，arXiv:2603.05904。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9094908" cy="1137286"/>
            <a:chOff x="499110" y="496252"/>
            <a:chExt cx="9094908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20969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LUMINA · QUALITATIVE ENGINE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909490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QualE：先追踪“谁影响谁”，再选择要探索的参数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58310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LLM 阅读模拟器代码，提取架构资源与 PPA 指标之间的结构关系。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2143125"/>
            <a:ext cx="2905125" cy="2962275"/>
            <a:chOff x="533400" y="2143125"/>
            <a:chExt cx="2905125" cy="2962275"/>
          </a:xfrm>
        </p:grpSpPr>
        <p:sp>
          <p:nvSpPr>
            <p:cNvPr id="7" name="Rectangle 7"/>
            <p:cNvSpPr/>
            <p:nvPr/>
          </p:nvSpPr>
          <p:spPr>
            <a:xfrm>
              <a:off x="533400" y="2143125"/>
              <a:ext cx="2905125" cy="2962275"/>
            </a:xfrm>
            <a:prstGeom prst="roundRect">
              <a:avLst>
                <a:gd name="adj" fmla="val 3934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5335" y="24374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输入：代码与定义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1050" y="30765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参数在哪里被读取？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2955" y="3540442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计算吞吐与资源公式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2955" y="3940492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功耗 / 面积计算路径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955" y="4340542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访存与互连模型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95750" y="2143125"/>
            <a:ext cx="3781425" cy="2962275"/>
            <a:chOff x="4095750" y="2143125"/>
            <a:chExt cx="3781425" cy="2962275"/>
          </a:xfrm>
        </p:grpSpPr>
        <p:sp>
          <p:nvSpPr>
            <p:cNvPr id="14" name="Rectangle 14"/>
            <p:cNvSpPr/>
            <p:nvPr/>
          </p:nvSpPr>
          <p:spPr>
            <a:xfrm>
              <a:off x="4095750" y="2143125"/>
              <a:ext cx="3781425" cy="2962275"/>
            </a:xfrm>
            <a:prstGeom prst="roundRect">
              <a:avLst>
                <a:gd name="adj" fmla="val 3859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56735" y="2437448"/>
              <a:ext cx="202317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Influence Map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66260" y="301371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18096"/>
                  </a:solidFill>
                  <a:latin typeface="Noto Sans CJK SC"/>
                  <a:ea typeface="Microsoft YaHei"/>
                  <a:cs typeface="Noto Sans CJK SC"/>
                </a:rPr>
                <a:t>概念示意，非原文数值表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62450" y="3486150"/>
              <a:ext cx="26231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Core 数 → 计算资源 / 面积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62450" y="3905250"/>
              <a:ext cx="22945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存储通道 → 带宽 / 功耗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62450" y="4324350"/>
              <a:ext cx="2261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互连资源 → 传输与拥塞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534400" y="2143125"/>
            <a:ext cx="3124200" cy="2962275"/>
            <a:chOff x="8534400" y="2143125"/>
            <a:chExt cx="3124200" cy="2962275"/>
          </a:xfrm>
        </p:grpSpPr>
        <p:sp>
          <p:nvSpPr>
            <p:cNvPr id="21" name="Rectangle 21"/>
            <p:cNvSpPr/>
            <p:nvPr/>
          </p:nvSpPr>
          <p:spPr>
            <a:xfrm>
              <a:off x="8534400" y="2143125"/>
              <a:ext cx="3124200" cy="2962275"/>
            </a:xfrm>
            <a:prstGeom prst="roundRect">
              <a:avLst>
                <a:gd name="adj" fmla="val 3859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85860" y="24374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输出：搜索依据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1575" y="3076575"/>
              <a:ext cx="222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先看与瓶颈相关的参数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93480" y="355949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同时列出资源代价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93480" y="3959542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形成可被实验推翻的假设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93480" y="4359592"/>
              <a:ext cx="22327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代码关系 ≠ 性能因果证明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3476625" y="3619500"/>
            <a:ext cx="4924425" cy="9525"/>
          </a:xfrm>
          <a:custGeom>
            <a:avLst/>
            <a:gdLst/>
            <a:ahLst/>
            <a:cxnLst/>
            <a:rect l="l" t="t" r="r" b="b"/>
            <a:pathLst>
              <a:path w="4924425" h="9525">
                <a:moveTo>
                  <a:pt x="0" y="0"/>
                </a:moveTo>
                <a:lnTo>
                  <a:pt x="485775" y="0"/>
                </a:lnTo>
                <a:moveTo>
                  <a:pt x="4448175" y="0"/>
                </a:moveTo>
                <a:lnTo>
                  <a:pt x="4924425" y="0"/>
                </a:lnTo>
              </a:path>
            </a:pathLst>
          </a:custGeom>
          <a:solidFill>
            <a:srgbClr val="000000"/>
          </a:solidFill>
          <a:ln w="19050">
            <a:solidFill>
              <a:srgbClr val="4DA3FF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3895725" y="3562350"/>
            <a:ext cx="104775" cy="114300"/>
          </a:xfrm>
          <a:custGeom>
            <a:avLst/>
            <a:gdLst/>
            <a:ahLst/>
            <a:cxnLst/>
            <a:rect l="l" t="t" r="r" b="b"/>
            <a:pathLst>
              <a:path w="104775" h="114300">
                <a:moveTo>
                  <a:pt x="10477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sp>
        <p:nvSpPr>
          <p:cNvPr id="30" name="Polygon 30"/>
          <p:cNvSpPr/>
          <p:nvPr/>
        </p:nvSpPr>
        <p:spPr>
          <a:xfrm>
            <a:off x="8334375" y="3562350"/>
            <a:ext cx="104775" cy="114300"/>
          </a:xfrm>
          <a:custGeom>
            <a:avLst/>
            <a:gdLst/>
            <a:ahLst/>
            <a:cxnLst/>
            <a:rect l="l" t="t" r="r" b="b"/>
            <a:pathLst>
              <a:path w="104775" h="114300">
                <a:moveTo>
                  <a:pt x="10477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grpSp>
        <p:nvGrpSpPr>
          <p:cNvPr id="33" name="Group 33"/>
          <p:cNvGrpSpPr/>
          <p:nvPr/>
        </p:nvGrpSpPr>
        <p:grpSpPr>
          <a:xfrm>
            <a:off x="533400" y="5572125"/>
            <a:ext cx="11125200" cy="571500"/>
            <a:chOff x="533400" y="5572125"/>
            <a:chExt cx="11125200" cy="571500"/>
          </a:xfrm>
        </p:grpSpPr>
        <p:sp>
          <p:nvSpPr>
            <p:cNvPr id="31" name="Line 31"/>
            <p:cNvSpPr/>
            <p:nvPr/>
          </p:nvSpPr>
          <p:spPr>
            <a:xfrm>
              <a:off x="533400" y="5572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7700" y="5838825"/>
              <a:ext cx="7212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迁移方向：编译参数 → MLIR / TOG 的变化 → 模拟器中的资源与延迟变化。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21970" y="6408420"/>
            <a:ext cx="29935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来源：LUMINA §3.2.1；底部为本研究的迁移建议。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0" grpId="0"/>
      <p:bldP spid="27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8742964" cy="1137286"/>
            <a:chOff x="499110" y="496252"/>
            <a:chExt cx="8742964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21812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LUMINA · QUANTITATIVE ENGINE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87429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QuanE：用小幅微扰，为影响关系赋予局部权重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6146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一次只调整少量资源，观察指标如何变化；为后续资源权衡提供先验。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2143125"/>
            <a:ext cx="4429125" cy="2857500"/>
            <a:chOff x="533400" y="2143125"/>
            <a:chExt cx="4429125" cy="2857500"/>
          </a:xfrm>
        </p:grpSpPr>
        <p:sp>
          <p:nvSpPr>
            <p:cNvPr id="7" name="Rectangle 7"/>
            <p:cNvSpPr/>
            <p:nvPr/>
          </p:nvSpPr>
          <p:spPr>
            <a:xfrm>
              <a:off x="533400" y="2143125"/>
              <a:ext cx="4429125" cy="2857500"/>
            </a:xfrm>
            <a:prstGeom prst="roundRect">
              <a:avLst>
                <a:gd name="adj" fmla="val 4000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385" y="2437448"/>
              <a:ext cx="262125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1 在基准点附近采样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2020" y="3122295"/>
              <a:ext cx="261975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4F7FB"/>
                  </a:solidFill>
                  <a:latin typeface="Consolas"/>
                  <a:ea typeface="Microsoft YaHei"/>
                  <a:cs typeface="Consolas"/>
                </a:rPr>
                <a:t>x₀ − Δ x₀ x₀ + 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0100" y="385762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例：Core Count ±1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2005" y="4321492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只采用满足硬件合法性约束的微扰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10250" y="2143125"/>
            <a:ext cx="5848350" cy="2857500"/>
            <a:chOff x="5810250" y="2143125"/>
            <a:chExt cx="5848350" cy="2857500"/>
          </a:xfrm>
        </p:grpSpPr>
        <p:sp>
          <p:nvSpPr>
            <p:cNvPr id="13" name="Rectangle 13"/>
            <p:cNvSpPr/>
            <p:nvPr/>
          </p:nvSpPr>
          <p:spPr>
            <a:xfrm>
              <a:off x="5810250" y="2143125"/>
              <a:ext cx="5848350" cy="2857500"/>
            </a:xfrm>
            <a:prstGeom prst="roundRect">
              <a:avLst>
                <a:gd name="adj" fmla="val 4000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71235" y="2437448"/>
              <a:ext cx="299504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2 估计方向与资源代价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27445" y="3103245"/>
              <a:ext cx="50733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局部响应 ≈ 指标变化 / 参数变化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76950" y="3857625"/>
              <a:ext cx="42333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例如：缓解瓶颈需要多少面积 / 功耗代价？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78855" y="4321492"/>
              <a:ext cx="43719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这是一种启发式先验，不保证跨配置保持同一斜率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5019675" y="3562350"/>
            <a:ext cx="628650" cy="9525"/>
          </a:xfrm>
          <a:custGeom>
            <a:avLst/>
            <a:gdLst/>
            <a:ahLst/>
            <a:cxnLst/>
            <a:rect l="l" t="t" r="r" b="b"/>
            <a:pathLst>
              <a:path w="628650" h="9525">
                <a:moveTo>
                  <a:pt x="0" y="0"/>
                </a:moveTo>
                <a:lnTo>
                  <a:pt x="62865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4DA3FF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5591175" y="3505200"/>
            <a:ext cx="104775" cy="114300"/>
          </a:xfrm>
          <a:custGeom>
            <a:avLst/>
            <a:gdLst/>
            <a:ahLst/>
            <a:cxnLst/>
            <a:rect l="l" t="t" r="r" b="b"/>
            <a:pathLst>
              <a:path w="104775" h="114300">
                <a:moveTo>
                  <a:pt x="10477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DA3FF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533400" y="5476875"/>
            <a:ext cx="11125200" cy="552450"/>
            <a:chOff x="533400" y="5476875"/>
            <a:chExt cx="11125200" cy="552450"/>
          </a:xfrm>
        </p:grpSpPr>
        <p:sp>
          <p:nvSpPr>
            <p:cNvPr id="21" name="Line 21"/>
            <p:cNvSpPr/>
            <p:nvPr/>
          </p:nvSpPr>
          <p:spPr>
            <a:xfrm>
              <a:off x="533400" y="54768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700" y="572452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成本控制：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90700" y="5724525"/>
              <a:ext cx="600789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性能模型昂贵时，QuanE 可以先只估计较便宜的功耗与面积。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21970" y="6408420"/>
            <a:ext cx="34207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来源：LUMINA §3.2.2；公式为解释性表达，非实测结果。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05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9012098" cy="1137286"/>
            <a:chOff x="499110" y="496252"/>
            <a:chExt cx="9012098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327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LUMINA · STRATEGY / EXPLORATION / MEMORY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90120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SE–EE–TM：根据反馈调整候选，也调整搜索知识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6146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搜索策略负责资源权衡，执行引擎负责调用，轨迹记忆支持后续修正。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2095500"/>
            <a:ext cx="10287000" cy="1019175"/>
            <a:chOff x="666750" y="2095500"/>
            <a:chExt cx="10287000" cy="1019175"/>
          </a:xfrm>
        </p:grpSpPr>
        <p:sp>
          <p:nvSpPr>
            <p:cNvPr id="7" name="Rectangle 7"/>
            <p:cNvSpPr/>
            <p:nvPr/>
          </p:nvSpPr>
          <p:spPr>
            <a:xfrm>
              <a:off x="666750" y="2095500"/>
              <a:ext cx="10287000" cy="1019175"/>
            </a:xfrm>
            <a:prstGeom prst="roundRect">
              <a:avLst>
                <a:gd name="adj" fmla="val 9346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33450" y="2414588"/>
              <a:ext cx="43669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SE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03120" y="2307908"/>
              <a:ext cx="43434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定位主导瓶颈，制定有约束的调整策略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06930" y="2702242"/>
              <a:ext cx="6333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结合关键路径与 AHK，选择改哪些资源、改多少，以及从哪里让出预算。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6750" y="3314700"/>
            <a:ext cx="10287000" cy="1019175"/>
            <a:chOff x="666750" y="3314700"/>
            <a:chExt cx="10287000" cy="1019175"/>
          </a:xfrm>
        </p:grpSpPr>
        <p:sp>
          <p:nvSpPr>
            <p:cNvPr id="12" name="Rectangle 12"/>
            <p:cNvSpPr/>
            <p:nvPr/>
          </p:nvSpPr>
          <p:spPr>
            <a:xfrm>
              <a:off x="666750" y="3314700"/>
              <a:ext cx="10287000" cy="1019175"/>
            </a:xfrm>
            <a:prstGeom prst="roundRect">
              <a:avLst>
                <a:gd name="adj" fmla="val 9346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450" y="3633788"/>
              <a:ext cx="43669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EE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03120" y="3527108"/>
              <a:ext cx="53555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把策略写成配置，运行模拟器并返回结构化结果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06930" y="3921442"/>
              <a:ext cx="6333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保留设计点、PPA 和关键路径反馈，保证决策与评估结果能够一一对应。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6750" y="4533900"/>
            <a:ext cx="10287000" cy="1019175"/>
            <a:chOff x="666750" y="4533900"/>
            <a:chExt cx="10287000" cy="1019175"/>
          </a:xfrm>
        </p:grpSpPr>
        <p:sp>
          <p:nvSpPr>
            <p:cNvPr id="17" name="Rectangle 17"/>
            <p:cNvSpPr/>
            <p:nvPr/>
          </p:nvSpPr>
          <p:spPr>
            <a:xfrm>
              <a:off x="666750" y="4533900"/>
              <a:ext cx="10287000" cy="1019175"/>
            </a:xfrm>
            <a:prstGeom prst="roundRect">
              <a:avLst>
                <a:gd name="adj" fmla="val 9346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450" y="4852988"/>
              <a:ext cx="50570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TM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03120" y="4746308"/>
              <a:ext cx="43434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记住成功和失败，反思并更新影响权重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06930" y="5140642"/>
              <a:ext cx="65408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资源增加却没有改善时，重新检查瓶颈判断，避免反复走同一条失败路径。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647825" y="2581275"/>
            <a:ext cx="9705975" cy="2476500"/>
          </a:xfrm>
          <a:custGeom>
            <a:avLst/>
            <a:gdLst/>
            <a:ahLst/>
            <a:cxnLst/>
            <a:rect l="l" t="t" r="r" b="b"/>
            <a:pathLst>
              <a:path w="9705975" h="2476500">
                <a:moveTo>
                  <a:pt x="0" y="542925"/>
                </a:moveTo>
                <a:lnTo>
                  <a:pt x="0" y="657225"/>
                </a:lnTo>
                <a:moveTo>
                  <a:pt x="0" y="1762125"/>
                </a:moveTo>
                <a:lnTo>
                  <a:pt x="0" y="1876425"/>
                </a:lnTo>
                <a:moveTo>
                  <a:pt x="9324975" y="2476500"/>
                </a:moveTo>
                <a:lnTo>
                  <a:pt x="9705975" y="2476500"/>
                </a:lnTo>
                <a:lnTo>
                  <a:pt x="9705975" y="0"/>
                </a:lnTo>
                <a:lnTo>
                  <a:pt x="9334500" y="0"/>
                </a:lnTo>
              </a:path>
            </a:pathLst>
          </a:custGeom>
          <a:noFill/>
          <a:ln w="19050">
            <a:solidFill>
              <a:srgbClr val="A78BFA"/>
            </a:solidFill>
          </a:ln>
        </p:spPr>
      </p:sp>
      <p:sp>
        <p:nvSpPr>
          <p:cNvPr id="23" name="Polygon 23"/>
          <p:cNvSpPr/>
          <p:nvPr/>
        </p:nvSpPr>
        <p:spPr>
          <a:xfrm>
            <a:off x="10982325" y="2524125"/>
            <a:ext cx="104775" cy="114300"/>
          </a:xfrm>
          <a:custGeom>
            <a:avLst/>
            <a:gdLst/>
            <a:ahLst/>
            <a:cxnLst/>
            <a:rect l="l" t="t" r="r" b="b"/>
            <a:pathLst>
              <a:path w="104775" h="114300">
                <a:moveTo>
                  <a:pt x="0" y="57150"/>
                </a:moveTo>
                <a:lnTo>
                  <a:pt x="104775" y="0"/>
                </a:lnTo>
                <a:lnTo>
                  <a:pt x="104775" y="11430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81050" y="5876925"/>
            <a:ext cx="73004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6D6B5"/>
                </a:solidFill>
                <a:latin typeface="Noto Sans CJK SC"/>
                <a:ea typeface="Microsoft YaHei"/>
                <a:cs typeface="Noto Sans CJK SC"/>
              </a:rPr>
              <a:t>迁移时还需补上：编译变换是否合法、TOG 是否改变、功能结果是否正确。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1970" y="6408420"/>
            <a:ext cx="42422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来源：LUMINA §3.3–3.4；EE = Exploration Engine；底部为迁移建议。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06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10233550" cy="1137286"/>
            <a:chOff x="499110" y="496252"/>
            <a:chExt cx="10233550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20815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LUMINA · 研究价值与适用边界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1023355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Lumina 的价值在搜索效率，不能只按可调维度多少排序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57521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设计空间的范围、评估成本与候选选择效率，是不同的研究维度。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0575" y="2260282"/>
            <a:ext cx="10544175" cy="2440306"/>
            <a:chOff x="790575" y="2260282"/>
            <a:chExt cx="10544175" cy="2440306"/>
          </a:xfrm>
        </p:grpSpPr>
        <p:sp>
          <p:nvSpPr>
            <p:cNvPr id="7" name="TextBox 7"/>
            <p:cNvSpPr txBox="1"/>
            <p:nvPr/>
          </p:nvSpPr>
          <p:spPr>
            <a:xfrm>
              <a:off x="798195" y="2260282"/>
              <a:ext cx="172878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需要修正的认识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0575" y="2671762"/>
              <a:ext cx="661296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外层搜索硬件，不代表底层映射完全固定。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57250" y="3705225"/>
              <a:ext cx="10477500" cy="9525"/>
            </a:xfrm>
            <a:custGeom>
              <a:avLst/>
              <a:gdLst/>
              <a:ahLst/>
              <a:cxnLst/>
              <a:rect l="l" t="t" r="r" b="b"/>
              <a:pathLst>
                <a:path w="10477500" h="9525">
                  <a:moveTo>
                    <a:pt x="0" y="0"/>
                  </a:moveTo>
                  <a:lnTo>
                    <a:pt x="10477500" y="0"/>
                  </a:lnTo>
                </a:path>
              </a:pathLst>
            </a:custGeom>
            <a:noFill/>
            <a:ln w="28575">
              <a:solidFill>
                <a:srgbClr val="2A3A5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04875" y="3629025"/>
              <a:ext cx="152400" cy="152400"/>
            </a:xfrm>
            <a:prstGeom prst="ellipse">
              <a:avLst/>
            </a:prstGeom>
            <a:solidFill>
              <a:srgbClr val="4DA3FF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495800" y="3629025"/>
              <a:ext cx="152400" cy="1524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515350" y="3629025"/>
              <a:ext cx="152400" cy="152400"/>
            </a:xfrm>
            <a:prstGeom prst="ellipse">
              <a:avLst/>
            </a:prstGeom>
            <a:solidFill>
              <a:srgbClr val="36D6B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485" y="3961448"/>
              <a:ext cx="19633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Lumina 选择 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13885" y="3961448"/>
              <a:ext cx="295019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LLMCompass mapper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3435" y="3961448"/>
              <a:ext cx="212784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反馈性能与 PPA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0105" y="4426268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在资源约束内提出新配置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21505" y="4426268"/>
              <a:ext cx="22327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可随硬件搜索映射 / 调度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41055" y="442626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供下一轮瓶颈分析使用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5238750"/>
            <a:ext cx="10858500" cy="895350"/>
            <a:chOff x="666750" y="5238750"/>
            <a:chExt cx="10858500" cy="895350"/>
          </a:xfrm>
        </p:grpSpPr>
        <p:sp>
          <p:nvSpPr>
            <p:cNvPr id="20" name="Rectangle 20"/>
            <p:cNvSpPr/>
            <p:nvPr/>
          </p:nvSpPr>
          <p:spPr>
            <a:xfrm>
              <a:off x="666750" y="5238750"/>
              <a:ext cx="10858500" cy="895350"/>
            </a:xfrm>
            <a:prstGeom prst="roundRect">
              <a:avLst>
                <a:gd name="adj" fmla="val 10638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3920" y="5432108"/>
              <a:ext cx="7753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我们的增量：把编译映射决策及其依赖，显式纳入候选生成与证据反馈。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730" y="5807392"/>
              <a:ext cx="69745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需要证明在相同评估预算下更有效，并与硬件 DSE + 内部 mapper 的基线比较。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21970" y="6408420"/>
            <a:ext cx="51492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来源：LUMINA §5；LLMCompass（ISCA 2024）的映射器设计。研究增量为本报告建议。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07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9695283" cy="1137286"/>
            <a:chOff x="499110" y="496252"/>
            <a:chExt cx="9695283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13685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02 · A3C3 案例概览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96952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四种案例展示不同切入点，HIDA 帮助我们理解实现层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6245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A3C3 是协同设计思想；这些工作采用的优化对象与求解方法并不相同。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2009775"/>
            <a:ext cx="11125200" cy="3607594"/>
            <a:chOff x="533400" y="2009775"/>
            <a:chExt cx="11125200" cy="3607594"/>
          </a:xfrm>
        </p:grpSpPr>
        <p:sp>
          <p:nvSpPr>
            <p:cNvPr id="7" name="Rectangle 7"/>
            <p:cNvSpPr/>
            <p:nvPr/>
          </p:nvSpPr>
          <p:spPr>
            <a:xfrm>
              <a:off x="533400" y="2009775"/>
              <a:ext cx="11125200" cy="457200"/>
            </a:xfrm>
            <a:prstGeom prst="rect">
              <a:avLst/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6280" y="2168842"/>
              <a:ext cx="4286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工作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26005" y="216884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具体做法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69630" y="2168842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对我们的启发 / 边界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9612" y="2674144"/>
              <a:ext cx="9964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SkyNet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25052" y="2608421"/>
              <a:ext cx="519760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硬件友好的 Bundle 构成网络；PSO 搜索通道等结构参数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26958" y="2919889"/>
              <a:ext cx="39428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用准确率与硬件延迟反馈筛选，再细化部署实现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69630" y="2606992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先用结构先验缩小空间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70582" y="2919889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但会改变网络结构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3286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9612" y="3464719"/>
              <a:ext cx="52205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EDD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25052" y="3427571"/>
              <a:ext cx="482298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将架构与实现选择连续松弛，联合优化准确率和性能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26958" y="3739039"/>
              <a:ext cx="43432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以可微性能 / 资源模型连接精度、并行度与实现代价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69630" y="34356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联合建模代价与约束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70582" y="3739039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需可用的可微代理模型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33400" y="4095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9612" y="4274344"/>
              <a:ext cx="105400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Medusa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5052" y="4237196"/>
              <a:ext cx="527044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增加多 token 预测头，用 tree attention 并行验证候选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26958" y="4548664"/>
              <a:ext cx="40452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Medusa-1 冻结主干训练头；Medusa-2 联合微调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69630" y="424529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改变解码执行组织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70582" y="45486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超出严格固定拓扑范围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" y="49053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9612" y="5083969"/>
              <a:ext cx="99649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SnapKV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25052" y="5046821"/>
              <a:ext cx="52600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由观察窗口的注意力分数选位置，保留重要 KV 与近端 KV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26958" y="5358289"/>
              <a:ext cx="41290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池化分数后选择聚集位置，减少长上下文缓存开销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9630" y="5054918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直接控制数据搬运规模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70582" y="5358289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属于近似压缩，需验质量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47700" y="5876925"/>
            <a:ext cx="71032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78BFA"/>
                </a:solidFill>
                <a:latin typeface="Noto Sans CJK SC"/>
                <a:ea typeface="Microsoft YaHei"/>
                <a:cs typeface="Noto Sans CJK SC"/>
              </a:rPr>
              <a:t>接下来重点：HIDA 在固定网络输入下，怎样自动组织数据流与硬件实现？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1970" y="6408420"/>
            <a:ext cx="50834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来源：A3C3 §3–7，arXiv:2606.20869；HIDA 为背景相关工作，非四个主体案例之一。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08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8453128" cy="1137286"/>
            <a:chOff x="499110" y="496252"/>
            <a:chExt cx="8453128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14681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HIDA 1 / 6 · 编译流程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845312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HIDA 把固定算法逐步变成可综合的数据流硬件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69252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核心是 HIDA-IR 分层表示 + HIDA-OPT 分层优化；最终通过 HLS 工具生成 RTL。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4840" y="1967865"/>
            <a:ext cx="7323725" cy="656273"/>
            <a:chOff x="624840" y="1967865"/>
            <a:chExt cx="7323725" cy="656273"/>
          </a:xfrm>
        </p:grpSpPr>
        <p:sp>
          <p:nvSpPr>
            <p:cNvPr id="7" name="TextBox 7"/>
            <p:cNvSpPr txBox="1"/>
            <p:nvPr/>
          </p:nvSpPr>
          <p:spPr>
            <a:xfrm>
              <a:off x="624840" y="1967865"/>
              <a:ext cx="293028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PyTorch → Torch-MLIR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0555" y="2349818"/>
              <a:ext cx="17200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或 C++ → Polygeist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743325" y="2181225"/>
              <a:ext cx="1114425" cy="9525"/>
            </a:xfrm>
            <a:custGeom>
              <a:avLst/>
              <a:gdLst/>
              <a:ahLst/>
              <a:cxnLst/>
              <a:rect l="l" t="t" r="r" b="b"/>
              <a:pathLst>
                <a:path w="1114425" h="9525">
                  <a:moveTo>
                    <a:pt x="0" y="0"/>
                  </a:moveTo>
                  <a:lnTo>
                    <a:pt x="111442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DA3FF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800600" y="21240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177790" y="1967865"/>
              <a:ext cx="256946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MLIR 计算 / 循环表示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83505" y="2349818"/>
              <a:ext cx="27650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复用 linalg、affine 等 dialect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33400" y="2933700"/>
            <a:ext cx="4257675" cy="1990725"/>
            <a:chOff x="533400" y="2933700"/>
            <a:chExt cx="4257675" cy="1990725"/>
          </a:xfrm>
        </p:grpSpPr>
        <p:sp>
          <p:nvSpPr>
            <p:cNvPr id="14" name="Rectangle 14"/>
            <p:cNvSpPr/>
            <p:nvPr/>
          </p:nvSpPr>
          <p:spPr>
            <a:xfrm>
              <a:off x="533400" y="2933700"/>
              <a:ext cx="4257675" cy="1990725"/>
            </a:xfrm>
            <a:prstGeom prst="roundRect">
              <a:avLst>
                <a:gd name="adj" fmla="val 5742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0570" y="3155632"/>
              <a:ext cx="24836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Functional dataflow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2475" y="3648075"/>
              <a:ext cx="287512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① 构建 dispatch / task 层级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4038600"/>
              <a:ext cx="32913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② 按模式融合，并平衡任务工作量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332" y="4481989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决定哪些计算放在一起、保留哪些并发机会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267325" y="2933700"/>
            <a:ext cx="6391275" cy="1990725"/>
            <a:chOff x="5267325" y="2933700"/>
            <a:chExt cx="6391275" cy="1990725"/>
          </a:xfrm>
        </p:grpSpPr>
        <p:sp>
          <p:nvSpPr>
            <p:cNvPr id="20" name="Rectangle 20"/>
            <p:cNvSpPr/>
            <p:nvPr/>
          </p:nvSpPr>
          <p:spPr>
            <a:xfrm>
              <a:off x="5267325" y="2933700"/>
              <a:ext cx="6391275" cy="1990725"/>
            </a:xfrm>
            <a:prstGeom prst="roundRect">
              <a:avLst>
                <a:gd name="adj" fmla="val 5742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513070" y="3155632"/>
              <a:ext cx="25469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Structural dataflow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14975" y="3648075"/>
              <a:ext cx="3466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③ 显式化 node、buffer、读写关系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14975" y="4038600"/>
              <a:ext cx="39485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④ 消除多生产者冲突，平衡不同数据路径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14975" y="4429125"/>
              <a:ext cx="4386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⑤ 分配并行度，协调循环展开与共享存储布局</a:t>
              </a:r>
            </a:p>
          </p:txBody>
        </p:sp>
      </p:grpSp>
      <p:sp>
        <p:nvSpPr>
          <p:cNvPr id="26" name="Freeform 26"/>
          <p:cNvSpPr/>
          <p:nvPr/>
        </p:nvSpPr>
        <p:spPr>
          <a:xfrm>
            <a:off x="4829175" y="3943350"/>
            <a:ext cx="314325" cy="9525"/>
          </a:xfrm>
          <a:custGeom>
            <a:avLst/>
            <a:gdLst/>
            <a:ahLst/>
            <a:cxnLst/>
            <a:rect l="l" t="t" r="r" b="b"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solidFill>
            <a:srgbClr val="000000"/>
          </a:solidFill>
          <a:ln w="19050">
            <a:solidFill>
              <a:srgbClr val="A78BFA"/>
            </a:solidFill>
          </a:ln>
        </p:spPr>
      </p:sp>
      <p:sp>
        <p:nvSpPr>
          <p:cNvPr id="27" name="Polygon 27"/>
          <p:cNvSpPr/>
          <p:nvPr/>
        </p:nvSpPr>
        <p:spPr>
          <a:xfrm>
            <a:off x="5086350" y="3886200"/>
            <a:ext cx="104775" cy="114300"/>
          </a:xfrm>
          <a:custGeom>
            <a:avLst/>
            <a:gdLst/>
            <a:ahLst/>
            <a:cxnLst/>
            <a:rect l="l" t="t" r="r" b="b"/>
            <a:pathLst>
              <a:path w="104775" h="114300">
                <a:moveTo>
                  <a:pt x="10477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A78BFA"/>
          </a:solidFill>
          <a:ln>
            <a:noFill/>
          </a:ln>
        </p:spPr>
      </p:sp>
      <p:grpSp>
        <p:nvGrpSpPr>
          <p:cNvPr id="36" name="Group 36"/>
          <p:cNvGrpSpPr/>
          <p:nvPr/>
        </p:nvGrpSpPr>
        <p:grpSpPr>
          <a:xfrm>
            <a:off x="624840" y="5361622"/>
            <a:ext cx="9665970" cy="777240"/>
            <a:chOff x="624840" y="5361622"/>
            <a:chExt cx="9665970" cy="777240"/>
          </a:xfrm>
        </p:grpSpPr>
        <p:sp>
          <p:nvSpPr>
            <p:cNvPr id="28" name="TextBox 28"/>
            <p:cNvSpPr txBox="1"/>
            <p:nvPr/>
          </p:nvSpPr>
          <p:spPr>
            <a:xfrm>
              <a:off x="624840" y="5377815"/>
              <a:ext cx="201936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指令 / 接口优化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37535" y="5361622"/>
              <a:ext cx="2061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91890" y="5377815"/>
              <a:ext cx="99212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HLS C++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04535" y="5361622"/>
              <a:ext cx="2061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96990" y="537781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Vitis HLS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9135" y="5361622"/>
              <a:ext cx="2061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30640" y="5377815"/>
              <a:ext cx="1360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RTL / FPGA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0555" y="5864542"/>
              <a:ext cx="6343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每一层先固定一部分决策，再把约束传给下一层；仍可能得到局部最优。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21970" y="6408420"/>
            <a:ext cx="37230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来源：HIDA §4–6、Fig.3，arXiv:2311.03379 / ASPLOS 2024。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09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1406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HIDA 2 / 6 · HIDA-IR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133078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同一个程序，用两层抽象分别处理“算法组织”和“微架构细节”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9055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Functional 保持任务层透明；Structural 隔离上下文，显式记录存储与接口。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" y="2066925"/>
            <a:ext cx="5067300" cy="3429000"/>
          </a:xfrm>
          <a:prstGeom prst="roundRect">
            <a:avLst>
              <a:gd name="adj" fmla="val 3333"/>
            </a:avLst>
          </a:prstGeom>
          <a:solidFill>
            <a:srgbClr val="162235"/>
          </a:solidFill>
          <a:ln w="9525">
            <a:solidFill>
              <a:srgbClr val="4DA3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14388" y="2312194"/>
            <a:ext cx="282234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4DA3FF"/>
                </a:solidFill>
                <a:latin typeface="Noto Sans CJK SC"/>
                <a:ea typeface="Microsoft YaHei"/>
                <a:cs typeface="Noto Sans CJK SC"/>
              </a:rPr>
              <a:t>Functional dataflow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8198" y="2868454"/>
            <a:ext cx="119014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dispatch {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2048" y="3268504"/>
            <a:ext cx="283485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task load → task compute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2048" y="3668554"/>
            <a:ext cx="12476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task store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1055" y="4188142"/>
            <a:ext cx="31692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全局 tensor 可被嵌套任务透明访问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1055" y="4721542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适合任务划分、融合、层级并发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48400" y="2066925"/>
            <a:ext cx="5410200" cy="3429000"/>
          </a:xfrm>
          <a:prstGeom prst="roundRect">
            <a:avLst>
              <a:gd name="adj" fmla="val 3333"/>
            </a:avLst>
          </a:prstGeom>
          <a:solidFill>
            <a:srgbClr val="162235"/>
          </a:solidFill>
          <a:ln w="9525">
            <a:solidFill>
              <a:srgbClr val="A78BF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529388" y="2312194"/>
            <a:ext cx="289423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A78BFA"/>
                </a:solidFill>
                <a:latin typeface="Noto Sans CJK SC"/>
                <a:ea typeface="Microsoft YaHei"/>
                <a:cs typeface="Noto Sans CJK SC"/>
              </a:rPr>
              <a:t>Structural dataflow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33198" y="2868454"/>
            <a:ext cx="405400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4F7FB"/>
                </a:solidFill>
                <a:latin typeface="Consolas"/>
                <a:ea typeface="Microsoft YaHei"/>
                <a:cs typeface="Consolas"/>
              </a:rPr>
              <a:t>schedule { node → buffer → stream }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34150" y="3400425"/>
            <a:ext cx="50549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Noto Sans CJK SC"/>
                <a:ea typeface="Microsoft YaHei"/>
                <a:cs typeface="Noto Sans CJK SC"/>
              </a:rPr>
              <a:t>buffer：shape / partition / layout / placement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34150" y="3810000"/>
            <a:ext cx="31270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Noto Sans CJK SC"/>
                <a:ea typeface="Microsoft YaHei"/>
                <a:cs typeface="Noto Sans CJK SC"/>
              </a:rPr>
              <a:t>node：读写 effect 与显式参数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6055" y="4359592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适合调度、缓冲、循环展开与接口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4350" y="5886450"/>
            <a:ext cx="72894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B454"/>
                </a:solidFill>
                <a:latin typeface="Noto Sans CJK SC"/>
                <a:ea typeface="Microsoft YaHei"/>
                <a:cs typeface="Noto Sans CJK SC"/>
              </a:rPr>
              <a:t>关键：表示层级让“先做算法组织，再做硬件细化”成为可扩展的编译过程。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1970" y="6408420"/>
            <a:ext cx="4091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来源：HIDA §5、Fig.4–6；代码：ScaleHLS-HIDA/include/scalehls。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10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20585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HIDA 3 / 6 · FUNCTIONAL OPT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041987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任务融合的目标是减少通信，同时避免产生新的关键任务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59986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HIDA 先用预定义模式递归融合，再检查临界任务是否因融合而变长。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66750" y="2324100"/>
            <a:ext cx="10953750" cy="3228975"/>
            <a:chOff x="666750" y="2324100"/>
            <a:chExt cx="10953750" cy="3228975"/>
          </a:xfrm>
        </p:grpSpPr>
        <p:sp>
          <p:nvSpPr>
            <p:cNvPr id="6" name="Rectangle 6"/>
            <p:cNvSpPr/>
            <p:nvPr/>
          </p:nvSpPr>
          <p:spPr>
            <a:xfrm>
              <a:off x="666750" y="2324100"/>
              <a:ext cx="3143250" cy="1638300"/>
            </a:xfrm>
            <a:prstGeom prst="roundRect">
              <a:avLst>
                <a:gd name="adj" fmla="val 6977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0592" y="2547461"/>
              <a:ext cx="13797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初始 tasks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1047750" y="3048000"/>
              <a:ext cx="571500" cy="571500"/>
            </a:xfrm>
            <a:prstGeom prst="ellipse">
              <a:avLst/>
            </a:prstGeom>
            <a:solidFill>
              <a:srgbClr val="4DA3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1100" y="3238500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B1220"/>
                  </a:solidFill>
                  <a:latin typeface="Noto Sans CJK SC"/>
                  <a:ea typeface="Microsoft YaHei"/>
                  <a:cs typeface="Noto Sans CJK SC"/>
                </a:rPr>
                <a:t>A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1905000" y="3048000"/>
              <a:ext cx="571500" cy="571500"/>
            </a:xfrm>
            <a:prstGeom prst="ellipse">
              <a:avLst/>
            </a:prstGeom>
            <a:solidFill>
              <a:srgbClr val="36D6B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8350" y="3238500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B1220"/>
                  </a:solidFill>
                  <a:latin typeface="Noto Sans CJK SC"/>
                  <a:ea typeface="Microsoft YaHei"/>
                  <a:cs typeface="Noto Sans CJK SC"/>
                </a:rPr>
                <a:t>B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762250" y="3048000"/>
              <a:ext cx="571500" cy="5715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95600" y="3238500"/>
              <a:ext cx="1585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B1220"/>
                  </a:solidFill>
                  <a:latin typeface="Noto Sans CJK SC"/>
                  <a:ea typeface="Microsoft YaHei"/>
                  <a:cs typeface="Noto Sans CJK SC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6308" y="36533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相邻、可匹配模式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000500" y="3143250"/>
              <a:ext cx="1000125" cy="9525"/>
            </a:xfrm>
            <a:custGeom>
              <a:avLst/>
              <a:gdLst/>
              <a:ahLst/>
              <a:cxnLst/>
              <a:rect l="l" t="t" r="r" b="b"/>
              <a:pathLst>
                <a:path w="1000125" h="9525">
                  <a:moveTo>
                    <a:pt x="0" y="0"/>
                  </a:moveTo>
                  <a:lnTo>
                    <a:pt x="100012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DA3FF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943475" y="30861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0" y="2324100"/>
              <a:ext cx="3143250" cy="1638300"/>
            </a:xfrm>
            <a:prstGeom prst="roundRect">
              <a:avLst>
                <a:gd name="adj" fmla="val 6977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02592" y="2547461"/>
              <a:ext cx="163101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模式驱动融合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05450" y="3124200"/>
              <a:ext cx="22617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elementwise epilogue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8308" y="3510439"/>
              <a:ext cx="29000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递归 worklist，直到无模式可匹配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572500" y="3143250"/>
              <a:ext cx="1000125" cy="9525"/>
            </a:xfrm>
            <a:custGeom>
              <a:avLst/>
              <a:gdLst/>
              <a:ahLst/>
              <a:cxnLst/>
              <a:rect l="l" t="t" r="r" b="b"/>
              <a:pathLst>
                <a:path w="1000125" h="9525">
                  <a:moveTo>
                    <a:pt x="0" y="0"/>
                  </a:moveTo>
                  <a:lnTo>
                    <a:pt x="100012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6D6B5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9515475" y="30861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36D6B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810750" y="2324100"/>
              <a:ext cx="1809750" cy="1638300"/>
            </a:xfrm>
            <a:prstGeom prst="roundRect">
              <a:avLst>
                <a:gd name="adj" fmla="val 6977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74592" y="2547461"/>
              <a:ext cx="83741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再平衡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78402" y="3132296"/>
              <a:ext cx="128492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比较关键任务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80308" y="3510439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过长则停止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6750" y="4600575"/>
              <a:ext cx="10953750" cy="952500"/>
            </a:xfrm>
            <a:prstGeom prst="roundRect">
              <a:avLst>
                <a:gd name="adj" fmla="val 12000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2498" y="4840129"/>
              <a:ext cx="8056507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论文算法 2：反复找最不关键的相邻任务合并，直到融合使关键任务重新变差。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5355" y="5207318"/>
              <a:ext cx="89462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对 PyTorchSim 的类比：fusion knob 不能只看算子数量，还要看 TOG 中的 load/store 与同步代价。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21970" y="6408420"/>
            <a:ext cx="34338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来源：HIDA §6.2、Algorithm 2；类比部分为本研究建议。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37570" y="6408420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11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0" grpId="0"/>
      <p:bldP spid="3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HIDA 4 / 6 · STRUCTURAL OPT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03784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显式 buffer 语义，让并发合法性和路径平衡可以被优化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5949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结构层处理多生产者、多消费者、共享数据和不同长度的数据路径。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33400" y="2114550"/>
            <a:ext cx="11125200" cy="3152775"/>
            <a:chOff x="533400" y="2114550"/>
            <a:chExt cx="11125200" cy="3152775"/>
          </a:xfrm>
        </p:grpSpPr>
        <p:sp>
          <p:nvSpPr>
            <p:cNvPr id="6" name="Rectangle 6"/>
            <p:cNvSpPr/>
            <p:nvPr/>
          </p:nvSpPr>
          <p:spPr>
            <a:xfrm>
              <a:off x="533400" y="2114550"/>
              <a:ext cx="5181600" cy="3152775"/>
            </a:xfrm>
            <a:prstGeom prst="roundRect">
              <a:avLst>
                <a:gd name="adj" fmla="val 3625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5340" y="2348865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多生产者合法化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0102" y="2875121"/>
              <a:ext cx="29707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内部 buffer：复制并插入 copy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2008" y="3262789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让每个 producer 拥有正确版本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0102" y="3741896"/>
              <a:ext cx="35950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外部 buffer：合并 node，串行化写入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008" y="412956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避免外部副作用导致数据竞争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008" y="4653439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优先保证合法性，再追求并发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19800" y="2114550"/>
              <a:ext cx="5638800" cy="3152775"/>
            </a:xfrm>
            <a:prstGeom prst="roundRect">
              <a:avLst>
                <a:gd name="adj" fmla="val 3625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1740" y="2348865"/>
              <a:ext cx="280606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不平衡路径的两种处理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06502" y="2875121"/>
              <a:ext cx="411537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片上：复制短路径 buffer，插入 copy node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06502" y="3379946"/>
              <a:ext cx="2700147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片外：soft FIFO + 地址轮换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08408" y="3900964"/>
              <a:ext cx="37473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用 token flow 保持执行顺序，不必固定 FSM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08408" y="44915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结果：生产者和消费者可弹性流水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14350" y="5753100"/>
            <a:ext cx="113971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Noto Sans CJK SC"/>
                <a:ea typeface="Microsoft YaHei"/>
                <a:cs typeface="Noto Sans CJK SC"/>
              </a:rPr>
              <a:t>PyTorchSim 对应检查：fusion / tile 改变后，TOG 的 buffer 生命周期、MOVIN/MOVOUT 和 barrier 是否仍正确？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1970" y="6408420"/>
            <a:ext cx="43276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来源：HIDA §6.3–6.4、Algorithm 3、Fig.7–8；对应检查为本研究建议。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9" grpId="0"/>
      <p:bldP spid="20" grpId="0"/>
      <p:bldP spid="21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3116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Consolas"/>
                <a:ea typeface="Microsoft YaHei"/>
                <a:cs typeface="Consolas"/>
              </a:rPr>
              <a:t>HIDA 5 / 6 · INTENSITY + CONNECTION AWARE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083392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并行度不是每个节点都拉满：先看工作量，再服从共享布局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82660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IA 关注计算强度，CA 记录节点连接的 permutation / scaling map，并把它们变成 DSE 约束。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33400" y="2028825"/>
            <a:ext cx="11125200" cy="3988594"/>
            <a:chOff x="533400" y="2028825"/>
            <a:chExt cx="11125200" cy="3988594"/>
          </a:xfrm>
        </p:grpSpPr>
        <p:sp>
          <p:nvSpPr>
            <p:cNvPr id="6" name="Rectangle 6"/>
            <p:cNvSpPr/>
            <p:nvPr/>
          </p:nvSpPr>
          <p:spPr>
            <a:xfrm>
              <a:off x="533400" y="2028825"/>
              <a:ext cx="2600325" cy="3028950"/>
            </a:xfrm>
            <a:prstGeom prst="roundRect">
              <a:avLst>
                <a:gd name="adj" fmla="val 3663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1045" y="2279332"/>
              <a:ext cx="7630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① 分析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4855" y="2797492"/>
              <a:ext cx="16412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统计 op intensity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4855" y="31689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记录 shared-buffer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808" y="3548539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连接、置换、步长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808" y="4043839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强度不是完整性能模型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448050" y="2028825"/>
              <a:ext cx="2600325" cy="3028950"/>
            </a:xfrm>
            <a:prstGeom prst="roundRect">
              <a:avLst>
                <a:gd name="adj" fmla="val 3663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55695" y="2279332"/>
              <a:ext cx="7630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② 排序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59505" y="2797492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连接数降序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59505" y="3168968"/>
              <a:ext cx="2025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强度作为 tie-breaker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60458" y="37295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先处理会影响更多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60458" y="4024789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节点的决策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62700" y="2028825"/>
              <a:ext cx="2600325" cy="3028950"/>
            </a:xfrm>
            <a:prstGeom prst="roundRect">
              <a:avLst>
                <a:gd name="adj" fmla="val 3663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70345" y="2279332"/>
              <a:ext cx="7630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③ 生成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74155" y="2797492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总并行预算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74155" y="3168968"/>
              <a:ext cx="17299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按强度分配 factor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75108" y="37295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满足资源限制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277350" y="2028825"/>
              <a:ext cx="2381250" cy="3028950"/>
            </a:xfrm>
            <a:prstGeom prst="roundRect">
              <a:avLst>
                <a:gd name="adj" fmla="val 4000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84995" y="2279332"/>
              <a:ext cx="125646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④ 局部 DSE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88805" y="2797492"/>
              <a:ext cx="19270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传递已定节点 factor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88805" y="3168968"/>
              <a:ext cx="18087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约束可整除与不冲突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89758" y="3729514"/>
              <a:ext cx="13638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QoR 估计器评估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133725" y="3524250"/>
              <a:ext cx="6067425" cy="9525"/>
            </a:xfrm>
            <a:custGeom>
              <a:avLst/>
              <a:gdLst/>
              <a:ahLst/>
              <a:cxnLst/>
              <a:rect l="l" t="t" r="r" b="b"/>
              <a:pathLst>
                <a:path w="6067425" h="9525">
                  <a:moveTo>
                    <a:pt x="0" y="0"/>
                  </a:moveTo>
                  <a:lnTo>
                    <a:pt x="238125" y="0"/>
                  </a:lnTo>
                  <a:moveTo>
                    <a:pt x="2914650" y="0"/>
                  </a:moveTo>
                  <a:lnTo>
                    <a:pt x="3152775" y="0"/>
                  </a:lnTo>
                  <a:moveTo>
                    <a:pt x="5829300" y="0"/>
                  </a:moveTo>
                  <a:lnTo>
                    <a:pt x="606742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DA3FF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82002" y="5408771"/>
              <a:ext cx="7060287" cy="608648"/>
              <a:chOff x="782002" y="5408771"/>
              <a:chExt cx="7060287" cy="608648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782002" y="5408771"/>
                <a:ext cx="7060287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F4F7FB"/>
                    </a:solidFill>
                    <a:latin typeface="Consolas"/>
                    <a:ea typeface="Microsoft YaHei"/>
                    <a:cs typeface="Consolas"/>
                  </a:rPr>
                  <a:t>论文例：Node2 intensity=4096，Node0=512，Node1=256；max factor=32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83908" y="5758339"/>
                <a:ext cx="68012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AAB8CC"/>
                    </a:solidFill>
                    <a:latin typeface="Consolas"/>
                    <a:ea typeface="Microsoft YaHei"/>
                    <a:cs typeface="Consolas"/>
                  </a:rPr>
                  <a:t>IA+CA 的目标是较少 bank、较少资源浪费；该例说明方法，非 PyTorchSim 实测。</a:t>
                </a: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521970" y="6408420"/>
            <a:ext cx="43539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来源：HIDA §6.5、Algorithm 4、Table 5–6；数字为论文 Listing 1 示例。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2" grpId="0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9695283" cy="1137286"/>
            <a:chOff x="499110" y="496252"/>
            <a:chExt cx="9695283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HIDA 6 / 6 · 从算法读到实现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96952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HIDA 的可迁移部分，是表示、约束与分层求解的组合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70830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先沿主 pipeline 读 pass，再看分析与变换；论文伪代码和公开实现需分别理解。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2009775"/>
            <a:ext cx="4333875" cy="3629025"/>
            <a:chOff x="533400" y="2009775"/>
            <a:chExt cx="4333875" cy="3629025"/>
          </a:xfrm>
        </p:grpSpPr>
        <p:sp>
          <p:nvSpPr>
            <p:cNvPr id="7" name="Rectangle 7"/>
            <p:cNvSpPr/>
            <p:nvPr/>
          </p:nvSpPr>
          <p:spPr>
            <a:xfrm>
              <a:off x="533400" y="2009775"/>
              <a:ext cx="4333875" cy="3629025"/>
            </a:xfrm>
            <a:prstGeom prst="roundRect">
              <a:avLst>
                <a:gd name="adj" fmla="val 3150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6765" y="2263140"/>
              <a:ext cx="21987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论文 Algorithm 4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575" y="2828925"/>
              <a:ext cx="29956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提出一组 loop unroll factors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0575" y="3248025"/>
              <a:ext cx="2667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检查连接约束、并行度预算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575" y="3667125"/>
              <a:ext cx="274367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合法点交给 QoR estimator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575" y="4086225"/>
              <a:ext cx="29079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更新 DSE，收敛 / 早停后应用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09625" y="4552950"/>
              <a:ext cx="3762375" cy="9525"/>
            </a:xfrm>
            <a:custGeom>
              <a:avLst/>
              <a:gdLst/>
              <a:ahLst/>
              <a:cxnLst/>
              <a:rect l="l" t="t" r="r" b="b"/>
              <a:pathLst>
                <a:path w="3762375" h="9525">
                  <a:moveTo>
                    <a:pt x="0" y="0"/>
                  </a:moveTo>
                  <a:lnTo>
                    <a:pt x="3762375" y="0"/>
                  </a:lnTo>
                </a:path>
              </a:pathLst>
            </a:custGeom>
            <a:noFill/>
            <a:ln w="9525">
              <a:solidFill>
                <a:srgbClr val="2A3A5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2480" y="4788218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候选先过约束，再花成本估计质量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2480" y="5121592"/>
              <a:ext cx="2991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局部最优仍受之前的划分决策影响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10175" y="2009775"/>
            <a:ext cx="6448425" cy="3629025"/>
            <a:chOff x="5210175" y="2009775"/>
            <a:chExt cx="6448425" cy="3629025"/>
          </a:xfrm>
        </p:grpSpPr>
        <p:sp>
          <p:nvSpPr>
            <p:cNvPr id="17" name="Rectangle 17"/>
            <p:cNvSpPr/>
            <p:nvPr/>
          </p:nvSpPr>
          <p:spPr>
            <a:xfrm>
              <a:off x="5210175" y="2009775"/>
              <a:ext cx="6448425" cy="3629025"/>
            </a:xfrm>
            <a:prstGeom prst="roundRect">
              <a:avLst>
                <a:gd name="adj" fmla="val 3150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63540" y="2263140"/>
              <a:ext cx="32615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公开仓库：ScaleHLS-HIDA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68302" y="2760821"/>
              <a:ext cx="283542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Consolas"/>
                  <a:ea typeface="Microsoft YaHei"/>
                  <a:cs typeface="Consolas"/>
                </a:rPr>
                <a:t>lib/Transforms/Passes.cpp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69255" y="3111818"/>
              <a:ext cx="35537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hida-pytorch-pipeline 串起各优化阶段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69255" y="3607118"/>
              <a:ext cx="39184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Consolas"/>
                  <a:ea typeface="Microsoft YaHei"/>
                  <a:cs typeface="Consolas"/>
                </a:rPr>
                <a:t>LowerDataflow → EliminateMultiProducer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69255" y="3969068"/>
              <a:ext cx="43719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Consolas"/>
                  <a:ea typeface="Microsoft YaHei"/>
                  <a:cs typeface="Consolas"/>
                </a:rPr>
                <a:t>ScheduleDataflowNode → BalanceDataflowNode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69255" y="4331018"/>
              <a:ext cx="3967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Consolas"/>
                  <a:ea typeface="Microsoft YaHei"/>
                  <a:cs typeface="Consolas"/>
                </a:rPr>
                <a:t>ParallelizeDataflowNode → ArrayPartition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69255" y="4835842"/>
              <a:ext cx="45297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并行化 pass：复杂度预算 + 连接因子的置换 / 缩放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70208" y="5186839"/>
              <a:ext cx="46970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公开 pass 含直接因子分配，不能等同于完整 DSE 伪代码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47700" y="5915025"/>
            <a:ext cx="70813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6D6B5"/>
                </a:solidFill>
                <a:latin typeface="Noto Sans CJK SC"/>
                <a:ea typeface="Microsoft YaHei"/>
                <a:cs typeface="Noto Sans CJK SC"/>
              </a:rPr>
              <a:t>迁移时保留“机制”，用 PyTorchSim 的执行模型重新定义代价与合法性。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1970" y="6408420"/>
            <a:ext cx="58655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来源：HIDA §6.5；UIUC-ChenLab/ScaleHLS-HIDA，Passes.cpp / ParallelizeDataflowNode.cpp。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10440576" cy="1137286"/>
            <a:chOff x="499110" y="496252"/>
            <a:chExt cx="10440576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2380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03 · PYTORCHSIM 1 / 7 · 整体架构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1044057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PyTorchSim 由编译器生成 tile 程序，再模拟系统级执行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78322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Gem5 提供计算延迟样本，Spike 执行功能路径，TOGSim 处理 tile 调度与存储系统时序。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14388" y="2502694"/>
            <a:ext cx="10782324" cy="1181100"/>
            <a:chOff x="814388" y="2502694"/>
            <a:chExt cx="10782324" cy="1181100"/>
          </a:xfrm>
        </p:grpSpPr>
        <p:sp>
          <p:nvSpPr>
            <p:cNvPr id="7" name="Line 7"/>
            <p:cNvSpPr/>
            <p:nvPr/>
          </p:nvSpPr>
          <p:spPr>
            <a:xfrm>
              <a:off x="838200" y="3143250"/>
              <a:ext cx="10553700" cy="9525"/>
            </a:xfrm>
            <a:custGeom>
              <a:avLst/>
              <a:gdLst/>
              <a:ahLst/>
              <a:cxnLst/>
              <a:rect l="l" t="t" r="r" b="b"/>
              <a:pathLst>
                <a:path w="10553700" h="9525">
                  <a:moveTo>
                    <a:pt x="0" y="0"/>
                  </a:moveTo>
                  <a:lnTo>
                    <a:pt x="10553700" y="0"/>
                  </a:lnTo>
                </a:path>
              </a:pathLst>
            </a:custGeom>
            <a:noFill/>
            <a:ln w="28575">
              <a:solidFill>
                <a:srgbClr val="2A3A5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76300" y="3067050"/>
              <a:ext cx="152400" cy="152400"/>
            </a:xfrm>
            <a:prstGeom prst="ellipse">
              <a:avLst/>
            </a:prstGeom>
            <a:solidFill>
              <a:srgbClr val="4DA3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457575" y="3067050"/>
              <a:ext cx="152400" cy="152400"/>
            </a:xfrm>
            <a:prstGeom prst="ellipse">
              <a:avLst/>
            </a:prstGeom>
            <a:solidFill>
              <a:srgbClr val="4DA3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457950" y="3067050"/>
              <a:ext cx="152400" cy="152400"/>
            </a:xfrm>
            <a:prstGeom prst="ellipse">
              <a:avLst/>
            </a:prstGeom>
            <a:solidFill>
              <a:srgbClr val="A78BF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525000" y="3067050"/>
              <a:ext cx="152400" cy="152400"/>
            </a:xfrm>
            <a:prstGeom prst="ellipse">
              <a:avLst/>
            </a:prstGeom>
            <a:solidFill>
              <a:srgbClr val="36D6B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4388" y="2502694"/>
              <a:ext cx="1815971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PyTorch 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90888" y="2502694"/>
              <a:ext cx="2189768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Inductor + MLIR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8888" y="2502694"/>
              <a:ext cx="1844725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TOG（ONNX）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5938" y="2502694"/>
              <a:ext cx="1039624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TOGSim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008" y="3424714"/>
              <a:ext cx="18293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torch.compile / npu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98508" y="34247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融合、模板、映射、代码生成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46508" y="3424714"/>
              <a:ext cx="2108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tile / 循环 / 依赖 / 地址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13558" y="3424714"/>
              <a:ext cx="21831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Core · DMA · NoC · DRAM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76625" y="3686175"/>
            <a:ext cx="8215217" cy="2312194"/>
            <a:chOff x="3476625" y="3686175"/>
            <a:chExt cx="8215217" cy="2312194"/>
          </a:xfrm>
        </p:grpSpPr>
        <p:sp>
          <p:nvSpPr>
            <p:cNvPr id="21" name="Freeform 21"/>
            <p:cNvSpPr/>
            <p:nvPr/>
          </p:nvSpPr>
          <p:spPr>
            <a:xfrm>
              <a:off x="4429125" y="3686175"/>
              <a:ext cx="2066925" cy="685800"/>
            </a:xfrm>
            <a:custGeom>
              <a:avLst/>
              <a:gdLst/>
              <a:ahLst/>
              <a:cxnLst/>
              <a:rect l="l" t="t" r="r" b="b"/>
              <a:pathLst>
                <a:path w="2066925" h="685800">
                  <a:moveTo>
                    <a:pt x="0" y="0"/>
                  </a:moveTo>
                  <a:lnTo>
                    <a:pt x="0" y="685800"/>
                  </a:lnTo>
                  <a:lnTo>
                    <a:pt x="2066925" y="685800"/>
                  </a:lnTo>
                  <a:lnTo>
                    <a:pt x="2066925" y="38100"/>
                  </a:lnTo>
                </a:path>
              </a:pathLst>
            </a:custGeom>
            <a:noFill/>
            <a:ln w="19050">
              <a:solidFill>
                <a:srgbClr val="A78BF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512945" y="4546282"/>
              <a:ext cx="36982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采样二进制 → Gem5 → cycle_list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7708" y="4910614"/>
              <a:ext cx="37845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计算延迟写入 TOG，非整模型逐指令时序仿真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476625" y="3686175"/>
              <a:ext cx="723900" cy="1828800"/>
            </a:xfrm>
            <a:custGeom>
              <a:avLst/>
              <a:gdLst/>
              <a:ahLst/>
              <a:cxnLst/>
              <a:rect l="l" t="t" r="r" b="b"/>
              <a:pathLst>
                <a:path w="723900" h="1828800">
                  <a:moveTo>
                    <a:pt x="0" y="0"/>
                  </a:moveTo>
                  <a:lnTo>
                    <a:pt x="0" y="1828800"/>
                  </a:lnTo>
                  <a:lnTo>
                    <a:pt x="723900" y="1828800"/>
                  </a:lnTo>
                </a:path>
              </a:pathLst>
            </a:custGeom>
            <a:noFill/>
            <a:ln w="19050">
              <a:solidFill>
                <a:srgbClr val="4DA3FF"/>
              </a:solidFill>
              <a:custDash>
                <a:ds d="350000" sp="300000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12945" y="5374958"/>
              <a:ext cx="32807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功能二进制 → Spike → 输出值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7708" y="5739289"/>
              <a:ext cx="47342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functional_mode 控制；功能正确性与时序结果分别检查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8795" y="4508182"/>
              <a:ext cx="22830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延迟 / 利用率 / 流量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10382250" y="36957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36D6B5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325100" y="421005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104775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36D6B5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521970" y="6408420"/>
            <a:ext cx="63322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代码：torch_openreg/__init__.py；extension_codecache.py；AsmParser/；Simulator/；TOGSim/。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15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21659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PYTORCHSIM 2 / 7 · FRONTEND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18276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前端把普通 PyTorch 接入 NPU backend，再交给 MLIR lowering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86209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用户入口仍是 torch.compile；设备注册和 TorchInductor backend 把控制权交给 PyTorchSim。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2105025"/>
            <a:ext cx="11125200" cy="2743200"/>
            <a:chOff x="533400" y="2105025"/>
            <a:chExt cx="11125200" cy="2743200"/>
          </a:xfrm>
        </p:grpSpPr>
        <p:sp>
          <p:nvSpPr>
            <p:cNvPr id="6" name="Rectangle 6"/>
            <p:cNvSpPr/>
            <p:nvPr/>
          </p:nvSpPr>
          <p:spPr>
            <a:xfrm>
              <a:off x="533400" y="2105025"/>
              <a:ext cx="2095500" cy="2743200"/>
            </a:xfrm>
            <a:prstGeom prst="roundRect">
              <a:avLst>
                <a:gd name="adj" fmla="val 5455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9142" y="2385536"/>
              <a:ext cx="106226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PyTorch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952" y="2979896"/>
              <a:ext cx="152426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model / tensor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952" y="3389471"/>
              <a:ext cx="146182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torch.compile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4858" y="39581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用户无需改写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219450" y="2105025"/>
              <a:ext cx="2667000" cy="2743200"/>
            </a:xfrm>
            <a:prstGeom prst="roundRect">
              <a:avLst>
                <a:gd name="adj" fmla="val 4286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45192" y="2385536"/>
              <a:ext cx="19352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torch_openreg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49955" y="2987992"/>
              <a:ext cx="16806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privateuse1 → npu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49955" y="3397568"/>
              <a:ext cx="16707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register backend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50908" y="3958114"/>
              <a:ext cx="13638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MLIRScheduling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50908" y="4272439"/>
              <a:ext cx="23786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ExtensionWrapperCodegen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77000" y="2105025"/>
              <a:ext cx="2381250" cy="2743200"/>
            </a:xfrm>
            <a:prstGeom prst="roundRect">
              <a:avLst>
                <a:gd name="adj" fmla="val 4800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02742" y="2385536"/>
              <a:ext cx="177650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MLIR lowering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07505" y="2987992"/>
              <a:ext cx="18087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mm / bmm / addmm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07505" y="3397568"/>
              <a:ext cx="1621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conv / reduction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08458" y="3958114"/>
              <a:ext cx="16989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模板 + tile mapping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448800" y="2105025"/>
              <a:ext cx="2209800" cy="2743200"/>
            </a:xfrm>
            <a:prstGeom prst="roundRect">
              <a:avLst>
                <a:gd name="adj" fmla="val 5172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74542" y="2385536"/>
              <a:ext cx="190877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Wrapper / TOG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79305" y="2987992"/>
              <a:ext cx="1355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SRAM 生命周期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79305" y="339756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属性与地址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680258" y="39581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交给后端模拟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2676525" y="3476625"/>
              <a:ext cx="6677025" cy="9525"/>
            </a:xfrm>
            <a:custGeom>
              <a:avLst/>
              <a:gdLst/>
              <a:ahLst/>
              <a:cxnLst/>
              <a:rect l="l" t="t" r="r" b="b"/>
              <a:pathLst>
                <a:path w="6677025" h="9525">
                  <a:moveTo>
                    <a:pt x="0" y="0"/>
                  </a:moveTo>
                  <a:lnTo>
                    <a:pt x="447675" y="0"/>
                  </a:lnTo>
                  <a:moveTo>
                    <a:pt x="3257550" y="0"/>
                  </a:moveTo>
                  <a:lnTo>
                    <a:pt x="3705225" y="0"/>
                  </a:lnTo>
                  <a:moveTo>
                    <a:pt x="6229350" y="0"/>
                  </a:moveTo>
                  <a:lnTo>
                    <a:pt x="667702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DA3F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3067050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6324600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30" name="Polygon 30"/>
            <p:cNvSpPr/>
            <p:nvPr/>
          </p:nvSpPr>
          <p:spPr>
            <a:xfrm>
              <a:off x="9296400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514350" y="5391150"/>
            <a:ext cx="94145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B454"/>
                </a:solidFill>
                <a:latin typeface="Noto Sans CJK SC"/>
                <a:ea typeface="Microsoft YaHei"/>
                <a:cs typeface="Noto Sans CJK SC"/>
              </a:rPr>
              <a:t>可搜索入口：mapping strategy、fusion 选项、tile 形状、vector lane 和 scratchpad 预算。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1970" y="6408420"/>
            <a:ext cx="53003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代码：PyTorchSimDevice/torch_openreg/__init__.py；PyTorchSimFrontend/mlir/。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16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1" grpId="0"/>
      <p:bldP spid="32" grpId="0"/>
      <p:bldP spid="33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22962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PYTORCHSIM 3 / 7 · CODE CACHE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02335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MLIRCodeCache 同时生成验证二进制、延迟样本和 TOG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4520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缓存和文件锁避免重复编译；时序模式打开后才继续 cycle 与 TOG 生成。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33400" y="2095500"/>
            <a:ext cx="11125200" cy="2762250"/>
            <a:chOff x="533400" y="2095500"/>
            <a:chExt cx="11125200" cy="2762250"/>
          </a:xfrm>
        </p:grpSpPr>
        <p:sp>
          <p:nvSpPr>
            <p:cNvPr id="6" name="Rectangle 6"/>
            <p:cNvSpPr/>
            <p:nvPr/>
          </p:nvSpPr>
          <p:spPr>
            <a:xfrm>
              <a:off x="533400" y="2095500"/>
              <a:ext cx="2457450" cy="2762250"/>
            </a:xfrm>
            <a:prstGeom prst="roundRect">
              <a:avLst>
                <a:gd name="adj" fmla="val 3876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0095" y="2374582"/>
              <a:ext cx="13197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1 输入 MLIR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3905" y="2949892"/>
              <a:ext cx="15229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写入 code cache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4858" y="3358039"/>
              <a:ext cx="14755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读取 YAML knobs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3905" y="3892868"/>
              <a:ext cx="1956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mapping / tile / vlen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4858" y="4310539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检查 SRAM 使用量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52800" y="2095500"/>
              <a:ext cx="2457450" cy="2762250"/>
            </a:xfrm>
            <a:prstGeom prst="roundRect">
              <a:avLst>
                <a:gd name="adj" fmla="val 3876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79495" y="2374582"/>
              <a:ext cx="12691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2 编译验证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83305" y="2949892"/>
              <a:ext cx="8426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mlir-opt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83305" y="3349942"/>
              <a:ext cx="14144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translate → llc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84258" y="3900964"/>
              <a:ext cx="15127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functional_mode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84258" y="4310539"/>
              <a:ext cx="15872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输出可执行 kernel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172200" y="2095500"/>
              <a:ext cx="2457450" cy="2762250"/>
            </a:xfrm>
            <a:prstGeom prst="roundRect">
              <a:avLst>
                <a:gd name="adj" fmla="val 3876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8895" y="2374582"/>
              <a:ext cx="12691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3 计算延迟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02705" y="2949892"/>
              <a:ext cx="12074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Gem5 sample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2705" y="3349942"/>
              <a:ext cx="15031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cycle simulator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03658" y="3900964"/>
              <a:ext cx="9169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cycle_list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03658" y="4310539"/>
              <a:ext cx="16896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写回 tile metadata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991600" y="2095500"/>
              <a:ext cx="2667000" cy="2762250"/>
            </a:xfrm>
            <a:prstGeom prst="roundRect">
              <a:avLst>
                <a:gd name="adj" fmla="val 3571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18295" y="2374582"/>
              <a:ext cx="21041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4 生成 / 运行 TOG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22105" y="2949892"/>
              <a:ext cx="1946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raw TOG → ONNX TOG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22105" y="3349942"/>
              <a:ext cx="19862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写 kernel attributes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23058" y="3900964"/>
              <a:ext cx="179210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Standalone / launch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23058" y="4310539"/>
              <a:ext cx="16431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返回 timing result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3009900" y="3476625"/>
              <a:ext cx="5905500" cy="9525"/>
            </a:xfrm>
            <a:custGeom>
              <a:avLst/>
              <a:gdLst/>
              <a:ahLst/>
              <a:cxnLst/>
              <a:rect l="l" t="t" r="r" b="b"/>
              <a:pathLst>
                <a:path w="5905500" h="9525">
                  <a:moveTo>
                    <a:pt x="0" y="0"/>
                  </a:moveTo>
                  <a:lnTo>
                    <a:pt x="266700" y="0"/>
                  </a:lnTo>
                  <a:moveTo>
                    <a:pt x="2819400" y="0"/>
                  </a:moveTo>
                  <a:lnTo>
                    <a:pt x="3086100" y="0"/>
                  </a:lnTo>
                  <a:moveTo>
                    <a:pt x="5638800" y="0"/>
                  </a:moveTo>
                  <a:lnTo>
                    <a:pt x="59055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DA3F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3209925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32" name="Polygon 32"/>
            <p:cNvSpPr/>
            <p:nvPr/>
          </p:nvSpPr>
          <p:spPr>
            <a:xfrm>
              <a:off x="6029325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33" name="Polygon 33"/>
            <p:cNvSpPr/>
            <p:nvPr/>
          </p:nvSpPr>
          <p:spPr>
            <a:xfrm>
              <a:off x="8848725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514350" y="5410200"/>
            <a:ext cx="88230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B454"/>
                </a:solidFill>
                <a:latin typeface="Noto Sans CJK SC"/>
                <a:ea typeface="Microsoft YaHei"/>
                <a:cs typeface="Noto Sans CJK SC"/>
              </a:rPr>
              <a:t>搜索代价分层：编译 / Gem5 / Spike / TOGSim 各有不同成本，不能只统计最后一个数字。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21970" y="6408420"/>
            <a:ext cx="55106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代码：PyTorchSimFrontend/extension_codecache.py；AsmParser/tog_generator.py。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17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4" grpId="0"/>
      <p:bldP spid="35" grpId="0"/>
      <p:bldP spid="36" grpId="0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17442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PYTORCHSIM 4 / 7 · TOG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85359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TOG 不是抽象模型图，而是可展开的 tile 程序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6295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ONNX 只是容器；节点属性携带循环、地址、tile size、计算类型与 cycle。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33400" y="2190750"/>
            <a:ext cx="11186803" cy="3524250"/>
            <a:chOff x="533400" y="2190750"/>
            <a:chExt cx="11186803" cy="3524250"/>
          </a:xfrm>
        </p:grpSpPr>
        <p:sp>
          <p:nvSpPr>
            <p:cNvPr id="6" name="Rectangle 6"/>
            <p:cNvSpPr/>
            <p:nvPr/>
          </p:nvSpPr>
          <p:spPr>
            <a:xfrm>
              <a:off x="533400" y="2190750"/>
              <a:ext cx="2286000" cy="2162175"/>
            </a:xfrm>
            <a:prstGeom prst="roundRect">
              <a:avLst>
                <a:gd name="adj" fmla="val 5286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9142" y="2433161"/>
              <a:ext cx="81096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MOVIN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952" y="2979896"/>
              <a:ext cx="11912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外存 → SRAM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4858" y="3443764"/>
              <a:ext cx="1717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地址 / stride / tile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314700" y="2190750"/>
              <a:ext cx="2286000" cy="2162175"/>
            </a:xfrm>
            <a:prstGeom prst="roundRect">
              <a:avLst>
                <a:gd name="adj" fmla="val 5286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40442" y="2433161"/>
              <a:ext cx="731601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COMP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44252" y="2979896"/>
              <a:ext cx="150345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向量 / systolic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46158" y="3443764"/>
              <a:ext cx="141036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torchsim_cycle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2190750"/>
              <a:ext cx="2286000" cy="2162175"/>
            </a:xfrm>
            <a:prstGeom prst="roundRect">
              <a:avLst>
                <a:gd name="adj" fmla="val 5286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21742" y="2433161"/>
              <a:ext cx="107549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MOVOUT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25552" y="2979896"/>
              <a:ext cx="119126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SRAM → 外存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27458" y="3443764"/>
              <a:ext cx="12055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写回 tile 地址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77300" y="2190750"/>
              <a:ext cx="2781300" cy="2162175"/>
            </a:xfrm>
            <a:prstGeom prst="roundRect">
              <a:avLst>
                <a:gd name="adj" fmla="val 5286"/>
              </a:avLst>
            </a:prstGeom>
            <a:solidFill>
              <a:srgbClr val="162235"/>
            </a:solidFill>
            <a:ln w="9525">
              <a:solidFill>
                <a:srgbClr val="FFB45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03042" y="2433161"/>
              <a:ext cx="130034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BAR / loop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6852" y="2979896"/>
              <a:ext cx="190928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等待依赖、展开循环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08758" y="3443764"/>
              <a:ext cx="261144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inner / outer / accumulation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2867025" y="3276600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381000" y="0"/>
                  </a:lnTo>
                  <a:moveTo>
                    <a:pt x="2781300" y="0"/>
                  </a:moveTo>
                  <a:lnTo>
                    <a:pt x="3162300" y="0"/>
                  </a:lnTo>
                  <a:moveTo>
                    <a:pt x="5562600" y="0"/>
                  </a:moveTo>
                  <a:lnTo>
                    <a:pt x="59436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DA3F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3181350" y="32194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4" name="Polygon 24"/>
            <p:cNvSpPr/>
            <p:nvPr/>
          </p:nvSpPr>
          <p:spPr>
            <a:xfrm>
              <a:off x="5962650" y="32194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5" name="Polygon 25"/>
            <p:cNvSpPr/>
            <p:nvPr/>
          </p:nvSpPr>
          <p:spPr>
            <a:xfrm>
              <a:off x="8743950" y="32194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857750"/>
              <a:ext cx="11125200" cy="857250"/>
            </a:xfrm>
            <a:prstGeom prst="roundRect">
              <a:avLst>
                <a:gd name="adj" fmla="val 13333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0100" y="5076825"/>
              <a:ext cx="75304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TOGSim 解析后：loop expansion → Tile → Instruction → 地址请求 / pipeline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2958" y="5396389"/>
              <a:ext cx="59167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这正是 I 的落点：tile、循环顺序、融合结果会改变系统可见的执行图。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21970" y="6408420"/>
            <a:ext cx="68974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代码：AsmParser/onnx_utility.py；TOGSim/src/TileGraphParser.cc；docs/togsim-code-reading-spec.md。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18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9" grpId="0"/>
      <p:bldP spid="30" grpId="0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26183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PYTORCHSIM 5 / 7 · TOGSIM RUNTIME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971598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TOGSim 每个周期同时推进计算、DMA、互连和 DRAM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78421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瓶颈来自系统交互：一个 tile 的计算等待，可能是 Core、DMA、NoC 或内存服务造成的。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14350" y="2105025"/>
            <a:ext cx="11144250" cy="3590925"/>
            <a:chOff x="514350" y="2105025"/>
            <a:chExt cx="11144250" cy="3590925"/>
          </a:xfrm>
        </p:grpSpPr>
        <p:sp>
          <p:nvSpPr>
            <p:cNvPr id="6" name="Rectangle 6"/>
            <p:cNvSpPr/>
            <p:nvPr/>
          </p:nvSpPr>
          <p:spPr>
            <a:xfrm>
              <a:off x="533400" y="2105025"/>
              <a:ext cx="2038350" cy="2781300"/>
            </a:xfrm>
            <a:prstGeom prst="roundRect">
              <a:avLst>
                <a:gd name="adj" fmla="val 4673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1045" y="2393632"/>
              <a:ext cx="12311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Scheduler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4855" y="2968942"/>
              <a:ext cx="1582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peek / issue tile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808" y="3377089"/>
              <a:ext cx="13451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按 core 与 slot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4855" y="3911918"/>
              <a:ext cx="12074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finish / 依赖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876550" y="2105025"/>
              <a:ext cx="2038350" cy="2781300"/>
            </a:xfrm>
            <a:prstGeom prst="roundRect">
              <a:avLst>
                <a:gd name="adj" fmla="val 4673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84195" y="2393632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Core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8005" y="2968942"/>
              <a:ext cx="16806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vector / systolic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88005" y="3368992"/>
              <a:ext cx="1582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pipeline / bubble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8958" y="3920014"/>
              <a:ext cx="13172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COMP 完成时间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219700" y="2105025"/>
              <a:ext cx="2038350" cy="2781300"/>
            </a:xfrm>
            <a:prstGeom prst="roundRect">
              <a:avLst>
                <a:gd name="adj" fmla="val 4673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427345" y="2393632"/>
              <a:ext cx="12185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DMA + NoC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31155" y="2968942"/>
              <a:ext cx="14637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tile → requests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31155" y="3368992"/>
              <a:ext cx="14440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注入端口 / 延迟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32108" y="3920014"/>
              <a:ext cx="15127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MOVIN / MOVOUT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105025"/>
              <a:ext cx="4095750" cy="2781300"/>
            </a:xfrm>
            <a:prstGeom prst="roundRect">
              <a:avLst>
                <a:gd name="adj" fmla="val 3425"/>
              </a:avLst>
            </a:prstGeom>
            <a:solidFill>
              <a:srgbClr val="162235"/>
            </a:solidFill>
            <a:ln w="9525">
              <a:solidFill>
                <a:srgbClr val="FFB45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70495" y="2393632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DRAM / Cache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74305" y="2968942"/>
              <a:ext cx="24890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SimpleDRAM 或 Ramulator2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74305" y="3368992"/>
              <a:ext cx="2005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通道、频率、请求大小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75258" y="3920014"/>
              <a:ext cx="24904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完成请求 → Core / Scheduler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2619375" y="3476625"/>
              <a:ext cx="4867275" cy="9525"/>
            </a:xfrm>
            <a:custGeom>
              <a:avLst/>
              <a:gdLst/>
              <a:ahLst/>
              <a:cxnLst/>
              <a:rect l="l" t="t" r="r" b="b"/>
              <a:pathLst>
                <a:path w="4867275" h="9525">
                  <a:moveTo>
                    <a:pt x="0" y="0"/>
                  </a:moveTo>
                  <a:lnTo>
                    <a:pt x="180975" y="0"/>
                  </a:lnTo>
                  <a:moveTo>
                    <a:pt x="2343150" y="0"/>
                  </a:moveTo>
                  <a:lnTo>
                    <a:pt x="2524125" y="0"/>
                  </a:lnTo>
                  <a:moveTo>
                    <a:pt x="4686300" y="0"/>
                  </a:moveTo>
                  <a:lnTo>
                    <a:pt x="4867275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DA3F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2733675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8" name="Polygon 28"/>
            <p:cNvSpPr/>
            <p:nvPr/>
          </p:nvSpPr>
          <p:spPr>
            <a:xfrm>
              <a:off x="5076825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7419975" y="3419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14350" y="5391150"/>
              <a:ext cx="105756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Simulator::cycle() → core_cycle → icnt_cycle → dram_cycle；最终输出 cycles、利用率、流量、stall。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21970" y="6408420"/>
            <a:ext cx="62336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代码：TOGSim/src/Simulator.cc、Core.cc、DMA.cc、Scheduler.cc、Dram.cc、Interconnect.cc。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19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1" grpId="0"/>
      <p:bldP spid="32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25416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PYTORCHSIM 6 / 7 · CONFIGURATION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000582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同一个 YAML 配置，可能同时改变编译器与模拟器行为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1563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做 DSE 前必须给每个 knob 标注消费者、是否需要重编译、如何验证。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2028825"/>
            <a:ext cx="11125200" cy="3067050"/>
            <a:chOff x="533400" y="2028825"/>
            <a:chExt cx="11125200" cy="3067050"/>
          </a:xfrm>
        </p:grpSpPr>
        <p:sp>
          <p:nvSpPr>
            <p:cNvPr id="6" name="Rectangle 6"/>
            <p:cNvSpPr/>
            <p:nvPr/>
          </p:nvSpPr>
          <p:spPr>
            <a:xfrm>
              <a:off x="533400" y="2028825"/>
              <a:ext cx="3371850" cy="3067050"/>
            </a:xfrm>
            <a:prstGeom prst="roundRect">
              <a:avLst>
                <a:gd name="adj" fmla="val 3727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192" y="2271236"/>
              <a:ext cx="164424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编译端 knobs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2002" y="2846546"/>
              <a:ext cx="318923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vpu_num_lanes / vector_length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002" y="3256121"/>
              <a:ext cx="18572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mapping_strategy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2002" y="3665696"/>
              <a:ext cx="276258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tile / fusion / optimization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3908" y="4281964"/>
              <a:ext cx="21366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影响 MLIR、二进制、TOG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3908" y="4596289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通常需要重新编译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0075" y="2028825"/>
              <a:ext cx="3371850" cy="3067050"/>
            </a:xfrm>
            <a:prstGeom prst="roundRect">
              <a:avLst>
                <a:gd name="adj" fmla="val 3727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54868" y="2271236"/>
              <a:ext cx="164424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系统端 knobs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58678" y="2846546"/>
              <a:ext cx="279380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num_cores / systolic array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58678" y="3256121"/>
              <a:ext cx="199253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scratchpad / cache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8678" y="3665696"/>
              <a:ext cx="274177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NoC / DRAM channels / freq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60582" y="4281964"/>
              <a:ext cx="25276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影响 Core、DMA、NoC、DRAM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0582" y="4596289"/>
              <a:ext cx="16617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需重新运行 TOGSim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86750" y="2028825"/>
              <a:ext cx="3371850" cy="3067050"/>
            </a:xfrm>
            <a:prstGeom prst="roundRect">
              <a:avLst>
                <a:gd name="adj" fmla="val 3727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31542" y="2271236"/>
              <a:ext cx="136648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记录与验证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35352" y="2846546"/>
              <a:ext cx="24816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配置哈希 + compiler hash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35352" y="3256121"/>
              <a:ext cx="251283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TOG / attribute / result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5352" y="3665696"/>
              <a:ext cx="241918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功能正确性 / timing 指标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37258" y="428196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避免结果无法复现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37258" y="4596289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定义失败原因分类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962400" y="352425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352425" y="0"/>
                  </a:lnTo>
                  <a:moveTo>
                    <a:pt x="3876675" y="0"/>
                  </a:moveTo>
                  <a:lnTo>
                    <a:pt x="42291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4DA3F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248150" y="34671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8124825" y="34671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514350" y="5448300"/>
            <a:ext cx="75085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Noto Sans CJK SC"/>
                <a:ea typeface="Microsoft YaHei"/>
                <a:cs typeface="Noto Sans CJK SC"/>
              </a:rPr>
              <a:t>代码入口：extension_config.py 从 TOGSIM_CONFIG 读取两边共用的字段。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1970" y="6408420"/>
            <a:ext cx="57012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代码：PyTorchSimFrontend/extension_config.py；configs/*.yml；研究建议为本报告设计。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20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0" grpId="0"/>
      <p:bldP spid="31" grpId="0"/>
      <p:bldP spid="32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20739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PYTORCHSIM 7 / 7 · 搜索成本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122727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先把 workload 变成有信息量的片段，再把结论放回整图验证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68661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短路径用于排序和灵敏度，完整图用于确认跨 kernel 的共享资源与调度影响。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33400" y="2095500"/>
            <a:ext cx="11125200" cy="2990850"/>
            <a:chOff x="533400" y="2095500"/>
            <a:chExt cx="11125200" cy="2990850"/>
          </a:xfrm>
        </p:grpSpPr>
        <p:sp>
          <p:nvSpPr>
            <p:cNvPr id="6" name="Rectangle 6"/>
            <p:cNvSpPr/>
            <p:nvPr/>
          </p:nvSpPr>
          <p:spPr>
            <a:xfrm>
              <a:off x="533400" y="2095500"/>
              <a:ext cx="4953000" cy="2990850"/>
            </a:xfrm>
            <a:prstGeom prst="roundRect">
              <a:avLst>
                <a:gd name="adj" fmla="val 3822"/>
              </a:avLst>
            </a:prstGeom>
            <a:solidFill>
              <a:srgbClr val="16223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6290" y="2367915"/>
              <a:ext cx="30821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代表片段：便宜、可解释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0100" y="2895600"/>
              <a:ext cx="32804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GEMM：tile / vector / systolic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0100" y="3305175"/>
              <a:ext cx="28860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attention：KV 搬运 / cache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0100" y="3714750"/>
              <a:ext cx="23164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conv：fusion / 多 tile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2958" y="4301014"/>
              <a:ext cx="263006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用于 QualE、QuanE、候选预筛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958" y="46248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片段排名可能改变整图瓶颈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981700" y="2095500"/>
              <a:ext cx="5676900" cy="2990850"/>
            </a:xfrm>
            <a:prstGeom prst="roundRect">
              <a:avLst>
                <a:gd name="adj" fmla="val 3822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44590" y="2367915"/>
              <a:ext cx="25300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完整验证：贵但必要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48400" y="2895600"/>
              <a:ext cx="269986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多 kernel 共享 DRAM / NoC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48400" y="3305175"/>
              <a:ext cx="305038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跨 kernel 的 launch / barrier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48400" y="3714750"/>
              <a:ext cx="26450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融合改变 buffer 生命周期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51258" y="43010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验证候选是否迁移到整体目标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51258" y="4624864"/>
              <a:ext cx="30956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不能把 microbenchmark 当最终答案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14350" y="5495925"/>
            <a:ext cx="84834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4F7FB"/>
                </a:solidFill>
                <a:latin typeface="Noto Sans CJK SC"/>
                <a:ea typeface="Microsoft YaHei"/>
                <a:cs typeface="Noto Sans CJK SC"/>
              </a:rPr>
              <a:t>建议成本层级：代码分析 → 编译 / TOG → 短片段 timing → 完整 workload → 功能回归。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1970" y="6408420"/>
            <a:ext cx="49191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依据：PyTorchSim code cache 与本研究的 workload 设计原则；无新增实测耗时。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37570" y="640842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21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0" grpId="0"/>
      <p:bldP spid="21" grpId="0"/>
      <p:bldP spid="22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0065" y="496252"/>
            <a:ext cx="985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6D6B5"/>
                </a:solidFill>
                <a:latin typeface="Consolas"/>
                <a:ea typeface="Microsoft YaHei"/>
                <a:cs typeface="Consolas"/>
              </a:rPr>
              <a:t>04 · 迁移关系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9110" y="803910"/>
            <a:ext cx="1083392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4F7FB"/>
                </a:solidFill>
                <a:latin typeface="Georgia"/>
                <a:ea typeface="Microsoft YaHei"/>
                <a:cs typeface="Georgia"/>
              </a:rPr>
              <a:t>三种思想各解决一段问题，组合后才形成可执行的研究闭环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" y="1359218"/>
            <a:ext cx="76350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AB8CC"/>
                </a:solidFill>
                <a:latin typeface="Noto Sans CJK SC"/>
                <a:ea typeface="Microsoft YaHei"/>
                <a:cs typeface="Noto Sans CJK SC"/>
              </a:rPr>
              <a:t>HIDA 组织实现空间，Lumina 组织评估顺序，PyTorchSim 提供真实可追踪的执行反馈。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33400" y="2076450"/>
            <a:ext cx="11125200" cy="2781300"/>
            <a:chOff x="533400" y="2076450"/>
            <a:chExt cx="11125200" cy="2781300"/>
          </a:xfrm>
        </p:grpSpPr>
        <p:sp>
          <p:nvSpPr>
            <p:cNvPr id="6" name="Rectangle 6"/>
            <p:cNvSpPr/>
            <p:nvPr/>
          </p:nvSpPr>
          <p:spPr>
            <a:xfrm>
              <a:off x="533400" y="2076450"/>
              <a:ext cx="3429000" cy="2781300"/>
            </a:xfrm>
            <a:prstGeom prst="roundRect">
              <a:avLst>
                <a:gd name="adj" fmla="val 4110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5338" y="2350294"/>
              <a:ext cx="1269653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HIDA 借鉴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0100" y="294322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层级表示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0100" y="3333750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模式融合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0100" y="3724275"/>
              <a:ext cx="16044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连接 / 强度约束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2958" y="4291489"/>
              <a:ext cx="26207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迁移成 I 的合法性与候选生成器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2076450"/>
              <a:ext cx="3429000" cy="2781300"/>
            </a:xfrm>
            <a:prstGeom prst="roundRect">
              <a:avLst>
                <a:gd name="adj" fmla="val 4110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43438" y="2350294"/>
              <a:ext cx="164344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Lumina 借鉴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48200" y="2943225"/>
              <a:ext cx="19440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QualE：代码影响图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48200" y="3333750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QuanE：局部 sensitivity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48200" y="3724275"/>
              <a:ext cx="23493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SE / TM：证据驱动搜索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51058" y="4291489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迁移成 I×H 的实验调度器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229600" y="2076450"/>
              <a:ext cx="3429000" cy="2781300"/>
            </a:xfrm>
            <a:prstGeom prst="roundRect">
              <a:avLst>
                <a:gd name="adj" fmla="val 4110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91538" y="2350294"/>
              <a:ext cx="2276029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75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PyTorchSim 提供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96300" y="2943225"/>
              <a:ext cx="1889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编译后 MLIR / TOG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96300" y="3333750"/>
              <a:ext cx="25684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Core / DMA / NoC / DRAM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0" y="3724275"/>
              <a:ext cx="20097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功能与时序双重验证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99158" y="4291489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迁移成可复现的评估证据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14350" y="5438775"/>
            <a:ext cx="6391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B454"/>
                </a:solidFill>
                <a:latin typeface="Noto Sans CJK SC"/>
                <a:ea typeface="Microsoft YaHei"/>
                <a:cs typeface="Noto Sans CJK SC"/>
              </a:rPr>
              <a:t>分工原则：先保证候选能编译、能运行、语义正确，再比较性能。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1970" y="6408420"/>
            <a:ext cx="38413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本页为研究整合框架；各项目来源见 sources/references.md。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22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4" grpId="0"/>
      <p:bldP spid="25" grpId="0"/>
      <p:bldP spid="26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9110" y="496252"/>
            <a:ext cx="11165167" cy="1137286"/>
            <a:chOff x="499110" y="496252"/>
            <a:chExt cx="11165167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1291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05 · 拟议研究闭环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9110" y="803910"/>
              <a:ext cx="111651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固定 A 之后，先生成合法的 I，再让 H 与 I 一起接受证据检验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86998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这是一条可证伪的实现路线：任何候选都必须能编译、功能正确，并在完整 workload 上得到反馈。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00" y="2238375"/>
            <a:ext cx="10668000" cy="3333750"/>
            <a:chOff x="723900" y="2238375"/>
            <a:chExt cx="10668000" cy="3333750"/>
          </a:xfrm>
        </p:grpSpPr>
        <p:sp>
          <p:nvSpPr>
            <p:cNvPr id="7" name="Ellipse 7"/>
            <p:cNvSpPr/>
            <p:nvPr/>
          </p:nvSpPr>
          <p:spPr>
            <a:xfrm>
              <a:off x="4619625" y="2266950"/>
              <a:ext cx="2952750" cy="2952750"/>
            </a:xfrm>
            <a:prstGeom prst="ellipse">
              <a:avLst/>
            </a:prstGeom>
            <a:solidFill>
              <a:srgbClr val="162235"/>
            </a:solidFill>
            <a:ln w="19050">
              <a:solidFill>
                <a:srgbClr val="2A3A5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37810" y="3475672"/>
              <a:ext cx="90178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固定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16830" y="3902392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网络与任务语义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23900" y="2314575"/>
              <a:ext cx="2457450" cy="1066800"/>
            </a:xfrm>
            <a:prstGeom prst="roundRect">
              <a:avLst>
                <a:gd name="adj" fmla="val 10714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9645" y="2555558"/>
              <a:ext cx="13323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① HIDA 先验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4408" y="2957989"/>
              <a:ext cx="19503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层级 / 融合 / 连接约束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86200" y="2238375"/>
              <a:ext cx="2457450" cy="1066800"/>
            </a:xfrm>
            <a:prstGeom prst="roundRect">
              <a:avLst>
                <a:gd name="adj" fmla="val 10714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31945" y="2479358"/>
              <a:ext cx="91486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② 生成 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36708" y="2881789"/>
              <a:ext cx="21179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tile / layout / schedule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15300" y="2314575"/>
              <a:ext cx="3276600" cy="1066800"/>
            </a:xfrm>
            <a:prstGeom prst="roundRect">
              <a:avLst>
                <a:gd name="adj" fmla="val 10714"/>
              </a:avLst>
            </a:prstGeom>
            <a:solidFill>
              <a:srgbClr val="162235"/>
            </a:solidFill>
            <a:ln w="9525">
              <a:solidFill>
                <a:srgbClr val="FFB45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61045" y="2555558"/>
              <a:ext cx="1345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③ 枚举 H × 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5808" y="2957989"/>
              <a:ext cx="22110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资源约束 + Lumina 优先级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115300" y="4429125"/>
              <a:ext cx="3276600" cy="1066800"/>
            </a:xfrm>
            <a:prstGeom prst="roundRect">
              <a:avLst>
                <a:gd name="adj" fmla="val 10714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61045" y="4670108"/>
              <a:ext cx="1636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④ PyTorchSim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65808" y="5072539"/>
              <a:ext cx="223901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功能 / timing / stall 反馈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86200" y="4505325"/>
              <a:ext cx="2457450" cy="1066800"/>
            </a:xfrm>
            <a:prstGeom prst="roundRect">
              <a:avLst>
                <a:gd name="adj" fmla="val 10714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131945" y="4746308"/>
              <a:ext cx="12691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⑤ 更新先验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36708" y="5148739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记录失败与迁移性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762250" y="2847975"/>
              <a:ext cx="6991350" cy="2190750"/>
            </a:xfrm>
            <a:custGeom>
              <a:avLst/>
              <a:gdLst/>
              <a:ahLst/>
              <a:cxnLst/>
              <a:rect l="l" t="t" r="r" b="b"/>
              <a:pathLst>
                <a:path w="6991350" h="2190750">
                  <a:moveTo>
                    <a:pt x="438150" y="0"/>
                  </a:moveTo>
                  <a:lnTo>
                    <a:pt x="1047750" y="0"/>
                  </a:lnTo>
                  <a:moveTo>
                    <a:pt x="3638550" y="0"/>
                  </a:moveTo>
                  <a:lnTo>
                    <a:pt x="5238750" y="0"/>
                  </a:lnTo>
                  <a:moveTo>
                    <a:pt x="6991350" y="609600"/>
                  </a:moveTo>
                  <a:lnTo>
                    <a:pt x="6991350" y="1504950"/>
                  </a:lnTo>
                  <a:moveTo>
                    <a:pt x="5238750" y="2114550"/>
                  </a:moveTo>
                  <a:lnTo>
                    <a:pt x="3638550" y="2114550"/>
                  </a:lnTo>
                  <a:moveTo>
                    <a:pt x="1047750" y="2190750"/>
                  </a:moveTo>
                  <a:lnTo>
                    <a:pt x="0" y="2190750"/>
                  </a:lnTo>
                  <a:lnTo>
                    <a:pt x="0" y="581025"/>
                  </a:lnTo>
                </a:path>
              </a:pathLst>
            </a:custGeom>
            <a:noFill/>
            <a:ln w="19050">
              <a:solidFill>
                <a:srgbClr val="4DA3F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3743325" y="279082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7" name="Polygon 27"/>
            <p:cNvSpPr/>
            <p:nvPr/>
          </p:nvSpPr>
          <p:spPr>
            <a:xfrm>
              <a:off x="7934325" y="279082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104775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8" name="Polygon 28"/>
            <p:cNvSpPr/>
            <p:nvPr/>
          </p:nvSpPr>
          <p:spPr>
            <a:xfrm>
              <a:off x="9696450" y="428625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104775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6362700" y="49815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57150"/>
                  </a:moveTo>
                  <a:lnTo>
                    <a:pt x="104775" y="0"/>
                  </a:lnTo>
                  <a:lnTo>
                    <a:pt x="104775" y="11430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  <p:sp>
          <p:nvSpPr>
            <p:cNvPr id="30" name="Polygon 30"/>
            <p:cNvSpPr/>
            <p:nvPr/>
          </p:nvSpPr>
          <p:spPr>
            <a:xfrm>
              <a:off x="2667000" y="3324225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57150" y="104775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DA3FF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514350" y="5915025"/>
            <a:ext cx="78371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B454"/>
                </a:solidFill>
                <a:latin typeface="Noto Sans CJK SC"/>
                <a:ea typeface="Microsoft YaHei"/>
                <a:cs typeface="Noto Sans CJK SC"/>
              </a:rPr>
              <a:t>首个验证问题：同一固定算法下，加入 I 后，单位仿真预算能否找到更好的 H×I？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1970" y="6408420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本页为拟议方法，不是已完成实验。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23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5300" y="496252"/>
            <a:ext cx="9093327" cy="1137286"/>
            <a:chOff x="495300" y="496252"/>
            <a:chExt cx="9093327" cy="1137286"/>
          </a:xfrm>
        </p:grpSpPr>
        <p:sp>
          <p:nvSpPr>
            <p:cNvPr id="3" name="TextBox 3"/>
            <p:cNvSpPr txBox="1"/>
            <p:nvPr/>
          </p:nvSpPr>
          <p:spPr>
            <a:xfrm>
              <a:off x="520065" y="496252"/>
              <a:ext cx="1222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06 · NEXT DESIGN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5300" y="771525"/>
              <a:ext cx="909332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4F7FB"/>
                  </a:solidFill>
                  <a:latin typeface="Georgia"/>
                  <a:ea typeface="Microsoft YaHei"/>
                  <a:cs typeface="Georgia"/>
                </a:rPr>
                <a:t>下一步：先完成一个小而可证伪的 I × H 实验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16255" y="1359218"/>
              <a:ext cx="7132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目标不是一次覆盖所有组合，而是证明映射信息确实改变了搜索效率和解释能力。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2143125"/>
            <a:ext cx="11125200" cy="2476500"/>
            <a:chOff x="533400" y="2143125"/>
            <a:chExt cx="11125200" cy="2476500"/>
          </a:xfrm>
        </p:grpSpPr>
        <p:sp>
          <p:nvSpPr>
            <p:cNvPr id="7" name="Rectangle 7"/>
            <p:cNvSpPr/>
            <p:nvPr/>
          </p:nvSpPr>
          <p:spPr>
            <a:xfrm>
              <a:off x="533400" y="2143125"/>
              <a:ext cx="3333750" cy="2476500"/>
            </a:xfrm>
            <a:prstGeom prst="roundRect">
              <a:avLst>
                <a:gd name="adj" fmla="val 4615"/>
              </a:avLst>
            </a:prstGeom>
            <a:solidFill>
              <a:srgbClr val="162235"/>
            </a:solidFill>
            <a:ln w="9525">
              <a:solidFill>
                <a:srgbClr val="A78BF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6290" y="2396490"/>
              <a:ext cx="25990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78BFA"/>
                  </a:solidFill>
                  <a:latin typeface="Noto Sans CJK SC"/>
                  <a:ea typeface="Microsoft YaHei"/>
                  <a:cs typeface="Noto Sans CJK SC"/>
                </a:rPr>
                <a:t>1 先定代表 workload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1052" y="2932271"/>
              <a:ext cx="297070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GEMM / attention / conv 各一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2958" y="3348514"/>
              <a:ext cx="27045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覆盖 compute、带宽、融合差异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2958" y="3881914"/>
              <a:ext cx="26673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记录完整图与 microbenchmark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143125"/>
              <a:ext cx="3333750" cy="2476500"/>
            </a:xfrm>
            <a:prstGeom prst="roundRect">
              <a:avLst>
                <a:gd name="adj" fmla="val 4615"/>
              </a:avLst>
            </a:prstGeom>
            <a:solidFill>
              <a:srgbClr val="162235"/>
            </a:solidFill>
            <a:ln w="9525">
              <a:solidFill>
                <a:srgbClr val="4DA3F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01540" y="2396490"/>
              <a:ext cx="2750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4DA3FF"/>
                  </a:solidFill>
                  <a:latin typeface="Noto Sans CJK SC"/>
                  <a:ea typeface="Microsoft YaHei"/>
                  <a:cs typeface="Noto Sans CJK SC"/>
                </a:rPr>
                <a:t>2 暴露 I 的最小 knobs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06302" y="2932271"/>
              <a:ext cx="314760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fusion、tile、layout、schedule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08208" y="334851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先保证合法性与可复现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08208" y="3881914"/>
              <a:ext cx="22948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B454"/>
                  </a:solidFill>
                  <a:latin typeface="Noto Sans CJK SC"/>
                  <a:ea typeface="Microsoft YaHei"/>
                  <a:cs typeface="Noto Sans CJK SC"/>
                </a:rPr>
                <a:t>每项标注编译 / 运行消费者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43900" y="2143125"/>
              <a:ext cx="3314700" cy="2476500"/>
            </a:xfrm>
            <a:prstGeom prst="roundRect">
              <a:avLst>
                <a:gd name="adj" fmla="val 4615"/>
              </a:avLst>
            </a:prstGeom>
            <a:solidFill>
              <a:srgbClr val="162235"/>
            </a:solidFill>
            <a:ln w="9525">
              <a:solidFill>
                <a:srgbClr val="36D6B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06790" y="2396490"/>
              <a:ext cx="193655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6D6B5"/>
                  </a:solidFill>
                  <a:latin typeface="Noto Sans CJK SC"/>
                  <a:ea typeface="Microsoft YaHei"/>
                  <a:cs typeface="Noto Sans CJK SC"/>
                </a:rPr>
                <a:t>3 做预算内对照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11552" y="2932271"/>
              <a:ext cx="131614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H-only vs I+H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11552" y="3332321"/>
              <a:ext cx="257527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F4F7FB"/>
                  </a:solidFill>
                  <a:latin typeface="Noto Sans CJK SC"/>
                  <a:ea typeface="Microsoft YaHei"/>
                  <a:cs typeface="Noto Sans CJK SC"/>
                </a:rPr>
                <a:t>相同 compile / sim budget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13458" y="38819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AAB8CC"/>
                  </a:solidFill>
                  <a:latin typeface="Noto Sans CJK SC"/>
                  <a:ea typeface="Microsoft YaHei"/>
                  <a:cs typeface="Noto Sans CJK SC"/>
                </a:rPr>
                <a:t>看最佳值、样本效率、解释性</a:t>
              </a:r>
            </a:p>
          </p:txBody>
        </p:sp>
      </p:grpSp>
      <p:sp>
        <p:nvSpPr>
          <p:cNvPr id="23" name="Line 23"/>
          <p:cNvSpPr/>
          <p:nvPr/>
        </p:nvSpPr>
        <p:spPr>
          <a:xfrm>
            <a:off x="533400" y="5191125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2A3A5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3892" y="5462111"/>
            <a:ext cx="130349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F4F7FB"/>
                </a:solidFill>
                <a:latin typeface="Noto Sans CJK SC"/>
                <a:ea typeface="Microsoft YaHei"/>
                <a:cs typeface="Noto Sans CJK SC"/>
              </a:rPr>
              <a:t>交付顺序：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23148" y="5478304"/>
            <a:ext cx="756194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4DA3FF"/>
                </a:solidFill>
                <a:latin typeface="Noto Sans CJK SC"/>
                <a:ea typeface="Microsoft YaHei"/>
                <a:cs typeface="Noto Sans CJK SC"/>
              </a:rPr>
              <a:t>追踪 knob → 生成 TOG → 缓存成本 → 功能回归 → timing 对照 → 更新搜索器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7702" y="5913596"/>
            <a:ext cx="879810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B454"/>
                </a:solidFill>
                <a:latin typeface="Noto Sans CJK SC"/>
                <a:ea typeface="Microsoft YaHei"/>
                <a:cs typeface="Noto Sans CJK SC"/>
              </a:rPr>
              <a:t>验收标准：任何“更好配置”都能回答，是改变了什么映射、缓解了哪个瓶颈、付出了什么代价。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1970" y="6408420"/>
            <a:ext cx="35718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本页为下一阶段实验计划；参数范围与预算将在实现后冻结。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37570" y="64084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Consolas"/>
                <a:ea typeface="Microsoft YaHei"/>
                <a:cs typeface="Consolas"/>
              </a:rPr>
              <a:t>24 / 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