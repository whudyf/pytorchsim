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今天的讨论从 Lumina 开始，但目标不是简单复述一篇论文。我们想借 Lumina 和 A3C3 重新思考一个具体问题：在 PyTorchSim 中，怎样把昂贵的硬件 DSE 推进成可验证的 compiler–accelerator co-design。整场汇报会先拆解已有工作的机制，再落到我们下一步可以真正测量的实验闭环。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PyTorchSim 已经把 PyTorch、MLIR、TOG 和周期级模拟器接起来了，但这也意味着每一个候选点可能触发完整的编译和模拟流程。硬件参数、tile、fusion、dataflow 和 DMA 之间还存在耦合，所以问题不是简单地增加 sweep 数量。我们真正需要的是一种能识别交互、控制模拟预算的实验方法。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的核心贡献是把硬件探索变成瓶颈驱动的闭环。QualE 从代码提取结构关系，QuanE 用微扰实验估计影响强度，SE 根据 critical path 选择策略，EE 执行候选，Trajectory Memory 再把结果反馈回来。每次模拟都应该改变下一次选择。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QualE 先回答一个结构问题：哪些硬件参数可能影响哪些性能指标。它从 simulator 源码中抽取 influence map，先排除没有直接因果边的参数，再进入量化阶段。对 PyTorchSim，我们需要把这条边延伸到 compiler knob、MLIR、TOG 属性和 TOGSim 指标。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QuanE 不一开始做大规模搜索，而是先做小的 sensitivity benchmark。只改变一个参数，观察 cycle、area 或 bandwidth 如何变化，就可以得到局部影响方向和强度。这种局部先验非常适合 PyTorchSim，因为完整 TOGSim 很贵，而小算子和短序列可以承担初筛任务。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 simulator 告诉我们当前瓶颈是 memory latency 或 interconnect congestion，Strategy Engine 就不应该让搜索器随意改所有参数。它只提出与当前瓶颈相关的受限候选，执行后把结果写进轨迹记忆。这个闭环是 Lumina 比静态规则更有价值的地方。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的优势是样本效率，而不是覆盖所有算法层次。它主要在固定 workload 下搜索硬件配置，并不会自动产生新的网络拓扑、compiler mapping 或 Medusa 式的算法重构。因此我们应该迁移它的搜索策略，同时自己补上编译器和 TOG 这一层。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A3C3 提供的是更宽的设计空间视角。算法、实现和硬件可以分别固定，也可以一起搜索；Bundle、联合目标和自动生成是它的共同语言。我们当前选择的是其中一个受控切片：固定算法拓扑，重点研究实现和硬件的交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SkyNet 解决的是“什么网络适合硬件”。它先把局部操作组合成 Bundle，在目标设备上预评估延迟、资源和准确率，再用 PSO 搜索通道数和池化位置。对 PyTorchSim，最值得借鉴的是先做 TOG motif 的预标定，再进入大 block 或完整模型。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EDD 把网络结构变量和实现变量放进同一个联合目标函数，并用可微的表示降低搜索成本。它告诉我们，co-design 的关键不是把两个结果最后拼起来，而是让硬件代价在搜索过程中直接影响算法或实现选择。固定拓扑以后，这个思想自然退化成 I 和 H 的联合 cost model。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代表另一条非常接近我们的路线：程序逻辑相对固定，重点优化 tiling、并行、buffer、streaming 和 dataflow。它通过功能层和结构层的 IR 管理跨层耦合。PyTorchSim 的 FX、MLIR 和 TOG 链路已经提供了类似的观察层。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Medusa 说明协同设计还可以发生在算法执行方式上。它观察到自回归解码的串行依赖和重复读权重问题，于是增加多个 decoding heads，用 tree attention 一次验证多个候选。它对我们的启发是：当瓶颈来自执行组织时，算法图本身也可以成为未来的设计变量。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SnapKV 进一步把数据生命周期纳入协同设计。它根据 attention pattern 选择重要 KV 位置，减少 cache 容量和访问成本。对于 PyTorchSim，这提醒我们 workload 不能只有模型名和 tensor shape，还要描述 sequence phase、KV、DRAM 和 SPAD 行为。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这些工作没有谁在所有维度上更高级。SkyNet 改网络结构，EDD 做算法和实现联合搜索，HIDA 优化固定程序的映射，Medusa 改变解码执行方式，SnapKV 改变内存保留策略，Lumina 则优化昂贵硬件实验的选择。它们共同回答的是：当前系统的真正瓶颈在哪里，最小的有效改动应该落在哪一层。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我们的第一阶段可以明确写成固定拓扑问题。令算法结构为 A 等于 A 零，软件实现变量包括 tiling、mapping、fusion、dataflow 和 DMA，硬件变量包括 SPAD、DRAM、NoC 和 PE。我们要测的不是单纯硬件排名，而是换硬件后最优 mapping 是否迁移，以及 mapping 排名是否重排。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下一步不建议直接对所有 workload 和配置做全量 sweep。我们应该先建立 compiler knob 到 TOGSim 指标的 influence map，再用 GEMM、Conv、attention 和 KV motif 做 sensitivity probes，训练一个便宜的 surrogate，最后只把最有信息量的组合送进 TOGSim 做 measured gate。这样才能把 A3C3 的设计空间、Lumina 的搜索策略和 PyTorchSim 的跨层观测真正合在一起。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144000" y="-361950"/>
            <a:ext cx="2857500" cy="2857500"/>
          </a:xfrm>
          <a:prstGeom prst="ellipse">
            <a:avLst/>
          </a:prstGeom>
          <a:solidFill>
            <a:srgbClr val="4DA3FF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810500" y="3238500"/>
            <a:ext cx="4191000" cy="4191000"/>
          </a:xfrm>
          <a:prstGeom prst="ellipse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810500" y="857250"/>
            <a:ext cx="3810000" cy="4095750"/>
          </a:xfrm>
          <a:custGeom>
            <a:avLst/>
            <a:gdLst/>
            <a:ahLst/>
            <a:cxnLst/>
            <a:rect l="l" t="t" r="r" b="b"/>
            <a:pathLst>
              <a:path w="3810000" h="4095750">
                <a:moveTo>
                  <a:pt x="0" y="571500"/>
                </a:moveTo>
                <a:cubicBezTo>
                  <a:pt x="1047750" y="0"/>
                  <a:pt x="2381250" y="381000"/>
                  <a:pt x="3095625" y="1238250"/>
                </a:cubicBezTo>
                <a:cubicBezTo>
                  <a:pt x="3810000" y="2095500"/>
                  <a:pt x="3333750" y="3143250"/>
                  <a:pt x="2095500" y="3619500"/>
                </a:cubicBezTo>
                <a:cubicBezTo>
                  <a:pt x="857250" y="4095750"/>
                  <a:pt x="285750" y="3048000"/>
                  <a:pt x="666750" y="2000250"/>
                </a:cubicBezTo>
              </a:path>
            </a:pathLst>
          </a:custGeom>
          <a:noFill/>
          <a:ln w="28575">
            <a:gradFill>
              <a:gsLst>
                <a:gs pos="0">
                  <a:srgbClr val="4DA3FF">
                    <a:alpha val="72000"/>
                  </a:srgbClr>
                </a:gs>
                <a:gs pos="100000">
                  <a:srgbClr val="A78BFA">
                    <a:alpha val="60000"/>
                  </a:srgbClr>
                </a:gs>
              </a:gsLst>
              <a:lin ang="2700000" scaled="1"/>
            </a:gradFill>
          </a:ln>
        </p:spPr>
      </p:sp>
      <p:sp>
        <p:nvSpPr>
          <p:cNvPr id="6" name="Freeform 6"/>
          <p:cNvSpPr/>
          <p:nvPr/>
        </p:nvSpPr>
        <p:spPr>
          <a:xfrm>
            <a:off x="7810500" y="1428750"/>
            <a:ext cx="3095625" cy="3048000"/>
          </a:xfrm>
          <a:custGeom>
            <a:avLst/>
            <a:gdLst/>
            <a:ahLst/>
            <a:cxnLst/>
            <a:rect l="l" t="t" r="r" b="b"/>
            <a:pathLst>
              <a:path w="3095625" h="3048000">
                <a:moveTo>
                  <a:pt x="0" y="0"/>
                </a:moveTo>
                <a:lnTo>
                  <a:pt x="666750" y="1428750"/>
                </a:lnTo>
                <a:lnTo>
                  <a:pt x="2095500" y="3048000"/>
                </a:lnTo>
                <a:lnTo>
                  <a:pt x="3095625" y="666750"/>
                </a:lnTo>
              </a:path>
            </a:pathLst>
          </a:custGeom>
          <a:noFill/>
          <a:ln w="19050">
            <a:solidFill>
              <a:srgbClr val="2A3A52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696200" y="1314450"/>
            <a:ext cx="228600" cy="228600"/>
          </a:xfrm>
          <a:prstGeom prst="ellipse">
            <a:avLst/>
          </a:prstGeom>
          <a:solidFill>
            <a:srgbClr val="36D6B5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362950" y="2743200"/>
            <a:ext cx="228600" cy="2286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791700" y="436245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791825" y="1981200"/>
            <a:ext cx="228600" cy="2286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681200" y="723900"/>
            <a:ext cx="294952" cy="323850"/>
            <a:chOff x="681200" y="723900"/>
            <a:chExt cx="294952" cy="323850"/>
          </a:xfrm>
        </p:grpSpPr>
        <p:sp>
          <p:nvSpPr>
            <p:cNvPr id="11" name="Freeform 11"/>
            <p:cNvSpPr/>
            <p:nvPr/>
          </p:nvSpPr>
          <p:spPr>
            <a:xfrm>
              <a:off x="681200" y="723900"/>
              <a:ext cx="281089" cy="323850"/>
            </a:xfrm>
            <a:custGeom>
              <a:avLst/>
              <a:gdLst/>
              <a:ahLst/>
              <a:cxnLst/>
              <a:rect l="l" t="t" r="r" b="b"/>
              <a:pathLst>
                <a:path w="281089" h="323850">
                  <a:moveTo>
                    <a:pt x="167715" y="43937"/>
                  </a:moveTo>
                  <a:lnTo>
                    <a:pt x="167715" y="0"/>
                  </a:lnTo>
                  <a:lnTo>
                    <a:pt x="127234" y="0"/>
                  </a:lnTo>
                  <a:lnTo>
                    <a:pt x="127234" y="43937"/>
                  </a:lnTo>
                  <a:cubicBezTo>
                    <a:pt x="103650" y="52272"/>
                    <a:pt x="86753" y="74764"/>
                    <a:pt x="86753" y="101203"/>
                  </a:cubicBezTo>
                  <a:cubicBezTo>
                    <a:pt x="86753" y="111904"/>
                    <a:pt x="89521" y="121958"/>
                    <a:pt x="94380" y="130689"/>
                  </a:cubicBezTo>
                  <a:lnTo>
                    <a:pt x="71768" y="168375"/>
                  </a:lnTo>
                  <a:cubicBezTo>
                    <a:pt x="63184" y="158708"/>
                    <a:pt x="56421" y="147385"/>
                    <a:pt x="52023" y="134939"/>
                  </a:cubicBezTo>
                  <a:lnTo>
                    <a:pt x="13855" y="148430"/>
                  </a:lnTo>
                  <a:cubicBezTo>
                    <a:pt x="21435" y="169873"/>
                    <a:pt x="34032" y="188954"/>
                    <a:pt x="50240" y="204254"/>
                  </a:cubicBezTo>
                  <a:lnTo>
                    <a:pt x="0" y="287990"/>
                  </a:lnTo>
                  <a:lnTo>
                    <a:pt x="13890" y="323850"/>
                  </a:lnTo>
                  <a:lnTo>
                    <a:pt x="52069" y="319229"/>
                  </a:lnTo>
                  <a:lnTo>
                    <a:pt x="102288" y="235530"/>
                  </a:lnTo>
                  <a:cubicBezTo>
                    <a:pt x="116477" y="240301"/>
                    <a:pt x="131671" y="242888"/>
                    <a:pt x="147472" y="242888"/>
                  </a:cubicBezTo>
                  <a:cubicBezTo>
                    <a:pt x="163276" y="242888"/>
                    <a:pt x="178472" y="240301"/>
                    <a:pt x="192662" y="235528"/>
                  </a:cubicBezTo>
                  <a:cubicBezTo>
                    <a:pt x="212287" y="228930"/>
                    <a:pt x="229990" y="218151"/>
                    <a:pt x="244711" y="204254"/>
                  </a:cubicBezTo>
                  <a:cubicBezTo>
                    <a:pt x="260917" y="188953"/>
                    <a:pt x="273511" y="169871"/>
                    <a:pt x="281089" y="148430"/>
                  </a:cubicBezTo>
                  <a:lnTo>
                    <a:pt x="242921" y="134939"/>
                  </a:lnTo>
                  <a:cubicBezTo>
                    <a:pt x="238523" y="147383"/>
                    <a:pt x="231763" y="158705"/>
                    <a:pt x="223181" y="168370"/>
                  </a:cubicBezTo>
                  <a:lnTo>
                    <a:pt x="200570" y="130687"/>
                  </a:lnTo>
                  <a:cubicBezTo>
                    <a:pt x="205430" y="121956"/>
                    <a:pt x="208197" y="111903"/>
                    <a:pt x="208197" y="101203"/>
                  </a:cubicBezTo>
                  <a:cubicBezTo>
                    <a:pt x="208197" y="74764"/>
                    <a:pt x="191300" y="52272"/>
                    <a:pt x="167715" y="43937"/>
                  </a:cubicBezTo>
                  <a:close/>
                  <a:moveTo>
                    <a:pt x="146457" y="161917"/>
                  </a:moveTo>
                  <a:cubicBezTo>
                    <a:pt x="146795" y="161922"/>
                    <a:pt x="147134" y="161925"/>
                    <a:pt x="147474" y="161925"/>
                  </a:cubicBezTo>
                  <a:cubicBezTo>
                    <a:pt x="147815" y="161925"/>
                    <a:pt x="148156" y="161922"/>
                    <a:pt x="148495" y="161916"/>
                  </a:cubicBezTo>
                  <a:lnTo>
                    <a:pt x="171122" y="199628"/>
                  </a:lnTo>
                  <a:cubicBezTo>
                    <a:pt x="163534" y="201444"/>
                    <a:pt x="155614" y="202406"/>
                    <a:pt x="147472" y="202406"/>
                  </a:cubicBezTo>
                  <a:cubicBezTo>
                    <a:pt x="139332" y="202406"/>
                    <a:pt x="131415" y="201445"/>
                    <a:pt x="123829" y="199629"/>
                  </a:cubicBezTo>
                  <a:lnTo>
                    <a:pt x="146457" y="161917"/>
                  </a:lnTo>
                  <a:close/>
                  <a:moveTo>
                    <a:pt x="147474" y="80962"/>
                  </a:moveTo>
                  <a:cubicBezTo>
                    <a:pt x="136296" y="80962"/>
                    <a:pt x="127234" y="90025"/>
                    <a:pt x="127234" y="101203"/>
                  </a:cubicBezTo>
                  <a:cubicBezTo>
                    <a:pt x="127234" y="112382"/>
                    <a:pt x="136296" y="121444"/>
                    <a:pt x="147474" y="121444"/>
                  </a:cubicBezTo>
                  <a:cubicBezTo>
                    <a:pt x="158653" y="121444"/>
                    <a:pt x="167715" y="112382"/>
                    <a:pt x="167715" y="101203"/>
                  </a:cubicBezTo>
                  <a:cubicBezTo>
                    <a:pt x="167715" y="90025"/>
                    <a:pt x="158653" y="80962"/>
                    <a:pt x="147474" y="80962"/>
                  </a:cubicBez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95078" y="963502"/>
              <a:ext cx="81074" cy="84248"/>
            </a:xfrm>
            <a:custGeom>
              <a:avLst/>
              <a:gdLst/>
              <a:ahLst/>
              <a:cxnLst/>
              <a:rect l="l" t="t" r="r" b="b"/>
              <a:pathLst>
                <a:path w="81074" h="84248">
                  <a:moveTo>
                    <a:pt x="29005" y="79627"/>
                  </a:moveTo>
                  <a:lnTo>
                    <a:pt x="0" y="31288"/>
                  </a:lnTo>
                  <a:cubicBezTo>
                    <a:pt x="19144" y="23789"/>
                    <a:pt x="36700" y="13146"/>
                    <a:pt x="52041" y="0"/>
                  </a:cubicBezTo>
                  <a:lnTo>
                    <a:pt x="81074" y="48387"/>
                  </a:lnTo>
                  <a:lnTo>
                    <a:pt x="67183" y="84248"/>
                  </a:lnTo>
                  <a:lnTo>
                    <a:pt x="29005" y="79627"/>
                  </a:ln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27760" y="83248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GROUP MEETING · SYSTEMS RESEARCH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170" y="1750695"/>
            <a:ext cx="4981565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从 Lumina 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455" y="2511742"/>
            <a:ext cx="5037851" cy="1188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4DA3FF"/>
                </a:solidFill>
                <a:latin typeface="Georgia"/>
                <a:ea typeface="Microsoft YaHei"/>
                <a:cs typeface="Georgia"/>
              </a:rPr>
              <a:t>PyTorchSim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085" y="3504248"/>
            <a:ext cx="38230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如何把昂贵的硬件 DSE 推进为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275" y="3852862"/>
            <a:ext cx="68717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可验证的 compiler–accelerator co-design</a:t>
            </a:r>
          </a:p>
        </p:txBody>
      </p:sp>
      <p:sp>
        <p:nvSpPr>
          <p:cNvPr id="19" name="Line 19"/>
          <p:cNvSpPr/>
          <p:nvPr/>
        </p:nvSpPr>
        <p:spPr>
          <a:xfrm>
            <a:off x="704850" y="4810125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19050">
            <a:solidFill>
              <a:srgbClr val="2A3A52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87705" y="5073968"/>
            <a:ext cx="48648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Lumina · A3C3 · 固定拓扑 · TOGSim · 下一步实验设计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562" y="5688806"/>
            <a:ext cx="36186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2026-09-12 / PyTorchSim research discussion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01 · WHY THIS QUESTION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13435"/>
            <a:ext cx="95917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我们真正缺的不是更多配置，而是更聪明的实验闭环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4730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PyTorchSim 已经能把 PyTorch 模型送进 MLIR、TOG 与周期级模拟器，但全量探索的代价很高。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2000250"/>
            <a:ext cx="3143250" cy="2952750"/>
          </a:xfrm>
          <a:prstGeom prst="roundRect">
            <a:avLst>
              <a:gd name="adj" fmla="val 4516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803672" y="2266950"/>
            <a:ext cx="316706" cy="361950"/>
            <a:chOff x="803672" y="2266950"/>
            <a:chExt cx="316706" cy="361950"/>
          </a:xfrm>
        </p:grpSpPr>
        <p:sp>
          <p:nvSpPr>
            <p:cNvPr id="7" name="Freeform 7"/>
            <p:cNvSpPr/>
            <p:nvPr/>
          </p:nvSpPr>
          <p:spPr>
            <a:xfrm>
              <a:off x="803672" y="2266950"/>
              <a:ext cx="316706" cy="180975"/>
            </a:xfrm>
            <a:custGeom>
              <a:avLst/>
              <a:gdLst/>
              <a:ahLst/>
              <a:cxnLst/>
              <a:rect l="l" t="t" r="r" b="b"/>
              <a:pathLst>
                <a:path w="316706" h="180975">
                  <a:moveTo>
                    <a:pt x="0" y="113109"/>
                  </a:moveTo>
                  <a:lnTo>
                    <a:pt x="0" y="67866"/>
                  </a:lnTo>
                  <a:lnTo>
                    <a:pt x="158353" y="0"/>
                  </a:lnTo>
                  <a:lnTo>
                    <a:pt x="316706" y="67866"/>
                  </a:lnTo>
                  <a:lnTo>
                    <a:pt x="316706" y="113109"/>
                  </a:lnTo>
                  <a:lnTo>
                    <a:pt x="158353" y="180975"/>
                  </a:lnTo>
                  <a:lnTo>
                    <a:pt x="0" y="113109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03672" y="2515791"/>
              <a:ext cx="316706" cy="113109"/>
            </a:xfrm>
            <a:custGeom>
              <a:avLst/>
              <a:gdLst/>
              <a:ahLst/>
              <a:cxnLst/>
              <a:rect l="l" t="t" r="r" b="b"/>
              <a:pathLst>
                <a:path w="316706" h="113109">
                  <a:moveTo>
                    <a:pt x="158353" y="113109"/>
                  </a:moveTo>
                  <a:lnTo>
                    <a:pt x="0" y="45244"/>
                  </a:lnTo>
                  <a:lnTo>
                    <a:pt x="0" y="0"/>
                  </a:lnTo>
                  <a:lnTo>
                    <a:pt x="158353" y="67866"/>
                  </a:lnTo>
                  <a:lnTo>
                    <a:pt x="316706" y="0"/>
                  </a:lnTo>
                  <a:lnTo>
                    <a:pt x="316706" y="45244"/>
                  </a:lnTo>
                  <a:lnTo>
                    <a:pt x="158353" y="113109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03672" y="2425303"/>
              <a:ext cx="316706" cy="113109"/>
            </a:xfrm>
            <a:custGeom>
              <a:avLst/>
              <a:gdLst/>
              <a:ahLst/>
              <a:cxnLst/>
              <a:rect l="l" t="t" r="r" b="b"/>
              <a:pathLst>
                <a:path w="316706" h="113109">
                  <a:moveTo>
                    <a:pt x="0" y="45244"/>
                  </a:moveTo>
                  <a:lnTo>
                    <a:pt x="158353" y="113109"/>
                  </a:lnTo>
                  <a:lnTo>
                    <a:pt x="316706" y="45244"/>
                  </a:lnTo>
                  <a:lnTo>
                    <a:pt x="316706" y="0"/>
                  </a:lnTo>
                  <a:lnTo>
                    <a:pt x="158353" y="67866"/>
                  </a:lnTo>
                  <a:lnTo>
                    <a:pt x="0" y="0"/>
                  </a:lnTo>
                  <a:lnTo>
                    <a:pt x="0" y="45244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758190" y="28346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设计空间爆炸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858" y="3291364"/>
            <a:ext cx="22203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硬件参数、tile、fusion、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858" y="3558064"/>
            <a:ext cx="23600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dataflow、DMA 彼此耦合。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810" y="41567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不是一个平坦的网格。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952875" y="2000250"/>
            <a:ext cx="3143250" cy="2952750"/>
          </a:xfrm>
          <a:prstGeom prst="roundRect">
            <a:avLst>
              <a:gd name="adj" fmla="val 4516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245769" y="2266950"/>
            <a:ext cx="271462" cy="361950"/>
          </a:xfrm>
          <a:custGeom>
            <a:avLst/>
            <a:gdLst/>
            <a:ahLst/>
            <a:cxnLst/>
            <a:rect l="l" t="t" r="r" b="b"/>
            <a:pathLst>
              <a:path w="271462" h="361950">
                <a:moveTo>
                  <a:pt x="158353" y="158353"/>
                </a:moveTo>
                <a:lnTo>
                  <a:pt x="180975" y="0"/>
                </a:lnTo>
                <a:lnTo>
                  <a:pt x="135731" y="0"/>
                </a:lnTo>
                <a:lnTo>
                  <a:pt x="0" y="158353"/>
                </a:lnTo>
                <a:lnTo>
                  <a:pt x="0" y="203597"/>
                </a:lnTo>
                <a:lnTo>
                  <a:pt x="113109" y="203597"/>
                </a:lnTo>
                <a:lnTo>
                  <a:pt x="90488" y="361950"/>
                </a:lnTo>
                <a:lnTo>
                  <a:pt x="135731" y="361950"/>
                </a:lnTo>
                <a:lnTo>
                  <a:pt x="271462" y="203597"/>
                </a:lnTo>
                <a:lnTo>
                  <a:pt x="271462" y="158353"/>
                </a:lnTo>
                <a:lnTo>
                  <a:pt x="158353" y="158353"/>
                </a:lnTo>
                <a:close/>
              </a:path>
            </a:pathLst>
          </a:custGeom>
          <a:solidFill>
            <a:srgbClr val="FFB45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177665" y="28346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模拟成本很高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4332" y="329136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每个候选都可能触发编译、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84332" y="3558064"/>
            <a:ext cx="18759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TOG 生成和 TOGSim。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85285" y="4156710"/>
            <a:ext cx="3053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不能把 simulator 当作黑盒网格搜索。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372350" y="2000250"/>
            <a:ext cx="4286250" cy="2952750"/>
          </a:xfrm>
          <a:prstGeom prst="roundRect">
            <a:avLst>
              <a:gd name="adj" fmla="val 4516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7672983" y="2266950"/>
            <a:ext cx="294084" cy="361950"/>
          </a:xfrm>
          <a:custGeom>
            <a:avLst/>
            <a:gdLst/>
            <a:ahLst/>
            <a:cxnLst/>
            <a:rect l="l" t="t" r="r" b="b"/>
            <a:pathLst>
              <a:path w="294084" h="361950">
                <a:moveTo>
                  <a:pt x="79177" y="108404"/>
                </a:moveTo>
                <a:cubicBezTo>
                  <a:pt x="99151" y="99677"/>
                  <a:pt x="113109" y="79746"/>
                  <a:pt x="113109" y="56555"/>
                </a:cubicBezTo>
                <a:cubicBezTo>
                  <a:pt x="113109" y="25320"/>
                  <a:pt x="87789" y="0"/>
                  <a:pt x="56555" y="0"/>
                </a:cubicBezTo>
                <a:cubicBezTo>
                  <a:pt x="25320" y="0"/>
                  <a:pt x="0" y="25320"/>
                  <a:pt x="0" y="56555"/>
                </a:cubicBezTo>
                <a:cubicBezTo>
                  <a:pt x="0" y="79746"/>
                  <a:pt x="13959" y="99677"/>
                  <a:pt x="33933" y="108404"/>
                </a:cubicBezTo>
                <a:lnTo>
                  <a:pt x="33933" y="253546"/>
                </a:lnTo>
                <a:cubicBezTo>
                  <a:pt x="13959" y="262273"/>
                  <a:pt x="0" y="282203"/>
                  <a:pt x="0" y="305395"/>
                </a:cubicBezTo>
                <a:cubicBezTo>
                  <a:pt x="0" y="336629"/>
                  <a:pt x="25320" y="361950"/>
                  <a:pt x="56555" y="361950"/>
                </a:cubicBezTo>
                <a:cubicBezTo>
                  <a:pt x="87789" y="361950"/>
                  <a:pt x="113109" y="336629"/>
                  <a:pt x="113109" y="305395"/>
                </a:cubicBezTo>
                <a:cubicBezTo>
                  <a:pt x="113109" y="282203"/>
                  <a:pt x="99151" y="262273"/>
                  <a:pt x="79177" y="253546"/>
                </a:cubicBezTo>
                <a:lnTo>
                  <a:pt x="79177" y="203597"/>
                </a:lnTo>
                <a:lnTo>
                  <a:pt x="260152" y="203597"/>
                </a:lnTo>
                <a:lnTo>
                  <a:pt x="260152" y="108404"/>
                </a:lnTo>
                <a:cubicBezTo>
                  <a:pt x="280127" y="99677"/>
                  <a:pt x="294084" y="79746"/>
                  <a:pt x="294084" y="56555"/>
                </a:cubicBezTo>
                <a:cubicBezTo>
                  <a:pt x="294084" y="25320"/>
                  <a:pt x="268764" y="0"/>
                  <a:pt x="237530" y="0"/>
                </a:cubicBezTo>
                <a:cubicBezTo>
                  <a:pt x="206296" y="0"/>
                  <a:pt x="180975" y="25320"/>
                  <a:pt x="180975" y="56555"/>
                </a:cubicBezTo>
                <a:cubicBezTo>
                  <a:pt x="180975" y="79746"/>
                  <a:pt x="194933" y="99677"/>
                  <a:pt x="214908" y="108404"/>
                </a:cubicBezTo>
                <a:lnTo>
                  <a:pt x="214908" y="158353"/>
                </a:lnTo>
                <a:lnTo>
                  <a:pt x="79177" y="158353"/>
                </a:lnTo>
                <a:lnTo>
                  <a:pt x="79177" y="108404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616190" y="28346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真正要解释的是交互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2858" y="3291364"/>
            <a:ext cx="28442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相同硬件下，mapping 是否不同？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22858" y="3558064"/>
            <a:ext cx="29000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相同 mapping 下，硬件是否改变？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23810" y="4156710"/>
            <a:ext cx="30712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我们需要的是可测量的 HW × SW 关系。</a:t>
            </a:r>
          </a:p>
        </p:txBody>
      </p:sp>
      <p:sp>
        <p:nvSpPr>
          <p:cNvPr id="27" name="Line 27"/>
          <p:cNvSpPr/>
          <p:nvPr/>
        </p:nvSpPr>
        <p:spPr>
          <a:xfrm>
            <a:off x="533400" y="5619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10540" y="58064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DA3FF"/>
                </a:solidFill>
                <a:latin typeface="Georgia"/>
                <a:ea typeface="Microsoft YaHei"/>
                <a:cs typeface="Georgia"/>
              </a:rPr>
              <a:t>问题转化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88845" y="5822632"/>
            <a:ext cx="64038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如何用少量 measured runs，找出最值得继续模拟的组合？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02 · LUMINA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717452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Lumina：用瓶颈分析决定下一次模拟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8322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它的核心不是发明一个新的硬件，而是让每一次昂贵的 simulation 都带来下一步的方向。</a:t>
            </a:r>
          </a:p>
        </p:txBody>
      </p:sp>
      <p:sp>
        <p:nvSpPr>
          <p:cNvPr id="6" name="Ellipse 6"/>
          <p:cNvSpPr/>
          <p:nvPr/>
        </p:nvSpPr>
        <p:spPr>
          <a:xfrm>
            <a:off x="5029200" y="2667000"/>
            <a:ext cx="2133600" cy="2133600"/>
          </a:xfrm>
          <a:prstGeom prst="ellipse">
            <a:avLst/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5734050" y="3333750"/>
            <a:ext cx="419100" cy="419100"/>
            <a:chOff x="5734050" y="3333750"/>
            <a:chExt cx="419100" cy="419100"/>
          </a:xfrm>
        </p:grpSpPr>
        <p:sp>
          <p:nvSpPr>
            <p:cNvPr id="7" name="Freeform 7"/>
            <p:cNvSpPr/>
            <p:nvPr/>
          </p:nvSpPr>
          <p:spPr>
            <a:xfrm>
              <a:off x="5917406" y="3517106"/>
              <a:ext cx="52388" cy="52388"/>
            </a:xfrm>
            <a:custGeom>
              <a:avLst/>
              <a:gdLst/>
              <a:ahLst/>
              <a:cxnLst/>
              <a:rect l="l" t="t" r="r" b="b"/>
              <a:pathLst>
                <a:path w="52388" h="52388">
                  <a:moveTo>
                    <a:pt x="26194" y="52388"/>
                  </a:moveTo>
                  <a:cubicBezTo>
                    <a:pt x="40660" y="52388"/>
                    <a:pt x="52388" y="40660"/>
                    <a:pt x="52388" y="26194"/>
                  </a:cubicBezTo>
                  <a:cubicBezTo>
                    <a:pt x="52388" y="11727"/>
                    <a:pt x="40660" y="0"/>
                    <a:pt x="26194" y="0"/>
                  </a:cubicBezTo>
                  <a:cubicBezTo>
                    <a:pt x="11727" y="0"/>
                    <a:pt x="0" y="11727"/>
                    <a:pt x="0" y="26194"/>
                  </a:cubicBezTo>
                  <a:cubicBezTo>
                    <a:pt x="0" y="40660"/>
                    <a:pt x="11727" y="52388"/>
                    <a:pt x="26194" y="52388"/>
                  </a:cubicBez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34050" y="33337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419100" y="209550"/>
                  </a:moveTo>
                  <a:cubicBezTo>
                    <a:pt x="419100" y="325282"/>
                    <a:pt x="325282" y="419100"/>
                    <a:pt x="209550" y="419100"/>
                  </a:cubicBezTo>
                  <a:cubicBezTo>
                    <a:pt x="93819" y="419100"/>
                    <a:pt x="0" y="325282"/>
                    <a:pt x="0" y="209550"/>
                  </a:cubicBezTo>
                  <a:cubicBezTo>
                    <a:pt x="0" y="93819"/>
                    <a:pt x="93819" y="0"/>
                    <a:pt x="209550" y="0"/>
                  </a:cubicBezTo>
                  <a:cubicBezTo>
                    <a:pt x="325282" y="0"/>
                    <a:pt x="419100" y="93819"/>
                    <a:pt x="419100" y="209550"/>
                  </a:cubicBezTo>
                  <a:close/>
                  <a:moveTo>
                    <a:pt x="157162" y="157162"/>
                  </a:moveTo>
                  <a:lnTo>
                    <a:pt x="104775" y="288131"/>
                  </a:lnTo>
                  <a:lnTo>
                    <a:pt x="130969" y="314325"/>
                  </a:lnTo>
                  <a:lnTo>
                    <a:pt x="261938" y="261938"/>
                  </a:lnTo>
                  <a:lnTo>
                    <a:pt x="314325" y="130969"/>
                  </a:lnTo>
                  <a:lnTo>
                    <a:pt x="288131" y="104775"/>
                  </a:lnTo>
                  <a:lnTo>
                    <a:pt x="157162" y="157162"/>
                  </a:ln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431360" y="3920490"/>
            <a:ext cx="1329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Simulator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6045" y="4279106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PPA · critical path · trace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43000" y="2152650"/>
            <a:ext cx="2190750" cy="990600"/>
          </a:xfrm>
          <a:prstGeom prst="roundRect">
            <a:avLst>
              <a:gd name="adj" fmla="val 11538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381125" y="2396584"/>
            <a:ext cx="285750" cy="255082"/>
            <a:chOff x="1381125" y="2396584"/>
            <a:chExt cx="285750" cy="255082"/>
          </a:xfrm>
        </p:grpSpPr>
        <p:sp>
          <p:nvSpPr>
            <p:cNvPr id="13" name="Freeform 13"/>
            <p:cNvSpPr/>
            <p:nvPr/>
          </p:nvSpPr>
          <p:spPr>
            <a:xfrm>
              <a:off x="1488461" y="2396584"/>
              <a:ext cx="71079" cy="255082"/>
            </a:xfrm>
            <a:custGeom>
              <a:avLst/>
              <a:gdLst/>
              <a:ahLst/>
              <a:cxnLst/>
              <a:rect l="l" t="t" r="r" b="b"/>
              <a:pathLst>
                <a:path w="71079" h="255082">
                  <a:moveTo>
                    <a:pt x="35719" y="0"/>
                  </a:moveTo>
                  <a:lnTo>
                    <a:pt x="0" y="250032"/>
                  </a:lnTo>
                  <a:lnTo>
                    <a:pt x="35360" y="255082"/>
                  </a:lnTo>
                  <a:lnTo>
                    <a:pt x="71079" y="5051"/>
                  </a:lnTo>
                  <a:lnTo>
                    <a:pt x="35719" y="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579110" y="2461617"/>
              <a:ext cx="87765" cy="125016"/>
            </a:xfrm>
            <a:custGeom>
              <a:avLst/>
              <a:gdLst/>
              <a:ahLst/>
              <a:cxnLst/>
              <a:rect l="l" t="t" r="r" b="b"/>
              <a:pathLst>
                <a:path w="87765" h="125016">
                  <a:moveTo>
                    <a:pt x="25257" y="125016"/>
                  </a:moveTo>
                  <a:lnTo>
                    <a:pt x="0" y="99759"/>
                  </a:lnTo>
                  <a:lnTo>
                    <a:pt x="37251" y="62508"/>
                  </a:lnTo>
                  <a:lnTo>
                    <a:pt x="0" y="25257"/>
                  </a:lnTo>
                  <a:lnTo>
                    <a:pt x="25257" y="0"/>
                  </a:lnTo>
                  <a:lnTo>
                    <a:pt x="87765" y="62508"/>
                  </a:lnTo>
                  <a:lnTo>
                    <a:pt x="25257" y="125016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81125" y="2461617"/>
              <a:ext cx="87765" cy="125016"/>
            </a:xfrm>
            <a:custGeom>
              <a:avLst/>
              <a:gdLst/>
              <a:ahLst/>
              <a:cxnLst/>
              <a:rect l="l" t="t" r="r" b="b"/>
              <a:pathLst>
                <a:path w="87765" h="125016">
                  <a:moveTo>
                    <a:pt x="50514" y="62508"/>
                  </a:moveTo>
                  <a:lnTo>
                    <a:pt x="87765" y="99759"/>
                  </a:lnTo>
                  <a:lnTo>
                    <a:pt x="62508" y="125016"/>
                  </a:lnTo>
                  <a:lnTo>
                    <a:pt x="0" y="62508"/>
                  </a:lnTo>
                  <a:lnTo>
                    <a:pt x="62508" y="0"/>
                  </a:lnTo>
                  <a:lnTo>
                    <a:pt x="87765" y="25257"/>
                  </a:lnTo>
                  <a:lnTo>
                    <a:pt x="50514" y="62508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788795" y="2450782"/>
            <a:ext cx="7250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QualE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6838" y="2802731"/>
            <a:ext cx="1367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源码 → 结构因果图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58250" y="2152650"/>
            <a:ext cx="2190750" cy="990600"/>
          </a:xfrm>
          <a:prstGeom prst="roundRect">
            <a:avLst>
              <a:gd name="adj" fmla="val 11538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9114234" y="2399109"/>
            <a:ext cx="250032" cy="250031"/>
            <a:chOff x="9114234" y="2399109"/>
            <a:chExt cx="250032" cy="250031"/>
          </a:xfrm>
        </p:grpSpPr>
        <p:sp>
          <p:nvSpPr>
            <p:cNvPr id="20" name="Freeform 20"/>
            <p:cNvSpPr/>
            <p:nvPr/>
          </p:nvSpPr>
          <p:spPr>
            <a:xfrm>
              <a:off x="9114234" y="2399109"/>
              <a:ext cx="250031" cy="250031"/>
            </a:xfrm>
            <a:custGeom>
              <a:avLst/>
              <a:gdLst/>
              <a:ahLst/>
              <a:cxnLst/>
              <a:rect l="l" t="t" r="r" b="b"/>
              <a:pathLst>
                <a:path w="250031" h="250031">
                  <a:moveTo>
                    <a:pt x="0" y="0"/>
                  </a:moveTo>
                  <a:lnTo>
                    <a:pt x="0" y="250031"/>
                  </a:lnTo>
                  <a:lnTo>
                    <a:pt x="250031" y="250031"/>
                  </a:lnTo>
                  <a:lnTo>
                    <a:pt x="250031" y="214312"/>
                  </a:lnTo>
                  <a:lnTo>
                    <a:pt x="35719" y="214312"/>
                  </a:lnTo>
                  <a:lnTo>
                    <a:pt x="357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85672" y="2434828"/>
              <a:ext cx="178594" cy="142875"/>
            </a:xfrm>
            <a:custGeom>
              <a:avLst/>
              <a:gdLst/>
              <a:ahLst/>
              <a:cxnLst/>
              <a:rect l="l" t="t" r="r" b="b"/>
              <a:pathLst>
                <a:path w="178594" h="142875">
                  <a:moveTo>
                    <a:pt x="0" y="71438"/>
                  </a:moveTo>
                  <a:lnTo>
                    <a:pt x="35719" y="35719"/>
                  </a:lnTo>
                  <a:lnTo>
                    <a:pt x="89297" y="89297"/>
                  </a:lnTo>
                  <a:lnTo>
                    <a:pt x="178594" y="0"/>
                  </a:lnTo>
                  <a:lnTo>
                    <a:pt x="178594" y="142875"/>
                  </a:lnTo>
                  <a:lnTo>
                    <a:pt x="0" y="142875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504045" y="2450782"/>
            <a:ext cx="7883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QuanE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82088" y="2802731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微扰 → 影响强度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47750" y="4800600"/>
            <a:ext cx="2305050" cy="990600"/>
          </a:xfrm>
          <a:prstGeom prst="roundRect">
            <a:avLst>
              <a:gd name="adj" fmla="val 11538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1295400" y="5029200"/>
            <a:ext cx="285750" cy="285750"/>
            <a:chOff x="1295400" y="5029200"/>
            <a:chExt cx="285750" cy="285750"/>
          </a:xfrm>
        </p:grpSpPr>
        <p:sp>
          <p:nvSpPr>
            <p:cNvPr id="26" name="Freeform 26"/>
            <p:cNvSpPr/>
            <p:nvPr/>
          </p:nvSpPr>
          <p:spPr>
            <a:xfrm>
              <a:off x="1366838" y="51006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71438" y="0"/>
                  </a:moveTo>
                  <a:cubicBezTo>
                    <a:pt x="31984" y="0"/>
                    <a:pt x="0" y="31984"/>
                    <a:pt x="0" y="71438"/>
                  </a:cubicBezTo>
                  <a:cubicBezTo>
                    <a:pt x="0" y="110891"/>
                    <a:pt x="31984" y="142875"/>
                    <a:pt x="71438" y="142875"/>
                  </a:cubicBezTo>
                  <a:cubicBezTo>
                    <a:pt x="110891" y="142875"/>
                    <a:pt x="142875" y="11089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lose/>
                  <a:moveTo>
                    <a:pt x="35719" y="71438"/>
                  </a:moveTo>
                  <a:cubicBezTo>
                    <a:pt x="35719" y="51711"/>
                    <a:pt x="51711" y="35719"/>
                    <a:pt x="71438" y="35719"/>
                  </a:cubicBezTo>
                  <a:cubicBezTo>
                    <a:pt x="91164" y="35719"/>
                    <a:pt x="107156" y="51711"/>
                    <a:pt x="107156" y="71438"/>
                  </a:cubicBezTo>
                  <a:cubicBezTo>
                    <a:pt x="107156" y="91164"/>
                    <a:pt x="91164" y="107156"/>
                    <a:pt x="71438" y="107156"/>
                  </a:cubicBezTo>
                  <a:cubicBezTo>
                    <a:pt x="51711" y="107156"/>
                    <a:pt x="35719" y="91164"/>
                    <a:pt x="35719" y="71438"/>
                  </a:cubicBezTo>
                  <a:close/>
                </a:path>
              </a:pathLst>
            </a:custGeom>
            <a:solidFill>
              <a:srgbClr val="FFB454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95400" y="50292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lose/>
                  <a:moveTo>
                    <a:pt x="35719" y="142875"/>
                  </a:moveTo>
                  <a:cubicBezTo>
                    <a:pt x="35719" y="83694"/>
                    <a:pt x="83694" y="35719"/>
                    <a:pt x="142875" y="35719"/>
                  </a:cubicBezTo>
                  <a:cubicBezTo>
                    <a:pt x="202056" y="35719"/>
                    <a:pt x="250031" y="83694"/>
                    <a:pt x="250031" y="142875"/>
                  </a:cubicBezTo>
                  <a:cubicBezTo>
                    <a:pt x="250031" y="202056"/>
                    <a:pt x="202056" y="250031"/>
                    <a:pt x="142875" y="250031"/>
                  </a:cubicBezTo>
                  <a:cubicBezTo>
                    <a:pt x="83694" y="250031"/>
                    <a:pt x="35719" y="202056"/>
                    <a:pt x="35719" y="142875"/>
                  </a:cubicBezTo>
                  <a:close/>
                </a:path>
              </a:pathLst>
            </a:custGeom>
            <a:solidFill>
              <a:srgbClr val="FFB454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693545" y="50987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1112" y="5450681"/>
            <a:ext cx="12033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瓶颈 → 受限策略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839200" y="4800600"/>
            <a:ext cx="2305050" cy="990600"/>
          </a:xfrm>
          <a:prstGeom prst="roundRect">
            <a:avLst>
              <a:gd name="adj" fmla="val 11538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9086850" y="5064919"/>
            <a:ext cx="285750" cy="214312"/>
          </a:xfrm>
          <a:custGeom>
            <a:avLst/>
            <a:gdLst/>
            <a:ahLst/>
            <a:cxnLst/>
            <a:rect l="l" t="t" r="r" b="b"/>
            <a:pathLst>
              <a:path w="285750" h="214312">
                <a:moveTo>
                  <a:pt x="142875" y="71438"/>
                </a:moveTo>
                <a:lnTo>
                  <a:pt x="142875" y="0"/>
                </a:lnTo>
                <a:lnTo>
                  <a:pt x="178594" y="0"/>
                </a:lnTo>
                <a:lnTo>
                  <a:pt x="285750" y="107156"/>
                </a:lnTo>
                <a:lnTo>
                  <a:pt x="178594" y="214312"/>
                </a:lnTo>
                <a:lnTo>
                  <a:pt x="142875" y="214312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71438"/>
                </a:lnTo>
                <a:lnTo>
                  <a:pt x="142875" y="71438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484995" y="50987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EE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72562" y="5450681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候选 → 执行 → 记录</a:t>
            </a:r>
          </a:p>
        </p:txBody>
      </p:sp>
      <p:sp>
        <p:nvSpPr>
          <p:cNvPr id="35" name="Freeform 35"/>
          <p:cNvSpPr/>
          <p:nvPr/>
        </p:nvSpPr>
        <p:spPr>
          <a:xfrm>
            <a:off x="3333750" y="264795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0" y="0"/>
                </a:moveTo>
                <a:lnTo>
                  <a:pt x="1695450" y="685800"/>
                </a:lnTo>
              </a:path>
            </a:pathLst>
          </a:custGeom>
          <a:noFill/>
          <a:ln w="19050">
            <a:solidFill>
              <a:srgbClr val="4DA3FF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7162800" y="264795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69545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A78BFA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3352800" y="4171950"/>
            <a:ext cx="1676400" cy="1114425"/>
          </a:xfrm>
          <a:custGeom>
            <a:avLst/>
            <a:gdLst/>
            <a:ahLst/>
            <a:cxnLst/>
            <a:rect l="l" t="t" r="r" b="b"/>
            <a:pathLst>
              <a:path w="1676400" h="1114425">
                <a:moveTo>
                  <a:pt x="0" y="1114425"/>
                </a:moveTo>
                <a:lnTo>
                  <a:pt x="1676400" y="0"/>
                </a:lnTo>
              </a:path>
            </a:pathLst>
          </a:custGeom>
          <a:noFill/>
          <a:ln w="19050">
            <a:solidFill>
              <a:srgbClr val="FFB454"/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7162800" y="4171950"/>
            <a:ext cx="1676400" cy="1114425"/>
          </a:xfrm>
          <a:custGeom>
            <a:avLst/>
            <a:gdLst/>
            <a:ahLst/>
            <a:cxnLst/>
            <a:rect l="l" t="t" r="r" b="b"/>
            <a:pathLst>
              <a:path w="1676400" h="1114425">
                <a:moveTo>
                  <a:pt x="1676400" y="11144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6D6B5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2000250" y="3143250"/>
            <a:ext cx="4095750" cy="3048000"/>
          </a:xfrm>
          <a:custGeom>
            <a:avLst/>
            <a:gdLst/>
            <a:ahLst/>
            <a:cxnLst/>
            <a:rect l="l" t="t" r="r" b="b"/>
            <a:pathLst>
              <a:path w="4095750" h="3048000">
                <a:moveTo>
                  <a:pt x="4095750" y="1657350"/>
                </a:moveTo>
                <a:cubicBezTo>
                  <a:pt x="2190750" y="3048000"/>
                  <a:pt x="381000" y="2667000"/>
                  <a:pt x="0" y="0"/>
                </a:cubicBezTo>
              </a:path>
            </a:pathLst>
          </a:custGeom>
          <a:noFill/>
          <a:ln w="19050">
            <a:solidFill>
              <a:srgbClr val="2A3A52"/>
            </a:solidFill>
            <a:custDash>
              <a:ds d="400000" sp="400000"/>
            </a:custDash>
          </a:ln>
        </p:spPr>
      </p:sp>
      <p:sp>
        <p:nvSpPr>
          <p:cNvPr id="40" name="TextBox 40"/>
          <p:cNvSpPr txBox="1"/>
          <p:nvPr/>
        </p:nvSpPr>
        <p:spPr>
          <a:xfrm>
            <a:off x="4177665" y="6106478"/>
            <a:ext cx="31857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Trajectory Memory → refine the next move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897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02.1 · QUALITATIVE ENGINE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835457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QualE：先从 simulator 源码建立因果边界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9745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先问“谁可能影响谁”，再决定“测哪些组合”。这一步是在搜索前做结构化剪枝。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152650"/>
            <a:ext cx="2933700" cy="2781300"/>
          </a:xfrm>
          <a:prstGeom prst="roundRect">
            <a:avLst>
              <a:gd name="adj" fmla="val 4795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857250" y="2477895"/>
            <a:ext cx="381000" cy="340110"/>
            <a:chOff x="857250" y="2477895"/>
            <a:chExt cx="381000" cy="340110"/>
          </a:xfrm>
        </p:grpSpPr>
        <p:sp>
          <p:nvSpPr>
            <p:cNvPr id="7" name="Freeform 7"/>
            <p:cNvSpPr/>
            <p:nvPr/>
          </p:nvSpPr>
          <p:spPr>
            <a:xfrm>
              <a:off x="1000364" y="2477895"/>
              <a:ext cx="94771" cy="340110"/>
            </a:xfrm>
            <a:custGeom>
              <a:avLst/>
              <a:gdLst/>
              <a:ahLst/>
              <a:cxnLst/>
              <a:rect l="l" t="t" r="r" b="b"/>
              <a:pathLst>
                <a:path w="94771" h="340110">
                  <a:moveTo>
                    <a:pt x="47625" y="0"/>
                  </a:moveTo>
                  <a:lnTo>
                    <a:pt x="0" y="333375"/>
                  </a:lnTo>
                  <a:lnTo>
                    <a:pt x="47146" y="340110"/>
                  </a:lnTo>
                  <a:lnTo>
                    <a:pt x="94771" y="673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21231" y="2564606"/>
              <a:ext cx="117019" cy="166688"/>
            </a:xfrm>
            <a:custGeom>
              <a:avLst/>
              <a:gdLst/>
              <a:ahLst/>
              <a:cxnLst/>
              <a:rect l="l" t="t" r="r" b="b"/>
              <a:pathLst>
                <a:path w="117019" h="166688">
                  <a:moveTo>
                    <a:pt x="33676" y="166688"/>
                  </a:moveTo>
                  <a:lnTo>
                    <a:pt x="0" y="133012"/>
                  </a:lnTo>
                  <a:lnTo>
                    <a:pt x="49668" y="83344"/>
                  </a:lnTo>
                  <a:lnTo>
                    <a:pt x="0" y="33676"/>
                  </a:lnTo>
                  <a:lnTo>
                    <a:pt x="33676" y="0"/>
                  </a:lnTo>
                  <a:lnTo>
                    <a:pt x="117019" y="83344"/>
                  </a:lnTo>
                  <a:lnTo>
                    <a:pt x="33676" y="166688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7250" y="2564606"/>
              <a:ext cx="117020" cy="166688"/>
            </a:xfrm>
            <a:custGeom>
              <a:avLst/>
              <a:gdLst/>
              <a:ahLst/>
              <a:cxnLst/>
              <a:rect l="l" t="t" r="r" b="b"/>
              <a:pathLst>
                <a:path w="117020" h="166688">
                  <a:moveTo>
                    <a:pt x="67352" y="83344"/>
                  </a:moveTo>
                  <a:lnTo>
                    <a:pt x="117020" y="133012"/>
                  </a:lnTo>
                  <a:lnTo>
                    <a:pt x="83344" y="166688"/>
                  </a:lnTo>
                  <a:lnTo>
                    <a:pt x="0" y="83344"/>
                  </a:lnTo>
                  <a:lnTo>
                    <a:pt x="83344" y="0"/>
                  </a:lnTo>
                  <a:lnTo>
                    <a:pt x="117020" y="33676"/>
                  </a:lnTo>
                  <a:lnTo>
                    <a:pt x="67352" y="83344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834390" y="3082290"/>
            <a:ext cx="2019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Simulator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" y="3566160"/>
            <a:ext cx="9944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core_count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010" y="3832860"/>
            <a:ext cx="1283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systolic_width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10" y="40995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memory_channels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43662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interconnect_links</a:t>
            </a:r>
          </a:p>
        </p:txBody>
      </p:sp>
      <p:sp>
        <p:nvSpPr>
          <p:cNvPr id="16" name="Freeform 16"/>
          <p:cNvSpPr/>
          <p:nvPr/>
        </p:nvSpPr>
        <p:spPr>
          <a:xfrm>
            <a:off x="3695700" y="3543300"/>
            <a:ext cx="1257300" cy="9525"/>
          </a:xfrm>
          <a:custGeom>
            <a:avLst/>
            <a:gdLst/>
            <a:ahLst/>
            <a:cxnLst/>
            <a:rect l="l" t="t" r="r" b="b"/>
            <a:pathLst>
              <a:path w="1257300" h="9525">
                <a:moveTo>
                  <a:pt x="0" y="0"/>
                </a:moveTo>
                <a:lnTo>
                  <a:pt x="12573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4800600" y="34575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010150" y="2152650"/>
            <a:ext cx="3314700" cy="2781300"/>
          </a:xfrm>
          <a:prstGeom prst="roundRect">
            <a:avLst>
              <a:gd name="adj" fmla="val 4795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5369719" y="2457450"/>
            <a:ext cx="309562" cy="381000"/>
          </a:xfrm>
          <a:custGeom>
            <a:avLst/>
            <a:gdLst/>
            <a:ahLst/>
            <a:cxnLst/>
            <a:rect l="l" t="t" r="r" b="b"/>
            <a:pathLst>
              <a:path w="309562" h="381000">
                <a:moveTo>
                  <a:pt x="83344" y="114109"/>
                </a:moveTo>
                <a:cubicBezTo>
                  <a:pt x="104369" y="104923"/>
                  <a:pt x="119062" y="83943"/>
                  <a:pt x="119062" y="59531"/>
                </a:cubicBezTo>
                <a:cubicBezTo>
                  <a:pt x="119062" y="26653"/>
                  <a:pt x="92409" y="0"/>
                  <a:pt x="59531" y="0"/>
                </a:cubicBezTo>
                <a:cubicBezTo>
                  <a:pt x="26653" y="0"/>
                  <a:pt x="0" y="26653"/>
                  <a:pt x="0" y="59531"/>
                </a:cubicBezTo>
                <a:cubicBezTo>
                  <a:pt x="0" y="83943"/>
                  <a:pt x="14694" y="104923"/>
                  <a:pt x="35719" y="114109"/>
                </a:cubicBezTo>
                <a:lnTo>
                  <a:pt x="35719" y="266890"/>
                </a:lnTo>
                <a:cubicBezTo>
                  <a:pt x="14694" y="276077"/>
                  <a:pt x="0" y="297056"/>
                  <a:pt x="0" y="321469"/>
                </a:cubicBezTo>
                <a:cubicBezTo>
                  <a:pt x="0" y="354347"/>
                  <a:pt x="26653" y="381000"/>
                  <a:pt x="59531" y="381000"/>
                </a:cubicBezTo>
                <a:cubicBezTo>
                  <a:pt x="92409" y="381000"/>
                  <a:pt x="119062" y="354347"/>
                  <a:pt x="119062" y="321469"/>
                </a:cubicBezTo>
                <a:cubicBezTo>
                  <a:pt x="119062" y="297056"/>
                  <a:pt x="104369" y="276077"/>
                  <a:pt x="83344" y="266890"/>
                </a:cubicBezTo>
                <a:lnTo>
                  <a:pt x="83344" y="214312"/>
                </a:lnTo>
                <a:lnTo>
                  <a:pt x="273844" y="214312"/>
                </a:lnTo>
                <a:lnTo>
                  <a:pt x="273844" y="114109"/>
                </a:lnTo>
                <a:cubicBezTo>
                  <a:pt x="294870" y="104923"/>
                  <a:pt x="309562" y="83943"/>
                  <a:pt x="309562" y="59531"/>
                </a:cubicBezTo>
                <a:cubicBezTo>
                  <a:pt x="309562" y="26653"/>
                  <a:pt x="282909" y="0"/>
                  <a:pt x="250031" y="0"/>
                </a:cubicBezTo>
                <a:cubicBezTo>
                  <a:pt x="217153" y="0"/>
                  <a:pt x="190500" y="26653"/>
                  <a:pt x="190500" y="59531"/>
                </a:cubicBezTo>
                <a:cubicBezTo>
                  <a:pt x="190500" y="83943"/>
                  <a:pt x="205192" y="104923"/>
                  <a:pt x="226219" y="114109"/>
                </a:cubicBezTo>
                <a:lnTo>
                  <a:pt x="226219" y="166688"/>
                </a:lnTo>
                <a:lnTo>
                  <a:pt x="83344" y="166688"/>
                </a:lnTo>
                <a:lnTo>
                  <a:pt x="83344" y="114109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11140" y="308229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Influence 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8760" y="3566160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vector throughput ← core, sublane, vector unit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8760" y="3851910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tensor unit ─────── no direct edge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8760" y="4137660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memory stall ← channels, latency, links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15350" y="3543300"/>
            <a:ext cx="1247775" cy="9525"/>
          </a:xfrm>
          <a:custGeom>
            <a:avLst/>
            <a:gdLst/>
            <a:ahLst/>
            <a:cxnLst/>
            <a:rect l="l" t="t" r="r" b="b"/>
            <a:pathLst>
              <a:path w="1247775" h="9525">
                <a:moveTo>
                  <a:pt x="0" y="0"/>
                </a:moveTo>
                <a:lnTo>
                  <a:pt x="1247775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9610725" y="34575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9829800" y="2152650"/>
            <a:ext cx="1790700" cy="2781300"/>
          </a:xfrm>
          <a:prstGeom prst="roundRect">
            <a:avLst>
              <a:gd name="adj" fmla="val 7447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10191750" y="2457450"/>
            <a:ext cx="381000" cy="381000"/>
            <a:chOff x="10191750" y="2457450"/>
            <a:chExt cx="381000" cy="381000"/>
          </a:xfrm>
        </p:grpSpPr>
        <p:sp>
          <p:nvSpPr>
            <p:cNvPr id="27" name="Freeform 27"/>
            <p:cNvSpPr/>
            <p:nvPr/>
          </p:nvSpPr>
          <p:spPr>
            <a:xfrm>
              <a:off x="10287000" y="25527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4"/>
                    <a:pt x="42645" y="190500"/>
                    <a:pt x="95250" y="190500"/>
                  </a:cubicBezTo>
                  <a:cubicBezTo>
                    <a:pt x="147854" y="190500"/>
                    <a:pt x="190500" y="147854"/>
                    <a:pt x="190500" y="95250"/>
                  </a:cubicBezTo>
                  <a:cubicBezTo>
                    <a:pt x="190500" y="42645"/>
                    <a:pt x="147854" y="0"/>
                    <a:pt x="95250" y="0"/>
                  </a:cubicBezTo>
                  <a:close/>
                  <a:moveTo>
                    <a:pt x="47625" y="95250"/>
                  </a:moveTo>
                  <a:cubicBezTo>
                    <a:pt x="47625" y="68947"/>
                    <a:pt x="68947" y="47625"/>
                    <a:pt x="95250" y="47625"/>
                  </a:cubicBezTo>
                  <a:cubicBezTo>
                    <a:pt x="121553" y="47625"/>
                    <a:pt x="142875" y="68947"/>
                    <a:pt x="142875" y="95250"/>
                  </a:cubicBezTo>
                  <a:cubicBezTo>
                    <a:pt x="142875" y="121553"/>
                    <a:pt x="121553" y="142875"/>
                    <a:pt x="95250" y="142875"/>
                  </a:cubicBezTo>
                  <a:cubicBezTo>
                    <a:pt x="68947" y="142875"/>
                    <a:pt x="47625" y="121553"/>
                    <a:pt x="47625" y="95250"/>
                  </a:cubicBez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191750" y="24574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lose/>
                  <a:moveTo>
                    <a:pt x="47625" y="190500"/>
                  </a:moveTo>
                  <a:cubicBezTo>
                    <a:pt x="47625" y="111592"/>
                    <a:pt x="111592" y="47625"/>
                    <a:pt x="190500" y="47625"/>
                  </a:cubicBezTo>
                  <a:cubicBezTo>
                    <a:pt x="269407" y="47625"/>
                    <a:pt x="333375" y="111592"/>
                    <a:pt x="333375" y="190500"/>
                  </a:cubicBezTo>
                  <a:cubicBezTo>
                    <a:pt x="333375" y="269407"/>
                    <a:pt x="269407" y="333375"/>
                    <a:pt x="190500" y="333375"/>
                  </a:cubicBezTo>
                  <a:cubicBezTo>
                    <a:pt x="111592" y="333375"/>
                    <a:pt x="47625" y="269407"/>
                    <a:pt x="47625" y="190500"/>
                  </a:cubicBez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168890" y="3082290"/>
            <a:ext cx="804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Prune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76510" y="35661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减少无关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76510" y="38233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参数组合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76510" y="40805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保留因果边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54864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00100" y="5715000"/>
            <a:ext cx="22808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迁移到 PyTorchSim：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34652" y="5723096"/>
            <a:ext cx="62382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把 compiler knob → MLIR/TOG 属性 → TOGSim 指标的关系画出来。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02.2 · QUANTITATIVE ENGINE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931609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QuanE：用小实验把“可能相关”变成“影响强度”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556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QualE 给出边界，QuanE 用局部 sensitivity 把下一步搜索初始化在更有希望的方向。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095500"/>
            <a:ext cx="3048000" cy="3143250"/>
          </a:xfrm>
          <a:prstGeom prst="roundRect">
            <a:avLst>
              <a:gd name="adj" fmla="val 4375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2012" y="245030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microbenchmark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0582" y="2943701"/>
            <a:ext cx="19146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只动一个旋钮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440" y="3425190"/>
            <a:ext cx="137331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DA3FF"/>
                </a:solidFill>
                <a:latin typeface="Consolas"/>
                <a:ea typeface="Microsoft YaHei"/>
                <a:cs typeface="Consolas"/>
              </a:rPr>
              <a:t>x₀ → x₀ + 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1060" y="396621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例如 core count ±1，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1060" y="4223385"/>
            <a:ext cx="21423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或者 memory channel +1。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3886200" y="3695700"/>
            <a:ext cx="1085850" cy="9525"/>
          </a:xfrm>
          <a:custGeom>
            <a:avLst/>
            <a:gdLst/>
            <a:ahLst/>
            <a:cxnLst/>
            <a:rect l="l" t="t" r="r" b="b"/>
            <a:pathLst>
              <a:path w="1085850" h="9525">
                <a:moveTo>
                  <a:pt x="0" y="0"/>
                </a:moveTo>
                <a:lnTo>
                  <a:pt x="10858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819650" y="36099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067300" y="2095500"/>
            <a:ext cx="3524250" cy="3143250"/>
          </a:xfrm>
          <a:prstGeom prst="roundRect">
            <a:avLst>
              <a:gd name="adj" fmla="val 4242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431631" y="2402681"/>
            <a:ext cx="300038" cy="300038"/>
            <a:chOff x="5431631" y="2402681"/>
            <a:chExt cx="300038" cy="300038"/>
          </a:xfrm>
        </p:grpSpPr>
        <p:sp>
          <p:nvSpPr>
            <p:cNvPr id="15" name="Freeform 15"/>
            <p:cNvSpPr/>
            <p:nvPr/>
          </p:nvSpPr>
          <p:spPr>
            <a:xfrm>
              <a:off x="5431631" y="2402681"/>
              <a:ext cx="300038" cy="300038"/>
            </a:xfrm>
            <a:custGeom>
              <a:avLst/>
              <a:gdLst/>
              <a:ahLst/>
              <a:cxnLst/>
              <a:rect l="l" t="t" r="r" b="b"/>
              <a:pathLst>
                <a:path w="300038" h="300038">
                  <a:moveTo>
                    <a:pt x="0" y="0"/>
                  </a:moveTo>
                  <a:lnTo>
                    <a:pt x="0" y="300038"/>
                  </a:lnTo>
                  <a:lnTo>
                    <a:pt x="300038" y="300038"/>
                  </a:lnTo>
                  <a:lnTo>
                    <a:pt x="300038" y="257175"/>
                  </a:lnTo>
                  <a:lnTo>
                    <a:pt x="42862" y="257175"/>
                  </a:lnTo>
                  <a:lnTo>
                    <a:pt x="42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517356" y="2445544"/>
              <a:ext cx="214312" cy="171450"/>
            </a:xfrm>
            <a:custGeom>
              <a:avLst/>
              <a:gdLst/>
              <a:ahLst/>
              <a:cxnLst/>
              <a:rect l="l" t="t" r="r" b="b"/>
              <a:pathLst>
                <a:path w="214312" h="171450">
                  <a:moveTo>
                    <a:pt x="0" y="85725"/>
                  </a:moveTo>
                  <a:lnTo>
                    <a:pt x="42862" y="42862"/>
                  </a:lnTo>
                  <a:lnTo>
                    <a:pt x="107156" y="107156"/>
                  </a:lnTo>
                  <a:lnTo>
                    <a:pt x="214312" y="0"/>
                  </a:lnTo>
                  <a:lnTo>
                    <a:pt x="214312" y="171450"/>
                  </a:lnTo>
                  <a:lnTo>
                    <a:pt x="0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5385435" y="289464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观察局部斜率</a:t>
            </a:r>
          </a:p>
        </p:txBody>
      </p:sp>
      <p:sp>
        <p:nvSpPr>
          <p:cNvPr id="19" name="Line 19"/>
          <p:cNvSpPr/>
          <p:nvPr/>
        </p:nvSpPr>
        <p:spPr>
          <a:xfrm>
            <a:off x="5524500" y="43815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2A3A52"/>
            </a:solidFill>
          </a:ln>
        </p:spPr>
      </p:sp>
      <p:sp>
        <p:nvSpPr>
          <p:cNvPr id="20" name="Line 20"/>
          <p:cNvSpPr/>
          <p:nvPr/>
        </p:nvSpPr>
        <p:spPr>
          <a:xfrm>
            <a:off x="5524500" y="342900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19050">
            <a:solidFill>
              <a:srgbClr val="2A3A52"/>
            </a:solidFill>
          </a:ln>
        </p:spPr>
      </p:sp>
      <p:sp>
        <p:nvSpPr>
          <p:cNvPr id="21" name="Polyline 21"/>
          <p:cNvSpPr/>
          <p:nvPr/>
        </p:nvSpPr>
        <p:spPr>
          <a:xfrm>
            <a:off x="5619750" y="3143250"/>
            <a:ext cx="2333625" cy="1047750"/>
          </a:xfrm>
          <a:custGeom>
            <a:avLst/>
            <a:gdLst/>
            <a:ahLst/>
            <a:cxnLst/>
            <a:rect l="l" t="t" r="r" b="b"/>
            <a:pathLst>
              <a:path w="2333625" h="1047750">
                <a:moveTo>
                  <a:pt x="0" y="1047750"/>
                </a:moveTo>
                <a:lnTo>
                  <a:pt x="571500" y="800100"/>
                </a:lnTo>
                <a:lnTo>
                  <a:pt x="1190625" y="857250"/>
                </a:lnTo>
                <a:lnTo>
                  <a:pt x="1828800" y="419100"/>
                </a:lnTo>
                <a:lnTo>
                  <a:pt x="2333625" y="0"/>
                </a:lnTo>
              </a:path>
            </a:pathLst>
          </a:custGeom>
          <a:noFill/>
          <a:ln w="38100">
            <a:solidFill>
              <a:srgbClr val="36D6B5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6134100" y="3886200"/>
            <a:ext cx="114300" cy="114300"/>
          </a:xfrm>
          <a:prstGeom prst="ellipse">
            <a:avLst/>
          </a:prstGeom>
          <a:solidFill>
            <a:srgbClr val="36D6B5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6753225" y="3943350"/>
            <a:ext cx="114300" cy="114300"/>
          </a:xfrm>
          <a:prstGeom prst="ellipse">
            <a:avLst/>
          </a:prstGeom>
          <a:solidFill>
            <a:srgbClr val="36D6B5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391400" y="3505200"/>
            <a:ext cx="114300" cy="114300"/>
          </a:xfrm>
          <a:prstGeom prst="ellipse">
            <a:avLst/>
          </a:prstGeom>
          <a:solidFill>
            <a:srgbClr val="36D6B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605462" y="4641056"/>
            <a:ext cx="2756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cycle / area / bandwidth response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58250" y="369570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6D6B5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9753600" y="36099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0001250" y="2095500"/>
            <a:ext cx="1619250" cy="3143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10520362" y="23812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50019" y="150019"/>
                </a:moveTo>
                <a:lnTo>
                  <a:pt x="171450" y="0"/>
                </a:lnTo>
                <a:lnTo>
                  <a:pt x="128588" y="0"/>
                </a:lnTo>
                <a:lnTo>
                  <a:pt x="0" y="150019"/>
                </a:lnTo>
                <a:lnTo>
                  <a:pt x="0" y="192881"/>
                </a:lnTo>
                <a:lnTo>
                  <a:pt x="107156" y="192881"/>
                </a:lnTo>
                <a:lnTo>
                  <a:pt x="85725" y="342900"/>
                </a:lnTo>
                <a:lnTo>
                  <a:pt x="128588" y="342900"/>
                </a:lnTo>
                <a:lnTo>
                  <a:pt x="257175" y="192881"/>
                </a:lnTo>
                <a:lnTo>
                  <a:pt x="257175" y="150019"/>
                </a:lnTo>
                <a:lnTo>
                  <a:pt x="150019" y="150019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283190" y="291084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Prior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90810" y="34328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影响方向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90810" y="36899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影响强度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90810" y="39471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候选排序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561975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02005" y="57788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关键学习：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21205" y="5778818"/>
            <a:ext cx="62154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昂贵 simulator 只验证“最有信息量”的点，而不是每个点都同等对待。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02.3 · CLOSED LOOP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907571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SE–EE–TM：每一次模拟都应该改变下一次选择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0577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Lumina 把搜索变成一个瓶颈驱动的闭环，而不是一次性的候选排序。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476500"/>
            <a:ext cx="228600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FFB454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952500" y="2762250"/>
            <a:ext cx="361950" cy="361950"/>
            <a:chOff x="952500" y="2762250"/>
            <a:chExt cx="361950" cy="361950"/>
          </a:xfrm>
        </p:grpSpPr>
        <p:sp>
          <p:nvSpPr>
            <p:cNvPr id="7" name="Freeform 7"/>
            <p:cNvSpPr/>
            <p:nvPr/>
          </p:nvSpPr>
          <p:spPr>
            <a:xfrm>
              <a:off x="1042988" y="2852738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90488" y="0"/>
                  </a:moveTo>
                  <a:cubicBezTo>
                    <a:pt x="40513" y="0"/>
                    <a:pt x="0" y="40513"/>
                    <a:pt x="0" y="90488"/>
                  </a:cubicBezTo>
                  <a:cubicBezTo>
                    <a:pt x="0" y="140461"/>
                    <a:pt x="40513" y="180975"/>
                    <a:pt x="90488" y="180975"/>
                  </a:cubicBezTo>
                  <a:cubicBezTo>
                    <a:pt x="140461" y="180975"/>
                    <a:pt x="180975" y="140461"/>
                    <a:pt x="180975" y="90488"/>
                  </a:cubicBezTo>
                  <a:cubicBezTo>
                    <a:pt x="180975" y="40513"/>
                    <a:pt x="140461" y="0"/>
                    <a:pt x="90488" y="0"/>
                  </a:cubicBezTo>
                  <a:close/>
                  <a:moveTo>
                    <a:pt x="45244" y="90488"/>
                  </a:moveTo>
                  <a:cubicBezTo>
                    <a:pt x="45244" y="65500"/>
                    <a:pt x="65500" y="45244"/>
                    <a:pt x="90488" y="45244"/>
                  </a:cubicBezTo>
                  <a:cubicBezTo>
                    <a:pt x="115475" y="45244"/>
                    <a:pt x="135731" y="65500"/>
                    <a:pt x="135731" y="90488"/>
                  </a:cubicBezTo>
                  <a:cubicBezTo>
                    <a:pt x="135731" y="115475"/>
                    <a:pt x="115475" y="135731"/>
                    <a:pt x="90488" y="135731"/>
                  </a:cubicBezTo>
                  <a:cubicBezTo>
                    <a:pt x="65500" y="135731"/>
                    <a:pt x="45244" y="115475"/>
                    <a:pt x="45244" y="90488"/>
                  </a:cubicBezTo>
                  <a:close/>
                </a:path>
              </a:pathLst>
            </a:custGeom>
            <a:solidFill>
              <a:srgbClr val="FFB454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952500" y="27622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0"/>
                  </a:moveTo>
                  <a:cubicBezTo>
                    <a:pt x="81025" y="0"/>
                    <a:pt x="0" y="81025"/>
                    <a:pt x="0" y="180975"/>
                  </a:cubicBezTo>
                  <a:cubicBezTo>
                    <a:pt x="0" y="280925"/>
                    <a:pt x="81025" y="361950"/>
                    <a:pt x="180975" y="361950"/>
                  </a:cubicBezTo>
                  <a:cubicBezTo>
                    <a:pt x="280925" y="361950"/>
                    <a:pt x="361950" y="280925"/>
                    <a:pt x="361950" y="180975"/>
                  </a:cubicBezTo>
                  <a:cubicBezTo>
                    <a:pt x="361950" y="81025"/>
                    <a:pt x="280925" y="0"/>
                    <a:pt x="180975" y="0"/>
                  </a:cubicBezTo>
                  <a:close/>
                  <a:moveTo>
                    <a:pt x="45244" y="180975"/>
                  </a:moveTo>
                  <a:cubicBezTo>
                    <a:pt x="45244" y="106013"/>
                    <a:pt x="106013" y="45244"/>
                    <a:pt x="180975" y="45244"/>
                  </a:cubicBezTo>
                  <a:cubicBezTo>
                    <a:pt x="255937" y="45244"/>
                    <a:pt x="316706" y="106013"/>
                    <a:pt x="316706" y="180975"/>
                  </a:cubicBezTo>
                  <a:cubicBezTo>
                    <a:pt x="316706" y="255937"/>
                    <a:pt x="255937" y="316706"/>
                    <a:pt x="180975" y="316706"/>
                  </a:cubicBezTo>
                  <a:cubicBezTo>
                    <a:pt x="106013" y="316706"/>
                    <a:pt x="45244" y="255937"/>
                    <a:pt x="45244" y="180975"/>
                  </a:cubicBezTo>
                  <a:close/>
                </a:path>
              </a:pathLst>
            </a:custGeom>
            <a:solidFill>
              <a:srgbClr val="FFB454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27735" y="3218498"/>
            <a:ext cx="3784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260" y="3632835"/>
            <a:ext cx="1642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识别 dominant stall</a:t>
            </a:r>
          </a:p>
        </p:txBody>
      </p:sp>
      <p:sp>
        <p:nvSpPr>
          <p:cNvPr id="12" name="Freeform 12"/>
          <p:cNvSpPr/>
          <p:nvPr/>
        </p:nvSpPr>
        <p:spPr>
          <a:xfrm>
            <a:off x="2952750" y="32861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FFB454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657600" y="32004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FFB454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924300" y="2476500"/>
            <a:ext cx="228600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4210050" y="2807494"/>
            <a:ext cx="361950" cy="271462"/>
          </a:xfrm>
          <a:custGeom>
            <a:avLst/>
            <a:gdLst/>
            <a:ahLst/>
            <a:cxnLst/>
            <a:rect l="l" t="t" r="r" b="b"/>
            <a:pathLst>
              <a:path w="361950" h="271462">
                <a:moveTo>
                  <a:pt x="180975" y="90488"/>
                </a:moveTo>
                <a:lnTo>
                  <a:pt x="180975" y="0"/>
                </a:lnTo>
                <a:lnTo>
                  <a:pt x="226219" y="0"/>
                </a:lnTo>
                <a:lnTo>
                  <a:pt x="361950" y="135731"/>
                </a:lnTo>
                <a:lnTo>
                  <a:pt x="226219" y="271462"/>
                </a:lnTo>
                <a:lnTo>
                  <a:pt x="180975" y="271462"/>
                </a:lnTo>
                <a:lnTo>
                  <a:pt x="180975" y="180975"/>
                </a:lnTo>
                <a:lnTo>
                  <a:pt x="0" y="180975"/>
                </a:lnTo>
                <a:lnTo>
                  <a:pt x="0" y="90488"/>
                </a:lnTo>
                <a:lnTo>
                  <a:pt x="180975" y="90488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185285" y="3218498"/>
            <a:ext cx="3784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94810" y="3632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提出受限候选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10300" y="32861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6915150" y="32004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181850" y="2476500"/>
            <a:ext cx="228600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512844" y="2762250"/>
            <a:ext cx="271462" cy="361950"/>
          </a:xfrm>
          <a:custGeom>
            <a:avLst/>
            <a:gdLst/>
            <a:ahLst/>
            <a:cxnLst/>
            <a:rect l="l" t="t" r="r" b="b"/>
            <a:pathLst>
              <a:path w="271462" h="361950">
                <a:moveTo>
                  <a:pt x="158353" y="158353"/>
                </a:moveTo>
                <a:lnTo>
                  <a:pt x="180975" y="0"/>
                </a:lnTo>
                <a:lnTo>
                  <a:pt x="135731" y="0"/>
                </a:lnTo>
                <a:lnTo>
                  <a:pt x="0" y="158353"/>
                </a:lnTo>
                <a:lnTo>
                  <a:pt x="0" y="203597"/>
                </a:lnTo>
                <a:lnTo>
                  <a:pt x="113109" y="203597"/>
                </a:lnTo>
                <a:lnTo>
                  <a:pt x="90488" y="361950"/>
                </a:lnTo>
                <a:lnTo>
                  <a:pt x="135731" y="361950"/>
                </a:lnTo>
                <a:lnTo>
                  <a:pt x="271462" y="203597"/>
                </a:lnTo>
                <a:lnTo>
                  <a:pt x="271462" y="158353"/>
                </a:lnTo>
                <a:lnTo>
                  <a:pt x="158353" y="158353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442835" y="3218498"/>
            <a:ext cx="127558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Simulate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2360" y="3632835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拿到真实 PPA / path</a:t>
            </a:r>
          </a:p>
        </p:txBody>
      </p:sp>
      <p:sp>
        <p:nvSpPr>
          <p:cNvPr id="24" name="Freeform 24"/>
          <p:cNvSpPr/>
          <p:nvPr/>
        </p:nvSpPr>
        <p:spPr>
          <a:xfrm>
            <a:off x="9467850" y="32861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6D6B5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10172700" y="32004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0439400" y="2476500"/>
            <a:ext cx="1238250" cy="1619250"/>
          </a:xfrm>
          <a:prstGeom prst="roundRect">
            <a:avLst>
              <a:gd name="adj" fmla="val 10769"/>
            </a:avLst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10894219" y="2762250"/>
            <a:ext cx="271462" cy="361950"/>
            <a:chOff x="10894219" y="2762250"/>
            <a:chExt cx="271462" cy="361950"/>
          </a:xfrm>
        </p:grpSpPr>
        <p:sp>
          <p:nvSpPr>
            <p:cNvPr id="27" name="Freeform 27"/>
            <p:cNvSpPr/>
            <p:nvPr/>
          </p:nvSpPr>
          <p:spPr>
            <a:xfrm>
              <a:off x="10894219" y="2907030"/>
              <a:ext cx="271462" cy="104060"/>
            </a:xfrm>
            <a:custGeom>
              <a:avLst/>
              <a:gdLst/>
              <a:ahLst/>
              <a:cxnLst/>
              <a:rect l="l" t="t" r="r" b="b"/>
              <a:pathLst>
                <a:path w="271462" h="104060">
                  <a:moveTo>
                    <a:pt x="251942" y="11541"/>
                  </a:moveTo>
                  <a:cubicBezTo>
                    <a:pt x="258306" y="8359"/>
                    <a:pt x="264954" y="4520"/>
                    <a:pt x="271462" y="0"/>
                  </a:cubicBezTo>
                  <a:lnTo>
                    <a:pt x="271462" y="36195"/>
                  </a:lnTo>
                  <a:cubicBezTo>
                    <a:pt x="271462" y="73676"/>
                    <a:pt x="210693" y="104060"/>
                    <a:pt x="135731" y="104060"/>
                  </a:cubicBezTo>
                  <a:cubicBezTo>
                    <a:pt x="60769" y="104060"/>
                    <a:pt x="0" y="73676"/>
                    <a:pt x="0" y="36195"/>
                  </a:cubicBezTo>
                  <a:lnTo>
                    <a:pt x="0" y="0"/>
                  </a:lnTo>
                  <a:cubicBezTo>
                    <a:pt x="6509" y="4520"/>
                    <a:pt x="13156" y="8359"/>
                    <a:pt x="19521" y="11541"/>
                  </a:cubicBezTo>
                  <a:cubicBezTo>
                    <a:pt x="51600" y="27580"/>
                    <a:pt x="92749" y="36195"/>
                    <a:pt x="135731" y="36195"/>
                  </a:cubicBezTo>
                  <a:cubicBezTo>
                    <a:pt x="178713" y="36195"/>
                    <a:pt x="219862" y="27580"/>
                    <a:pt x="251942" y="11541"/>
                  </a:cubicBez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894219" y="3020139"/>
              <a:ext cx="271462" cy="104061"/>
            </a:xfrm>
            <a:custGeom>
              <a:avLst/>
              <a:gdLst/>
              <a:ahLst/>
              <a:cxnLst/>
              <a:rect l="l" t="t" r="r" b="b"/>
              <a:pathLst>
                <a:path w="271462" h="104061">
                  <a:moveTo>
                    <a:pt x="0" y="0"/>
                  </a:moveTo>
                  <a:lnTo>
                    <a:pt x="0" y="36195"/>
                  </a:lnTo>
                  <a:cubicBezTo>
                    <a:pt x="0" y="73677"/>
                    <a:pt x="60769" y="104061"/>
                    <a:pt x="135731" y="104061"/>
                  </a:cubicBezTo>
                  <a:cubicBezTo>
                    <a:pt x="210693" y="104061"/>
                    <a:pt x="271462" y="73677"/>
                    <a:pt x="271462" y="36195"/>
                  </a:cubicBezTo>
                  <a:lnTo>
                    <a:pt x="271462" y="0"/>
                  </a:lnTo>
                  <a:cubicBezTo>
                    <a:pt x="264954" y="4520"/>
                    <a:pt x="258306" y="8359"/>
                    <a:pt x="251942" y="11542"/>
                  </a:cubicBezTo>
                  <a:cubicBezTo>
                    <a:pt x="219862" y="27581"/>
                    <a:pt x="178713" y="36195"/>
                    <a:pt x="135731" y="36195"/>
                  </a:cubicBezTo>
                  <a:cubicBezTo>
                    <a:pt x="92749" y="36195"/>
                    <a:pt x="51600" y="27581"/>
                    <a:pt x="19521" y="11542"/>
                  </a:cubicBezTo>
                  <a:cubicBezTo>
                    <a:pt x="13156" y="8359"/>
                    <a:pt x="6509" y="4520"/>
                    <a:pt x="0" y="0"/>
                  </a:cubicBez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894219" y="2762250"/>
              <a:ext cx="271462" cy="135731"/>
            </a:xfrm>
            <a:custGeom>
              <a:avLst/>
              <a:gdLst/>
              <a:ahLst/>
              <a:cxnLst/>
              <a:rect l="l" t="t" r="r" b="b"/>
              <a:pathLst>
                <a:path w="271462" h="135731">
                  <a:moveTo>
                    <a:pt x="135731" y="0"/>
                  </a:moveTo>
                  <a:cubicBezTo>
                    <a:pt x="210693" y="0"/>
                    <a:pt x="271462" y="30385"/>
                    <a:pt x="271462" y="67866"/>
                  </a:cubicBezTo>
                  <a:cubicBezTo>
                    <a:pt x="271462" y="105347"/>
                    <a:pt x="210693" y="135731"/>
                    <a:pt x="135731" y="135731"/>
                  </a:cubicBezTo>
                  <a:cubicBezTo>
                    <a:pt x="60769" y="135731"/>
                    <a:pt x="0" y="105347"/>
                    <a:pt x="0" y="67866"/>
                  </a:cubicBezTo>
                  <a:cubicBezTo>
                    <a:pt x="0" y="30385"/>
                    <a:pt x="60769" y="0"/>
                    <a:pt x="135731" y="0"/>
                  </a:cubicBez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0656570" y="3250882"/>
            <a:ext cx="3708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TM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54665" y="364902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trajectory</a:t>
            </a:r>
          </a:p>
        </p:txBody>
      </p:sp>
      <p:sp>
        <p:nvSpPr>
          <p:cNvPr id="33" name="Freeform 33"/>
          <p:cNvSpPr/>
          <p:nvPr/>
        </p:nvSpPr>
        <p:spPr>
          <a:xfrm>
            <a:off x="1809750" y="4114800"/>
            <a:ext cx="9220200" cy="1219200"/>
          </a:xfrm>
          <a:custGeom>
            <a:avLst/>
            <a:gdLst/>
            <a:ahLst/>
            <a:cxnLst/>
            <a:rect l="l" t="t" r="r" b="b"/>
            <a:pathLst>
              <a:path w="9220200" h="1219200">
                <a:moveTo>
                  <a:pt x="9220200" y="0"/>
                </a:moveTo>
                <a:cubicBezTo>
                  <a:pt x="9220200" y="1123950"/>
                  <a:pt x="0" y="1219200"/>
                  <a:pt x="0" y="0"/>
                </a:cubicBezTo>
              </a:path>
            </a:pathLst>
          </a:custGeom>
          <a:noFill/>
          <a:ln w="19050">
            <a:solidFill>
              <a:srgbClr val="A78BFA"/>
            </a:solidFill>
            <a:custDash>
              <a:ds d="400000" sp="40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4647248" y="4935379"/>
            <a:ext cx="293836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历史结果反过来修正影响图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66750" y="5715000"/>
            <a:ext cx="11010900" cy="438150"/>
          </a:xfrm>
          <a:prstGeom prst="roundRect">
            <a:avLst>
              <a:gd name="adj" fmla="val 21739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0105" y="5855018"/>
            <a:ext cx="91631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对 PyTorchSim 的对应物：TOGSim log → bottleneck → 下一组 HW × mapping，而不是重新完整扫一遍。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02.4 · WHAT LUMINA DOES NOT 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949091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Lumina 的强项是样本效率，边界是搜索对象较窄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5949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理解边界，才能决定哪些思想应该迁移，哪些思想必须由我们补上。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95500"/>
            <a:ext cx="4857750" cy="3143250"/>
          </a:xfrm>
          <a:prstGeom prst="roundRect">
            <a:avLst>
              <a:gd name="adj" fmla="val 4242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1041949" y="2466535"/>
            <a:ext cx="335446" cy="276952"/>
          </a:xfrm>
          <a:custGeom>
            <a:avLst/>
            <a:gdLst/>
            <a:ahLst/>
            <a:cxnLst/>
            <a:rect l="l" t="t" r="r" b="b"/>
            <a:pathLst>
              <a:path w="335446" h="276952">
                <a:moveTo>
                  <a:pt x="335446" y="63984"/>
                </a:moveTo>
                <a:lnTo>
                  <a:pt x="122480" y="276952"/>
                </a:lnTo>
                <a:lnTo>
                  <a:pt x="0" y="154472"/>
                </a:lnTo>
                <a:lnTo>
                  <a:pt x="63984" y="90488"/>
                </a:lnTo>
                <a:lnTo>
                  <a:pt x="122480" y="148983"/>
                </a:lnTo>
                <a:lnTo>
                  <a:pt x="271463" y="0"/>
                </a:lnTo>
                <a:lnTo>
                  <a:pt x="335446" y="63984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97330" y="2497455"/>
            <a:ext cx="18406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Lumina 擅长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9652" y="3179921"/>
            <a:ext cx="26168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从源码提取参数—指标关系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9652" y="3541871"/>
            <a:ext cx="24816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用 sensitivity 形成先验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652" y="3903821"/>
            <a:ext cx="2502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根据瓶颈选择下一次模拟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652" y="4265771"/>
            <a:ext cx="271055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在极少样本下探索硬件空间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48450" y="2095500"/>
            <a:ext cx="4857750" cy="3143250"/>
          </a:xfrm>
          <a:prstGeom prst="roundRect">
            <a:avLst>
              <a:gd name="adj" fmla="val 4242"/>
            </a:avLst>
          </a:prstGeom>
          <a:solidFill>
            <a:srgbClr val="162235"/>
          </a:solidFill>
          <a:ln w="19050">
            <a:solidFill>
              <a:srgbClr val="F26D85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6991350" y="2419350"/>
            <a:ext cx="361950" cy="339328"/>
          </a:xfrm>
          <a:custGeom>
            <a:avLst/>
            <a:gdLst/>
            <a:ahLst/>
            <a:cxnLst/>
            <a:rect l="l" t="t" r="r" b="b"/>
            <a:pathLst>
              <a:path w="361950" h="339328">
                <a:moveTo>
                  <a:pt x="361950" y="339328"/>
                </a:moveTo>
                <a:lnTo>
                  <a:pt x="0" y="339328"/>
                </a:lnTo>
                <a:lnTo>
                  <a:pt x="0" y="271462"/>
                </a:lnTo>
                <a:lnTo>
                  <a:pt x="158353" y="0"/>
                </a:lnTo>
                <a:lnTo>
                  <a:pt x="203597" y="0"/>
                </a:lnTo>
                <a:lnTo>
                  <a:pt x="361950" y="271462"/>
                </a:lnTo>
                <a:lnTo>
                  <a:pt x="361950" y="339328"/>
                </a:lnTo>
                <a:close/>
                <a:moveTo>
                  <a:pt x="158353" y="90488"/>
                </a:moveTo>
                <a:lnTo>
                  <a:pt x="203597" y="90488"/>
                </a:lnTo>
                <a:lnTo>
                  <a:pt x="203597" y="203597"/>
                </a:lnTo>
                <a:lnTo>
                  <a:pt x="158353" y="203597"/>
                </a:lnTo>
                <a:lnTo>
                  <a:pt x="158353" y="90488"/>
                </a:lnTo>
                <a:close/>
                <a:moveTo>
                  <a:pt x="158353" y="248841"/>
                </a:moveTo>
                <a:lnTo>
                  <a:pt x="203597" y="248841"/>
                </a:lnTo>
                <a:lnTo>
                  <a:pt x="203597" y="294084"/>
                </a:lnTo>
                <a:lnTo>
                  <a:pt x="158353" y="294084"/>
                </a:lnTo>
                <a:lnTo>
                  <a:pt x="158353" y="248841"/>
                </a:lnTo>
                <a:close/>
              </a:path>
            </a:pathLst>
          </a:custGeom>
          <a:solidFill>
            <a:srgbClr val="F26D8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59980" y="2497455"/>
            <a:ext cx="31288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26D85"/>
                </a:solidFill>
                <a:latin typeface="Arial"/>
                <a:ea typeface="Microsoft YaHei"/>
                <a:cs typeface="Arial"/>
              </a:rPr>
              <a:t>Lumina 没有自动解决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2302" y="3179921"/>
            <a:ext cx="2502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新网络拓扑和模型准确率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2302" y="3541871"/>
            <a:ext cx="30227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compiler mapping 的生成逻辑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2302" y="3903821"/>
            <a:ext cx="23879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多层 TOG 结构如何改变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2302" y="4265771"/>
            <a:ext cx="22943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• 算法级的执行方式重构</a:t>
            </a:r>
          </a:p>
        </p:txBody>
      </p:sp>
      <p:sp>
        <p:nvSpPr>
          <p:cNvPr id="20" name="Line 20"/>
          <p:cNvSpPr/>
          <p:nvPr/>
        </p:nvSpPr>
        <p:spPr>
          <a:xfrm>
            <a:off x="685800" y="5762625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6750" y="5934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研究定位：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28800" y="5934075"/>
            <a:ext cx="63145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Lumina 是搜索策略，不是完整的算法—实现—硬件共同生成框架。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07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7090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 · A3C3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933794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A3C3：把算法、实现、硬件放进同一张设计地图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A3C3 是总框架：不同工作可以固定其中一层，也可以把三层一起搜索。</a:t>
            </a:r>
          </a:p>
        </p:txBody>
      </p:sp>
      <p:sp>
        <p:nvSpPr>
          <p:cNvPr id="6" name="Line 6"/>
          <p:cNvSpPr/>
          <p:nvPr/>
        </p:nvSpPr>
        <p:spPr>
          <a:xfrm>
            <a:off x="3429000" y="2381250"/>
            <a:ext cx="2667000" cy="2952750"/>
          </a:xfrm>
          <a:custGeom>
            <a:avLst/>
            <a:gdLst/>
            <a:ahLst/>
            <a:cxnLst/>
            <a:rect l="l" t="t" r="r" b="b"/>
            <a:pathLst>
              <a:path w="2667000" h="2952750">
                <a:moveTo>
                  <a:pt x="2667000" y="29527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DA3FF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2381250"/>
            <a:ext cx="2667000" cy="2952750"/>
          </a:xfrm>
          <a:custGeom>
            <a:avLst/>
            <a:gdLst/>
            <a:ahLst/>
            <a:cxnLst/>
            <a:rect l="l" t="t" r="r" b="b"/>
            <a:pathLst>
              <a:path w="2667000" h="2952750">
                <a:moveTo>
                  <a:pt x="0" y="295275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36D6B5"/>
            </a:solidFill>
          </a:ln>
        </p:spPr>
      </p:sp>
      <p:sp>
        <p:nvSpPr>
          <p:cNvPr id="8" name="Line 8"/>
          <p:cNvSpPr/>
          <p:nvPr/>
        </p:nvSpPr>
        <p:spPr>
          <a:xfrm>
            <a:off x="6096000" y="20955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32385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A78BF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5334000" y="4572000"/>
            <a:ext cx="1524000" cy="1524000"/>
          </a:xfrm>
          <a:prstGeom prst="ellipse">
            <a:avLst/>
          </a:prstGeom>
          <a:solidFill>
            <a:srgbClr val="162235"/>
          </a:solidFill>
          <a:ln w="19050">
            <a:solidFill>
              <a:srgbClr val="F4F7F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497116" y="503634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联合目标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27320" y="542210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QoR · QoS · resource</a:t>
            </a:r>
          </a:p>
        </p:txBody>
      </p:sp>
      <p:sp>
        <p:nvSpPr>
          <p:cNvPr id="12" name="Ellipse 12"/>
          <p:cNvSpPr/>
          <p:nvPr/>
        </p:nvSpPr>
        <p:spPr>
          <a:xfrm>
            <a:off x="2362200" y="1028700"/>
            <a:ext cx="2133600" cy="2133600"/>
          </a:xfrm>
          <a:prstGeom prst="ellipse">
            <a:avLst/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138488" y="24003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64294" y="246459"/>
                </a:moveTo>
                <a:lnTo>
                  <a:pt x="64294" y="310753"/>
                </a:lnTo>
                <a:lnTo>
                  <a:pt x="96441" y="342900"/>
                </a:lnTo>
                <a:lnTo>
                  <a:pt x="160734" y="342900"/>
                </a:lnTo>
                <a:lnTo>
                  <a:pt x="192881" y="310753"/>
                </a:lnTo>
                <a:lnTo>
                  <a:pt x="192881" y="246459"/>
                </a:lnTo>
                <a:lnTo>
                  <a:pt x="219447" y="219893"/>
                </a:lnTo>
                <a:cubicBezTo>
                  <a:pt x="243605" y="195737"/>
                  <a:pt x="257175" y="162908"/>
                  <a:pt x="257175" y="128745"/>
                </a:cubicBezTo>
                <a:cubicBezTo>
                  <a:pt x="257175" y="57728"/>
                  <a:pt x="199604" y="0"/>
                  <a:pt x="128588" y="0"/>
                </a:cubicBezTo>
                <a:cubicBezTo>
                  <a:pt x="57571" y="0"/>
                  <a:pt x="0" y="57728"/>
                  <a:pt x="0" y="128745"/>
                </a:cubicBezTo>
                <a:cubicBezTo>
                  <a:pt x="0" y="162908"/>
                  <a:pt x="13571" y="195737"/>
                  <a:pt x="37728" y="219893"/>
                </a:cubicBezTo>
                <a:lnTo>
                  <a:pt x="64294" y="246459"/>
                </a:lnTo>
                <a:close/>
                <a:moveTo>
                  <a:pt x="107156" y="211612"/>
                </a:moveTo>
                <a:lnTo>
                  <a:pt x="107156" y="128588"/>
                </a:lnTo>
                <a:lnTo>
                  <a:pt x="150019" y="128588"/>
                </a:lnTo>
                <a:lnTo>
                  <a:pt x="150019" y="211612"/>
                </a:lnTo>
                <a:cubicBezTo>
                  <a:pt x="186992" y="202095"/>
                  <a:pt x="214312" y="168532"/>
                  <a:pt x="214312" y="128588"/>
                </a:cubicBezTo>
                <a:cubicBezTo>
                  <a:pt x="214312" y="81243"/>
                  <a:pt x="175931" y="42862"/>
                  <a:pt x="128588" y="42862"/>
                </a:cubicBezTo>
                <a:cubicBezTo>
                  <a:pt x="81243" y="42862"/>
                  <a:pt x="42862" y="81243"/>
                  <a:pt x="42862" y="128588"/>
                </a:cubicBezTo>
                <a:cubicBezTo>
                  <a:pt x="42862" y="168532"/>
                  <a:pt x="70182" y="202095"/>
                  <a:pt x="107156" y="21161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417322" y="2829401"/>
            <a:ext cx="20233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 · Algorithm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2842" y="3212306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拓扑 · 算子 · 量化</a:t>
            </a:r>
          </a:p>
        </p:txBody>
      </p:sp>
      <p:sp>
        <p:nvSpPr>
          <p:cNvPr id="16" name="Ellipse 16"/>
          <p:cNvSpPr/>
          <p:nvPr/>
        </p:nvSpPr>
        <p:spPr>
          <a:xfrm>
            <a:off x="5029200" y="647700"/>
            <a:ext cx="2133600" cy="2133600"/>
          </a:xfrm>
          <a:prstGeom prst="ellipse">
            <a:avLst/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784056" y="2019300"/>
            <a:ext cx="300038" cy="342900"/>
            <a:chOff x="5784056" y="2019300"/>
            <a:chExt cx="300038" cy="342900"/>
          </a:xfrm>
        </p:grpSpPr>
        <p:sp>
          <p:nvSpPr>
            <p:cNvPr id="17" name="Freeform 17"/>
            <p:cNvSpPr/>
            <p:nvPr/>
          </p:nvSpPr>
          <p:spPr>
            <a:xfrm>
              <a:off x="5784056" y="2019300"/>
              <a:ext cx="300038" cy="171450"/>
            </a:xfrm>
            <a:custGeom>
              <a:avLst/>
              <a:gdLst/>
              <a:ahLst/>
              <a:cxnLst/>
              <a:rect l="l" t="t" r="r" b="b"/>
              <a:pathLst>
                <a:path w="300038" h="171450">
                  <a:moveTo>
                    <a:pt x="0" y="107156"/>
                  </a:move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07156"/>
                  </a:lnTo>
                  <a:lnTo>
                    <a:pt x="150019" y="171450"/>
                  </a:lnTo>
                  <a:lnTo>
                    <a:pt x="0" y="107156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784056" y="2255044"/>
              <a:ext cx="300038" cy="107156"/>
            </a:xfrm>
            <a:custGeom>
              <a:avLst/>
              <a:gdLst/>
              <a:ahLst/>
              <a:cxnLst/>
              <a:rect l="l" t="t" r="r" b="b"/>
              <a:pathLst>
                <a:path w="300038" h="107156">
                  <a:moveTo>
                    <a:pt x="150019" y="107156"/>
                  </a:moveTo>
                  <a:lnTo>
                    <a:pt x="0" y="42862"/>
                  </a:lnTo>
                  <a:lnTo>
                    <a:pt x="0" y="0"/>
                  </a:lnTo>
                  <a:lnTo>
                    <a:pt x="150019" y="64294"/>
                  </a:lnTo>
                  <a:lnTo>
                    <a:pt x="300038" y="0"/>
                  </a:lnTo>
                  <a:lnTo>
                    <a:pt x="300038" y="42862"/>
                  </a:lnTo>
                  <a:lnTo>
                    <a:pt x="150019" y="107156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784056" y="2169319"/>
              <a:ext cx="300038" cy="107156"/>
            </a:xfrm>
            <a:custGeom>
              <a:avLst/>
              <a:gdLst/>
              <a:ahLst/>
              <a:cxnLst/>
              <a:rect l="l" t="t" r="r" b="b"/>
              <a:pathLst>
                <a:path w="300038" h="107156">
                  <a:moveTo>
                    <a:pt x="0" y="42862"/>
                  </a:moveTo>
                  <a:lnTo>
                    <a:pt x="150019" y="107156"/>
                  </a:lnTo>
                  <a:lnTo>
                    <a:pt x="300038" y="42862"/>
                  </a:lnTo>
                  <a:lnTo>
                    <a:pt x="300038" y="0"/>
                  </a:lnTo>
                  <a:lnTo>
                    <a:pt x="150019" y="64294"/>
                  </a:lnTo>
                  <a:lnTo>
                    <a:pt x="0" y="0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4703912" y="2448401"/>
            <a:ext cx="27841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 · 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13722" y="2831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tiling · mapping · dataflow</a:t>
            </a:r>
          </a:p>
        </p:txBody>
      </p:sp>
      <p:sp>
        <p:nvSpPr>
          <p:cNvPr id="23" name="Ellipse 23"/>
          <p:cNvSpPr/>
          <p:nvPr/>
        </p:nvSpPr>
        <p:spPr>
          <a:xfrm>
            <a:off x="7696200" y="1028700"/>
            <a:ext cx="2133600" cy="2133600"/>
          </a:xfrm>
          <a:prstGeom prst="ellipse">
            <a:avLst/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8472488" y="24003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50019" y="150019"/>
                </a:moveTo>
                <a:lnTo>
                  <a:pt x="171450" y="0"/>
                </a:lnTo>
                <a:lnTo>
                  <a:pt x="128588" y="0"/>
                </a:lnTo>
                <a:lnTo>
                  <a:pt x="0" y="150019"/>
                </a:lnTo>
                <a:lnTo>
                  <a:pt x="0" y="192881"/>
                </a:lnTo>
                <a:lnTo>
                  <a:pt x="107156" y="192881"/>
                </a:lnTo>
                <a:lnTo>
                  <a:pt x="85725" y="342900"/>
                </a:lnTo>
                <a:lnTo>
                  <a:pt x="128588" y="342900"/>
                </a:lnTo>
                <a:lnTo>
                  <a:pt x="257175" y="192881"/>
                </a:lnTo>
                <a:lnTo>
                  <a:pt x="257175" y="150019"/>
                </a:lnTo>
                <a:lnTo>
                  <a:pt x="150019" y="150019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9085" y="2829401"/>
            <a:ext cx="200783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H · Hardware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90353" y="3212306"/>
            <a:ext cx="2345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compute · memory · network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171950"/>
            <a:ext cx="2667000" cy="666750"/>
          </a:xfrm>
          <a:prstGeom prst="roundRect">
            <a:avLst>
              <a:gd name="adj" fmla="val 14286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54405" y="4426268"/>
            <a:ext cx="14213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Bundle library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8215" y="46682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先筛掉明显不好的局部块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572500" y="4171950"/>
            <a:ext cx="2667000" cy="666750"/>
          </a:xfrm>
          <a:prstGeom prst="roundRect">
            <a:avLst>
              <a:gd name="adj" fmla="val 14286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764905" y="4426268"/>
            <a:ext cx="14627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Co-generation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8715" y="46682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输出可部署系统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08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03.1 · SKYNET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680303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SkyNet：搜索“什么网络适合硬件”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4872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它先预评估局部 Bundle，再用 PSO 搜索通道数和池化位置，避免直接搜索所有网络。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247900"/>
            <a:ext cx="2381250" cy="2305050"/>
          </a:xfrm>
          <a:prstGeom prst="roundRect">
            <a:avLst>
              <a:gd name="adj" fmla="val 5785"/>
            </a:avLst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18198" y="2496979"/>
            <a:ext cx="186355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① Bundle library</a:t>
            </a:r>
          </a:p>
        </p:txBody>
      </p:sp>
      <p:sp>
        <p:nvSpPr>
          <p:cNvPr id="8" name="Rectangle 8"/>
          <p:cNvSpPr/>
          <p:nvPr/>
        </p:nvSpPr>
        <p:spPr>
          <a:xfrm>
            <a:off x="838200" y="3009900"/>
            <a:ext cx="1762125" cy="323850"/>
          </a:xfrm>
          <a:prstGeom prst="roundRect">
            <a:avLst>
              <a:gd name="adj" fmla="val 20588"/>
            </a:avLst>
          </a:prstGeom>
          <a:solidFill>
            <a:srgbClr val="24365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8690" y="311562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DW-Conv → PW-Conv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38200" y="3448050"/>
            <a:ext cx="1762125" cy="323850"/>
          </a:xfrm>
          <a:prstGeom prst="roundRect">
            <a:avLst>
              <a:gd name="adj" fmla="val 20588"/>
            </a:avLst>
          </a:prstGeom>
          <a:solidFill>
            <a:srgbClr val="24365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48690" y="3553778"/>
            <a:ext cx="7934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BN → ReLU6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912" y="40505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延迟、资源、准确率</a:t>
            </a:r>
          </a:p>
        </p:txBody>
      </p:sp>
      <p:sp>
        <p:nvSpPr>
          <p:cNvPr id="13" name="Freeform 13"/>
          <p:cNvSpPr/>
          <p:nvPr/>
        </p:nvSpPr>
        <p:spPr>
          <a:xfrm>
            <a:off x="3048000" y="3400425"/>
            <a:ext cx="990600" cy="9525"/>
          </a:xfrm>
          <a:custGeom>
            <a:avLst/>
            <a:gdLst/>
            <a:ahLst/>
            <a:cxnLst/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3886200" y="3314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191000" y="2247900"/>
            <a:ext cx="3143250" cy="2305050"/>
          </a:xfrm>
          <a:prstGeom prst="roundRect">
            <a:avLst>
              <a:gd name="adj" fmla="val 5785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456748" y="2496979"/>
            <a:ext cx="222585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4DA3FF"/>
                </a:solidFill>
                <a:latin typeface="Arial"/>
                <a:ea typeface="Microsoft YaHei"/>
                <a:cs typeface="Arial"/>
              </a:rPr>
              <a:t>② Group-based PSO</a:t>
            </a:r>
          </a:p>
        </p:txBody>
      </p:sp>
      <p:sp>
        <p:nvSpPr>
          <p:cNvPr id="17" name="Ellipse 17"/>
          <p:cNvSpPr/>
          <p:nvPr/>
        </p:nvSpPr>
        <p:spPr>
          <a:xfrm>
            <a:off x="4495800" y="3124200"/>
            <a:ext cx="533400" cy="533400"/>
          </a:xfrm>
          <a:prstGeom prst="ellipse">
            <a:avLst/>
          </a:prstGeom>
          <a:solidFill>
            <a:srgbClr val="4DA3FF">
              <a:alpha val="25000"/>
            </a:srgbClr>
          </a:solidFill>
          <a:ln w="9525">
            <a:solidFill>
              <a:srgbClr val="4DA3FF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5162550" y="2876550"/>
            <a:ext cx="533400" cy="533400"/>
          </a:xfrm>
          <a:prstGeom prst="ellipse">
            <a:avLst/>
          </a:prstGeom>
          <a:solidFill>
            <a:srgbClr val="4DA3FF">
              <a:alpha val="25000"/>
            </a:srgbClr>
          </a:solidFill>
          <a:ln w="9525">
            <a:solidFill>
              <a:srgbClr val="4DA3FF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5829300" y="3429000"/>
            <a:ext cx="533400" cy="533400"/>
          </a:xfrm>
          <a:prstGeom prst="ellipse">
            <a:avLst/>
          </a:prstGeom>
          <a:solidFill>
            <a:srgbClr val="4DA3FF">
              <a:alpha val="25000"/>
            </a:srgbClr>
          </a:solidFill>
          <a:ln w="9525">
            <a:solidFill>
              <a:srgbClr val="4DA3F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762500" y="3143250"/>
            <a:ext cx="666750" cy="247650"/>
          </a:xfrm>
          <a:custGeom>
            <a:avLst/>
            <a:gdLst/>
            <a:ahLst/>
            <a:cxnLst/>
            <a:rect l="l" t="t" r="r" b="b"/>
            <a:pathLst>
              <a:path w="666750" h="247650">
                <a:moveTo>
                  <a:pt x="0" y="247650"/>
                </a:moveTo>
                <a:lnTo>
                  <a:pt x="666750" y="0"/>
                </a:lnTo>
              </a:path>
            </a:pathLst>
          </a:custGeom>
          <a:noFill/>
          <a:ln w="9525">
            <a:solidFill>
              <a:srgbClr val="AAB8CC"/>
            </a:solidFill>
          </a:ln>
        </p:spPr>
      </p:sp>
      <p:sp>
        <p:nvSpPr>
          <p:cNvPr id="21" name="Line 21"/>
          <p:cNvSpPr/>
          <p:nvPr/>
        </p:nvSpPr>
        <p:spPr>
          <a:xfrm>
            <a:off x="5429250" y="3143250"/>
            <a:ext cx="666750" cy="552450"/>
          </a:xfrm>
          <a:custGeom>
            <a:avLst/>
            <a:gdLst/>
            <a:ahLst/>
            <a:cxnLst/>
            <a:rect l="l" t="t" r="r" b="b"/>
            <a:pathLst>
              <a:path w="666750" h="552450">
                <a:moveTo>
                  <a:pt x="0" y="0"/>
                </a:moveTo>
                <a:lnTo>
                  <a:pt x="666750" y="552450"/>
                </a:lnTo>
              </a:path>
            </a:pathLst>
          </a:custGeom>
          <a:noFill/>
          <a:ln w="9525">
            <a:solidFill>
              <a:srgbClr val="AAB8C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462462" y="4050506"/>
            <a:ext cx="11951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粒子 = 候选 DNN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62462" y="4260056"/>
            <a:ext cx="28299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fv1 = channels · fv2 = pooling spots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7429500" y="3400425"/>
            <a:ext cx="990600" cy="9525"/>
          </a:xfrm>
          <a:custGeom>
            <a:avLst/>
            <a:gdLst/>
            <a:ahLst/>
            <a:cxnLst/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267700" y="3314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572500" y="2247900"/>
            <a:ext cx="3048000" cy="2305050"/>
          </a:xfrm>
          <a:prstGeom prst="roundRect">
            <a:avLst>
              <a:gd name="adj" fmla="val 5785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38248" y="2496979"/>
            <a:ext cx="29021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③ Hardware-friendly DNN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1105" y="30546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准确率不掉出目标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41105" y="3378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延迟满足约束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41105" y="37023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资源占用可部署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238750"/>
            <a:ext cx="11049000" cy="685800"/>
          </a:xfrm>
          <a:prstGeom prst="roundRect">
            <a:avLst>
              <a:gd name="adj" fmla="val 16667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02005" y="53978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对我们的启发：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02205" y="5397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先把重复出现的 TOG 子图做成“可标定 Bundle”，再进入大模型或大 block 搜索。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05062" y="5669756"/>
            <a:ext cx="30107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借鉴的是分层搜索，不是必须复用 PSO。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13770" y="6303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09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7934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03.2 · EDD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778640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EDD：把网络变量和实现变量联合连续化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94687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EDD 的贡献不是某个具体硬件参数，而是让 architecture 和 implementation 在同一个目标函数里被优化。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133600"/>
            <a:ext cx="3238500" cy="3143250"/>
          </a:xfrm>
          <a:prstGeom prst="roundRect">
            <a:avLst>
              <a:gd name="adj" fmla="val 4242"/>
            </a:avLst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55345" y="2412682"/>
            <a:ext cx="24204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Architecture space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3000375"/>
            <a:ext cx="1867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θ : op candidates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3362325"/>
            <a:ext cx="1199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kernel size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3724275"/>
            <a:ext cx="1922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channel expansion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3924300" y="3705225"/>
            <a:ext cx="1085850" cy="9525"/>
          </a:xfrm>
          <a:custGeom>
            <a:avLst/>
            <a:gdLst/>
            <a:ahLst/>
            <a:cxnLst/>
            <a:rect l="l" t="t" r="r" b="b"/>
            <a:pathLst>
              <a:path w="1085850" h="9525">
                <a:moveTo>
                  <a:pt x="0" y="0"/>
                </a:moveTo>
                <a:lnTo>
                  <a:pt x="10858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4857750" y="36195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143500" y="2133600"/>
            <a:ext cx="3238500" cy="3143250"/>
          </a:xfrm>
          <a:prstGeom prst="roundRect">
            <a:avLst>
              <a:gd name="adj" fmla="val 4242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427345" y="2412682"/>
            <a:ext cx="26734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DA3FF"/>
                </a:solidFill>
                <a:latin typeface="Arial"/>
                <a:ea typeface="Microsoft YaHei"/>
                <a:cs typeface="Arial"/>
              </a:rPr>
              <a:t>Implementation space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29250" y="3000375"/>
            <a:ext cx="21193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φ : parallel factors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9250" y="3362325"/>
            <a:ext cx="10896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loop tiling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29250" y="3724275"/>
            <a:ext cx="1889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platform mapping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8496300" y="3705225"/>
            <a:ext cx="1085850" cy="9525"/>
          </a:xfrm>
          <a:custGeom>
            <a:avLst/>
            <a:gdLst/>
            <a:ahLst/>
            <a:cxnLst/>
            <a:rect l="l" t="t" r="r" b="b"/>
            <a:pathLst>
              <a:path w="1085850" h="9525">
                <a:moveTo>
                  <a:pt x="0" y="0"/>
                </a:moveTo>
                <a:lnTo>
                  <a:pt x="10858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9429750" y="36195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9715500" y="2133600"/>
            <a:ext cx="1905000" cy="3143250"/>
          </a:xfrm>
          <a:prstGeom prst="roundRect">
            <a:avLst>
              <a:gd name="adj" fmla="val 7000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980295" y="2412682"/>
            <a:ext cx="12438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Joint loss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83152" y="3008471"/>
            <a:ext cx="9519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accuracy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83152" y="3332321"/>
            <a:ext cx="78543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latency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83152" y="3656171"/>
            <a:ext cx="9519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resource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565785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01052" y="5799296"/>
            <a:ext cx="370745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迁移到我们的 fixed-topology 路线：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34778" y="5799296"/>
            <a:ext cx="614455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令 A=A₀，只保留 I × H，并用真实 TOGSim 结果校准 cost model。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10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03.3 · HIDA / FIXED TOPOLOGY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1014649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HIDA：固定程序时，核心问题变成“如何映射得更好”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3941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它用分层 IR 和数据流优化，处理固定计算逻辑下的 tiling、并行、buffer 和 streaming 耦合。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781050" y="21526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1147762" y="2457450"/>
            <a:ext cx="333375" cy="381000"/>
            <a:chOff x="1147762" y="2457450"/>
            <a:chExt cx="333375" cy="381000"/>
          </a:xfrm>
        </p:grpSpPr>
        <p:sp>
          <p:nvSpPr>
            <p:cNvPr id="7" name="Freeform 7"/>
            <p:cNvSpPr/>
            <p:nvPr/>
          </p:nvSpPr>
          <p:spPr>
            <a:xfrm>
              <a:off x="1147762" y="2457450"/>
              <a:ext cx="333375" cy="190500"/>
            </a:xfrm>
            <a:custGeom>
              <a:avLst/>
              <a:gdLst/>
              <a:ahLst/>
              <a:cxnLst/>
              <a:rect l="l" t="t" r="r" b="b"/>
              <a:pathLst>
                <a:path w="333375" h="190500">
                  <a:moveTo>
                    <a:pt x="0" y="119062"/>
                  </a:moveTo>
                  <a:lnTo>
                    <a:pt x="0" y="71438"/>
                  </a:lnTo>
                  <a:lnTo>
                    <a:pt x="166688" y="0"/>
                  </a:lnTo>
                  <a:lnTo>
                    <a:pt x="333375" y="71438"/>
                  </a:lnTo>
                  <a:lnTo>
                    <a:pt x="333375" y="119062"/>
                  </a:lnTo>
                  <a:lnTo>
                    <a:pt x="166688" y="190500"/>
                  </a:lnTo>
                  <a:lnTo>
                    <a:pt x="0" y="119062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47762" y="2719388"/>
              <a:ext cx="333375" cy="119062"/>
            </a:xfrm>
            <a:custGeom>
              <a:avLst/>
              <a:gdLst/>
              <a:ahLst/>
              <a:cxnLst/>
              <a:rect l="l" t="t" r="r" b="b"/>
              <a:pathLst>
                <a:path w="333375" h="119062">
                  <a:moveTo>
                    <a:pt x="166688" y="119062"/>
                  </a:moveTo>
                  <a:lnTo>
                    <a:pt x="0" y="47625"/>
                  </a:lnTo>
                  <a:lnTo>
                    <a:pt x="0" y="0"/>
                  </a:lnTo>
                  <a:lnTo>
                    <a:pt x="166688" y="71438"/>
                  </a:lnTo>
                  <a:lnTo>
                    <a:pt x="333375" y="0"/>
                  </a:lnTo>
                  <a:lnTo>
                    <a:pt x="333375" y="47625"/>
                  </a:lnTo>
                  <a:lnTo>
                    <a:pt x="166688" y="119062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47762" y="2624138"/>
              <a:ext cx="333375" cy="119062"/>
            </a:xfrm>
            <a:custGeom>
              <a:avLst/>
              <a:gdLst/>
              <a:ahLst/>
              <a:cxnLst/>
              <a:rect l="l" t="t" r="r" b="b"/>
              <a:pathLst>
                <a:path w="333375" h="119062">
                  <a:moveTo>
                    <a:pt x="0" y="47625"/>
                  </a:moveTo>
                  <a:lnTo>
                    <a:pt x="166688" y="119062"/>
                  </a:lnTo>
                  <a:lnTo>
                    <a:pt x="333375" y="47625"/>
                  </a:lnTo>
                  <a:lnTo>
                    <a:pt x="333375" y="0"/>
                  </a:lnTo>
                  <a:lnTo>
                    <a:pt x="166688" y="71438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A78BFA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00138" y="2997994"/>
            <a:ext cx="181597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Functional IR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6805" y="35118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算子依赖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6805" y="38166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循环与任务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6805" y="41214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算法语义</a:t>
            </a:r>
          </a:p>
        </p:txBody>
      </p:sp>
      <p:sp>
        <p:nvSpPr>
          <p:cNvPr id="15" name="Freeform 15"/>
          <p:cNvSpPr/>
          <p:nvPr/>
        </p:nvSpPr>
        <p:spPr>
          <a:xfrm>
            <a:off x="4095750" y="35814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895850" y="34956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162550" y="21526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162235"/>
          </a:solidFill>
          <a:ln w="9525">
            <a:solidFill>
              <a:srgbClr val="4DA3FF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5541169" y="2457450"/>
            <a:ext cx="309562" cy="381000"/>
          </a:xfrm>
          <a:custGeom>
            <a:avLst/>
            <a:gdLst/>
            <a:ahLst/>
            <a:cxnLst/>
            <a:rect l="l" t="t" r="r" b="b"/>
            <a:pathLst>
              <a:path w="309562" h="381000">
                <a:moveTo>
                  <a:pt x="83344" y="114109"/>
                </a:moveTo>
                <a:cubicBezTo>
                  <a:pt x="104369" y="104923"/>
                  <a:pt x="119062" y="83943"/>
                  <a:pt x="119062" y="59531"/>
                </a:cubicBezTo>
                <a:cubicBezTo>
                  <a:pt x="119062" y="26653"/>
                  <a:pt x="92409" y="0"/>
                  <a:pt x="59531" y="0"/>
                </a:cubicBezTo>
                <a:cubicBezTo>
                  <a:pt x="26653" y="0"/>
                  <a:pt x="0" y="26653"/>
                  <a:pt x="0" y="59531"/>
                </a:cubicBezTo>
                <a:cubicBezTo>
                  <a:pt x="0" y="83943"/>
                  <a:pt x="14694" y="104923"/>
                  <a:pt x="35719" y="114109"/>
                </a:cubicBezTo>
                <a:lnTo>
                  <a:pt x="35719" y="266890"/>
                </a:lnTo>
                <a:cubicBezTo>
                  <a:pt x="14694" y="276077"/>
                  <a:pt x="0" y="297056"/>
                  <a:pt x="0" y="321469"/>
                </a:cubicBezTo>
                <a:cubicBezTo>
                  <a:pt x="0" y="354347"/>
                  <a:pt x="26653" y="381000"/>
                  <a:pt x="59531" y="381000"/>
                </a:cubicBezTo>
                <a:cubicBezTo>
                  <a:pt x="92409" y="381000"/>
                  <a:pt x="119062" y="354347"/>
                  <a:pt x="119062" y="321469"/>
                </a:cubicBezTo>
                <a:cubicBezTo>
                  <a:pt x="119062" y="297056"/>
                  <a:pt x="104369" y="276077"/>
                  <a:pt x="83344" y="266890"/>
                </a:cubicBezTo>
                <a:lnTo>
                  <a:pt x="83344" y="214312"/>
                </a:lnTo>
                <a:lnTo>
                  <a:pt x="273844" y="214312"/>
                </a:lnTo>
                <a:lnTo>
                  <a:pt x="273844" y="114109"/>
                </a:lnTo>
                <a:cubicBezTo>
                  <a:pt x="294870" y="104923"/>
                  <a:pt x="309562" y="83943"/>
                  <a:pt x="309562" y="59531"/>
                </a:cubicBezTo>
                <a:cubicBezTo>
                  <a:pt x="309562" y="26653"/>
                  <a:pt x="282909" y="0"/>
                  <a:pt x="250031" y="0"/>
                </a:cubicBezTo>
                <a:cubicBezTo>
                  <a:pt x="217153" y="0"/>
                  <a:pt x="190500" y="26653"/>
                  <a:pt x="190500" y="59531"/>
                </a:cubicBezTo>
                <a:cubicBezTo>
                  <a:pt x="190500" y="83943"/>
                  <a:pt x="205192" y="104923"/>
                  <a:pt x="226219" y="114109"/>
                </a:cubicBezTo>
                <a:lnTo>
                  <a:pt x="226219" y="166688"/>
                </a:lnTo>
                <a:lnTo>
                  <a:pt x="83344" y="166688"/>
                </a:lnTo>
                <a:lnTo>
                  <a:pt x="83344" y="114109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481638" y="2997994"/>
            <a:ext cx="188785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4DA3FF"/>
                </a:solidFill>
                <a:latin typeface="Arial"/>
                <a:ea typeface="Microsoft YaHei"/>
                <a:cs typeface="Arial"/>
              </a:rPr>
              <a:t>Structural IR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88305" y="35118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硬件任务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88305" y="38166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buffer 与 channel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88305" y="4121468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dataflow 与并行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8477250" y="35814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9277350" y="34956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544050" y="2152650"/>
            <a:ext cx="2000250" cy="2857500"/>
          </a:xfrm>
          <a:prstGeom prst="roundRect">
            <a:avLst>
              <a:gd name="adj" fmla="val 6667"/>
            </a:avLst>
          </a:prstGeom>
          <a:solidFill>
            <a:srgbClr val="162235"/>
          </a:solidFill>
          <a:ln w="9525">
            <a:solidFill>
              <a:srgbClr val="36D6B5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10048875" y="24574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66688" y="166688"/>
                </a:moveTo>
                <a:lnTo>
                  <a:pt x="190500" y="0"/>
                </a:lnTo>
                <a:lnTo>
                  <a:pt x="142875" y="0"/>
                </a:lnTo>
                <a:lnTo>
                  <a:pt x="0" y="166688"/>
                </a:lnTo>
                <a:lnTo>
                  <a:pt x="0" y="214312"/>
                </a:lnTo>
                <a:lnTo>
                  <a:pt x="119062" y="214312"/>
                </a:lnTo>
                <a:lnTo>
                  <a:pt x="95250" y="381000"/>
                </a:lnTo>
                <a:lnTo>
                  <a:pt x="142875" y="381000"/>
                </a:lnTo>
                <a:lnTo>
                  <a:pt x="285750" y="214312"/>
                </a:lnTo>
                <a:lnTo>
                  <a:pt x="285750" y="166688"/>
                </a:lnTo>
                <a:lnTo>
                  <a:pt x="166688" y="166688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977438" y="2997994"/>
            <a:ext cx="139904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Synthesis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65055" y="351186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HLS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65055" y="3816668"/>
            <a:ext cx="201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65055" y="4121468"/>
            <a:ext cx="11187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throughput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" y="5581650"/>
            <a:ext cx="10763250" cy="533400"/>
          </a:xfrm>
          <a:prstGeom prst="roundRect">
            <a:avLst>
              <a:gd name="adj" fmla="val 17857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11555" y="5769292"/>
            <a:ext cx="27359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与 PyTorchSim 的对应关系：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97605" y="5769292"/>
            <a:ext cx="53085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FX/ATen → MLIR → TOG → TOGSim，正好提供了跨层观察点。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3770" y="630364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03.4 · MEDUSA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946906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Medusa：不是换芯片，而是重构算法的执行方式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6505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Medusa 直接针对 autoregressive decoding 的串行瓶颈，增加多个 heads 并行预测未来 token。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998" y="2211229"/>
            <a:ext cx="159787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26D85"/>
                </a:solidFill>
                <a:latin typeface="Arial"/>
                <a:ea typeface="Microsoft YaHei"/>
                <a:cs typeface="Arial"/>
              </a:rPr>
              <a:t>传统 decoding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667000"/>
            <a:ext cx="44767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9525">
            <a:solidFill>
              <a:srgbClr val="F26D85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123950" y="3171825"/>
            <a:ext cx="609600" cy="609600"/>
          </a:xfrm>
          <a:prstGeom prst="ellipse">
            <a:avLst/>
          </a:prstGeom>
          <a:solidFill>
            <a:srgbClr val="F26D85">
              <a:alpha val="25000"/>
            </a:srgbClr>
          </a:solidFill>
          <a:ln w="9525">
            <a:solidFill>
              <a:srgbClr val="F26D85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647950" y="3171825"/>
            <a:ext cx="609600" cy="609600"/>
          </a:xfrm>
          <a:prstGeom prst="ellipse">
            <a:avLst/>
          </a:prstGeom>
          <a:solidFill>
            <a:srgbClr val="F26D85">
              <a:alpha val="25000"/>
            </a:srgbClr>
          </a:solidFill>
          <a:ln w="9525">
            <a:solidFill>
              <a:srgbClr val="F26D85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4171950" y="3171825"/>
            <a:ext cx="609600" cy="609600"/>
          </a:xfrm>
          <a:prstGeom prst="ellipse">
            <a:avLst/>
          </a:prstGeom>
          <a:solidFill>
            <a:srgbClr val="F26D85">
              <a:alpha val="25000"/>
            </a:srgbClr>
          </a:solidFill>
          <a:ln w="9525">
            <a:solidFill>
              <a:srgbClr val="F26D85"/>
            </a:solidFill>
          </a:ln>
        </p:spPr>
      </p:sp>
      <p:sp>
        <p:nvSpPr>
          <p:cNvPr id="11" name="Line 11"/>
          <p:cNvSpPr/>
          <p:nvPr/>
        </p:nvSpPr>
        <p:spPr>
          <a:xfrm>
            <a:off x="1733550" y="3476625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F26D85"/>
            </a:solidFill>
          </a:ln>
        </p:spPr>
      </p:sp>
      <p:sp>
        <p:nvSpPr>
          <p:cNvPr id="12" name="Line 12"/>
          <p:cNvSpPr/>
          <p:nvPr/>
        </p:nvSpPr>
        <p:spPr>
          <a:xfrm>
            <a:off x="3257550" y="3476625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8575">
            <a:solidFill>
              <a:srgbClr val="F26D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339025" y="3423285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t1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1117" y="3423285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t2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5117" y="3423285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t3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5850" y="3879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串行依赖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27697" y="38790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重复读权重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33850" y="3879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低利用率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47498" y="2211229"/>
            <a:ext cx="196017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Medusa decoding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667500" y="2667000"/>
            <a:ext cx="44767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9525">
            <a:solidFill>
              <a:srgbClr val="36D6B5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7219950" y="3171825"/>
            <a:ext cx="609600" cy="609600"/>
          </a:xfrm>
          <a:prstGeom prst="ellipse">
            <a:avLst/>
          </a:prstGeom>
          <a:solidFill>
            <a:srgbClr val="36D6B5">
              <a:alpha val="25000"/>
            </a:srgbClr>
          </a:solidFill>
          <a:ln w="9525">
            <a:solidFill>
              <a:srgbClr val="36D6B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61314" y="342328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h</a:t>
            </a:r>
          </a:p>
        </p:txBody>
      </p:sp>
      <p:sp>
        <p:nvSpPr>
          <p:cNvPr id="23" name="Line 23"/>
          <p:cNvSpPr/>
          <p:nvPr/>
        </p:nvSpPr>
        <p:spPr>
          <a:xfrm>
            <a:off x="7829550" y="3000375"/>
            <a:ext cx="933450" cy="476250"/>
          </a:xfrm>
          <a:custGeom>
            <a:avLst/>
            <a:gdLst/>
            <a:ahLst/>
            <a:cxnLst/>
            <a:rect l="l" t="t" r="r" b="b"/>
            <a:pathLst>
              <a:path w="933450" h="476250">
                <a:moveTo>
                  <a:pt x="0" y="47625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36D6B5"/>
            </a:solidFill>
          </a:ln>
        </p:spPr>
      </p:sp>
      <p:sp>
        <p:nvSpPr>
          <p:cNvPr id="24" name="Line 24"/>
          <p:cNvSpPr/>
          <p:nvPr/>
        </p:nvSpPr>
        <p:spPr>
          <a:xfrm>
            <a:off x="7829550" y="3476625"/>
            <a:ext cx="933450" cy="9525"/>
          </a:xfrm>
          <a:custGeom>
            <a:avLst/>
            <a:gdLst/>
            <a:ahLst/>
            <a:cxnLst/>
            <a:rect l="l" t="t" r="r" b="b"/>
            <a:pathLst>
              <a:path w="933450" h="952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36D6B5"/>
            </a:solidFill>
          </a:ln>
        </p:spPr>
      </p:sp>
      <p:sp>
        <p:nvSpPr>
          <p:cNvPr id="25" name="Line 25"/>
          <p:cNvSpPr/>
          <p:nvPr/>
        </p:nvSpPr>
        <p:spPr>
          <a:xfrm>
            <a:off x="7829550" y="3476625"/>
            <a:ext cx="933450" cy="476250"/>
          </a:xfrm>
          <a:custGeom>
            <a:avLst/>
            <a:gdLst/>
            <a:ahLst/>
            <a:cxnLst/>
            <a:rect l="l" t="t" r="r" b="b"/>
            <a:pathLst>
              <a:path w="933450" h="476250">
                <a:moveTo>
                  <a:pt x="0" y="0"/>
                </a:moveTo>
                <a:lnTo>
                  <a:pt x="933450" y="476250"/>
                </a:lnTo>
              </a:path>
            </a:pathLst>
          </a:custGeom>
          <a:noFill/>
          <a:ln w="28575">
            <a:solidFill>
              <a:srgbClr val="36D6B5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8858250" y="2790825"/>
            <a:ext cx="419100" cy="419100"/>
          </a:xfrm>
          <a:prstGeom prst="ellipse">
            <a:avLst/>
          </a:prstGeom>
          <a:solidFill>
            <a:srgbClr val="36D6B5">
              <a:alpha val="25000"/>
            </a:srgbClr>
          </a:solidFill>
          <a:ln w="9525">
            <a:solidFill>
              <a:srgbClr val="36D6B5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858250" y="3267075"/>
            <a:ext cx="419100" cy="419100"/>
          </a:xfrm>
          <a:prstGeom prst="ellipse">
            <a:avLst/>
          </a:prstGeom>
          <a:solidFill>
            <a:srgbClr val="36D6B5">
              <a:alpha val="25000"/>
            </a:srgbClr>
          </a:solidFill>
          <a:ln w="9525">
            <a:solidFill>
              <a:srgbClr val="36D6B5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858250" y="3743325"/>
            <a:ext cx="419100" cy="419100"/>
          </a:xfrm>
          <a:prstGeom prst="ellipse">
            <a:avLst/>
          </a:prstGeom>
          <a:solidFill>
            <a:srgbClr val="36D6B5">
              <a:alpha val="25000"/>
            </a:srgbClr>
          </a:solidFill>
          <a:ln w="9525">
            <a:solidFill>
              <a:srgbClr val="36D6B5"/>
            </a:solidFill>
          </a:ln>
        </p:spPr>
      </p:sp>
      <p:sp>
        <p:nvSpPr>
          <p:cNvPr id="29" name="Line 29"/>
          <p:cNvSpPr/>
          <p:nvPr/>
        </p:nvSpPr>
        <p:spPr>
          <a:xfrm>
            <a:off x="9277350" y="3000375"/>
            <a:ext cx="1104900" cy="476250"/>
          </a:xfrm>
          <a:custGeom>
            <a:avLst/>
            <a:gdLst/>
            <a:ahLst/>
            <a:cxnLst/>
            <a:rect l="l" t="t" r="r" b="b"/>
            <a:pathLst>
              <a:path w="1104900" h="476250">
                <a:moveTo>
                  <a:pt x="0" y="0"/>
                </a:moveTo>
                <a:lnTo>
                  <a:pt x="1104900" y="476250"/>
                </a:lnTo>
              </a:path>
            </a:pathLst>
          </a:custGeom>
          <a:noFill/>
          <a:ln w="19050">
            <a:solidFill>
              <a:srgbClr val="4DA3FF"/>
            </a:solidFill>
          </a:ln>
        </p:spPr>
      </p:sp>
      <p:sp>
        <p:nvSpPr>
          <p:cNvPr id="30" name="Line 30"/>
          <p:cNvSpPr/>
          <p:nvPr/>
        </p:nvSpPr>
        <p:spPr>
          <a:xfrm>
            <a:off x="9277350" y="3476625"/>
            <a:ext cx="1104900" cy="9525"/>
          </a:xfrm>
          <a:custGeom>
            <a:avLst/>
            <a:gdLst/>
            <a:ahLst/>
            <a:cxnLst/>
            <a:rect l="l" t="t" r="r" b="b"/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/>
          <a:ln w="19050">
            <a:solidFill>
              <a:srgbClr val="4DA3FF"/>
            </a:solidFill>
          </a:ln>
        </p:spPr>
      </p:sp>
      <p:sp>
        <p:nvSpPr>
          <p:cNvPr id="31" name="Line 31"/>
          <p:cNvSpPr/>
          <p:nvPr/>
        </p:nvSpPr>
        <p:spPr>
          <a:xfrm>
            <a:off x="9277350" y="3476625"/>
            <a:ext cx="1104900" cy="476250"/>
          </a:xfrm>
          <a:custGeom>
            <a:avLst/>
            <a:gdLst/>
            <a:ahLst/>
            <a:cxnLst/>
            <a:rect l="l" t="t" r="r" b="b"/>
            <a:pathLst>
              <a:path w="1104900" h="476250">
                <a:moveTo>
                  <a:pt x="0" y="476250"/>
                </a:moveTo>
                <a:lnTo>
                  <a:pt x="1104900" y="0"/>
                </a:lnTo>
              </a:path>
            </a:pathLst>
          </a:custGeom>
          <a:noFill/>
          <a:ln w="19050">
            <a:solidFill>
              <a:srgbClr val="4DA3FF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10306050" y="3209925"/>
            <a:ext cx="533400" cy="533400"/>
          </a:xfrm>
          <a:prstGeom prst="ellipse">
            <a:avLst/>
          </a:prstGeom>
          <a:solidFill>
            <a:srgbClr val="4DA3FF">
              <a:alpha val="25000"/>
            </a:srgbClr>
          </a:solidFill>
          <a:ln w="9525">
            <a:solidFill>
              <a:srgbClr val="4DA3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307895" y="3421856"/>
            <a:ext cx="529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verify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143500"/>
            <a:ext cx="10382250" cy="666750"/>
          </a:xfrm>
          <a:prstGeom prst="roundRect">
            <a:avLst>
              <a:gd name="adj" fmla="val 17143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91552" y="5389721"/>
            <a:ext cx="15658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给我们的启发：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4155" y="5397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当瓶颈来自执行组织时，协同设计可以改变算法的执行图，而不只是改硬件旋钮。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03.5 · SNAPKV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807049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SnapKV：把内存保留策略也纳入协同设计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它不改主干网络，而是根据 attention 行为决定哪些 KV 继续留在内存中。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1050" y="2162175"/>
            <a:ext cx="1452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26D85"/>
                </a:solidFill>
                <a:latin typeface="Arial"/>
                <a:ea typeface="Microsoft YaHei"/>
                <a:cs typeface="Arial"/>
              </a:rPr>
              <a:t>Full KV cache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2571750"/>
            <a:ext cx="4476750" cy="1790700"/>
          </a:xfrm>
          <a:prstGeom prst="roundRect">
            <a:avLst>
              <a:gd name="adj" fmla="val 7447"/>
            </a:avLst>
          </a:prstGeom>
          <a:solidFill>
            <a:srgbClr val="162235"/>
          </a:solidFill>
          <a:ln w="9525">
            <a:solidFill>
              <a:srgbClr val="F26D8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2512" y="2888456"/>
            <a:ext cx="11951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prompt tokens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66800" y="3009900"/>
            <a:ext cx="3562350" cy="819150"/>
            <a:chOff x="1066800" y="3009900"/>
            <a:chExt cx="3562350" cy="819150"/>
          </a:xfrm>
        </p:grpSpPr>
        <p:sp>
          <p:nvSpPr>
            <p:cNvPr id="9" name="Rectangle 9"/>
            <p:cNvSpPr/>
            <p:nvPr/>
          </p:nvSpPr>
          <p:spPr>
            <a:xfrm>
              <a:off x="1066800" y="3333750"/>
              <a:ext cx="209550" cy="4953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71600" y="3219450"/>
              <a:ext cx="209550" cy="6096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676400" y="3105150"/>
              <a:ext cx="209550" cy="7239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81200" y="3276600"/>
              <a:ext cx="209550" cy="55245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286000" y="3028950"/>
              <a:ext cx="209550" cy="8001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90800" y="3181350"/>
              <a:ext cx="209550" cy="6477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95600" y="3048000"/>
              <a:ext cx="209550" cy="78105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00400" y="3238500"/>
              <a:ext cx="209550" cy="59055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05200" y="3105150"/>
              <a:ext cx="209550" cy="7239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10000" y="3286125"/>
              <a:ext cx="209550" cy="542925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14800" y="3009900"/>
              <a:ext cx="209550" cy="81915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19600" y="3219450"/>
              <a:ext cx="209550" cy="609600"/>
            </a:xfrm>
            <a:prstGeom prst="rect">
              <a:avLst/>
            </a:prstGeom>
            <a:solidFill>
              <a:srgbClr val="F26D85">
                <a:alpha val="35000"/>
              </a:srgbClr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52512" y="405050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memory footprint grows with context</a:t>
            </a:r>
          </a:p>
        </p:txBody>
      </p:sp>
      <p:sp>
        <p:nvSpPr>
          <p:cNvPr id="23" name="Freeform 23"/>
          <p:cNvSpPr/>
          <p:nvPr/>
        </p:nvSpPr>
        <p:spPr>
          <a:xfrm>
            <a:off x="5524500" y="3476625"/>
            <a:ext cx="990600" cy="9525"/>
          </a:xfrm>
          <a:custGeom>
            <a:avLst/>
            <a:gdLst/>
            <a:ahLst/>
            <a:cxnLst/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6D6B5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6362700" y="33909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86706" y="3032760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attention observation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96100" y="2162175"/>
            <a:ext cx="31434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Selected and compressed KV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15150" y="2571750"/>
            <a:ext cx="4476750" cy="1790700"/>
          </a:xfrm>
          <a:prstGeom prst="roundRect">
            <a:avLst>
              <a:gd name="adj" fmla="val 7447"/>
            </a:avLst>
          </a:prstGeom>
          <a:solidFill>
            <a:srgbClr val="162235"/>
          </a:solidFill>
          <a:ln w="9525">
            <a:solidFill>
              <a:srgbClr val="36D6B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67562" y="2888456"/>
            <a:ext cx="33722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Consolas"/>
                <a:ea typeface="Microsoft YaHei"/>
                <a:cs typeface="Consolas"/>
              </a:rPr>
              <a:t>important positions + observation window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181850" y="3009900"/>
            <a:ext cx="3562350" cy="819150"/>
            <a:chOff x="7181850" y="3009900"/>
            <a:chExt cx="3562350" cy="819150"/>
          </a:xfrm>
        </p:grpSpPr>
        <p:sp>
          <p:nvSpPr>
            <p:cNvPr id="29" name="Rectangle 29"/>
            <p:cNvSpPr/>
            <p:nvPr/>
          </p:nvSpPr>
          <p:spPr>
            <a:xfrm>
              <a:off x="7181850" y="3333750"/>
              <a:ext cx="209550" cy="495300"/>
            </a:xfrm>
            <a:prstGeom prst="rect">
              <a:avLst/>
            </a:prstGeom>
            <a:solidFill>
              <a:srgbClr val="36D6B5">
                <a:alpha val="45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91450" y="3105150"/>
              <a:ext cx="209550" cy="723900"/>
            </a:xfrm>
            <a:prstGeom prst="rect">
              <a:avLst/>
            </a:prstGeom>
            <a:solidFill>
              <a:srgbClr val="36D6B5">
                <a:alpha val="45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705850" y="3028950"/>
              <a:ext cx="209550" cy="800100"/>
            </a:xfrm>
            <a:prstGeom prst="rect">
              <a:avLst/>
            </a:prstGeom>
            <a:solidFill>
              <a:srgbClr val="36D6B5">
                <a:alpha val="45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620250" y="3238500"/>
              <a:ext cx="209550" cy="590550"/>
            </a:xfrm>
            <a:prstGeom prst="rect">
              <a:avLst/>
            </a:prstGeom>
            <a:solidFill>
              <a:srgbClr val="36D6B5">
                <a:alpha val="45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534650" y="3009900"/>
              <a:ext cx="209550" cy="819150"/>
            </a:xfrm>
            <a:prstGeom prst="rect">
              <a:avLst/>
            </a:prstGeom>
            <a:solidFill>
              <a:srgbClr val="36D6B5">
                <a:alpha val="45000"/>
              </a:srgbClr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167562" y="4050506"/>
            <a:ext cx="29285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less memory traffic, similar quality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0100" y="5219700"/>
            <a:ext cx="10591800" cy="609600"/>
          </a:xfrm>
          <a:prstGeom prst="roundRect">
            <a:avLst>
              <a:gd name="adj" fmla="val 18750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29652" y="5437346"/>
            <a:ext cx="245092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对 PyTorchSim 的启发：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11855" y="5445442"/>
            <a:ext cx="64028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workload 还应描述 KV / DRAM / SPAD 行为，而不只是模型名和 shape。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03.6 · SYNTHESIS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1016835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这些工作优化的对象不同，但都在回答“瓶颈在哪里”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137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不能用“覆盖层次更多”给方法排高低；研究价值来自清晰的问题、具体机制和可验证的收益。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047875"/>
            <a:ext cx="11049000" cy="3476625"/>
          </a:xfrm>
          <a:prstGeom prst="roundRect">
            <a:avLst>
              <a:gd name="adj" fmla="val 3288"/>
            </a:avLst>
          </a:prstGeom>
          <a:solidFill>
            <a:srgbClr val="162235"/>
          </a:solidFill>
          <a:ln w="9525">
            <a:solidFill>
              <a:srgbClr val="2A3A5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2047875"/>
            <a:ext cx="11049000" cy="457200"/>
          </a:xfrm>
          <a:prstGeom prst="roundRect">
            <a:avLst>
              <a:gd name="adj" fmla="val 25000"/>
            </a:avLst>
          </a:prstGeom>
          <a:solidFill>
            <a:srgbClr val="24365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2958" y="2205514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工作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5558" y="22055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主要改变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17808" y="22055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具体机制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99208" y="22055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给我们的启发</a:t>
            </a:r>
          </a:p>
        </p:txBody>
      </p:sp>
      <p:sp>
        <p:nvSpPr>
          <p:cNvPr id="12" name="Line 12"/>
          <p:cNvSpPr/>
          <p:nvPr/>
        </p:nvSpPr>
        <p:spPr>
          <a:xfrm>
            <a:off x="571500" y="3000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13" name="Line 13"/>
          <p:cNvSpPr/>
          <p:nvPr/>
        </p:nvSpPr>
        <p:spPr>
          <a:xfrm>
            <a:off x="571500" y="34956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14" name="Line 14"/>
          <p:cNvSpPr/>
          <p:nvPr/>
        </p:nvSpPr>
        <p:spPr>
          <a:xfrm>
            <a:off x="571500" y="39909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15" name="Line 15"/>
          <p:cNvSpPr/>
          <p:nvPr/>
        </p:nvSpPr>
        <p:spPr>
          <a:xfrm>
            <a:off x="571500" y="44862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16" name="Line 16"/>
          <p:cNvSpPr/>
          <p:nvPr/>
        </p:nvSpPr>
        <p:spPr>
          <a:xfrm>
            <a:off x="571500" y="49815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99148" y="2649379"/>
            <a:ext cx="83705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Georgia"/>
                <a:ea typeface="Microsoft YaHei"/>
                <a:cs typeface="Georgia"/>
              </a:rPr>
              <a:t>SkyNet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55558" y="26817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网络结构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7808" y="2681764"/>
            <a:ext cx="11589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Bundle + PSO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99208" y="2681764"/>
            <a:ext cx="9634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局部预评估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9148" y="3144679"/>
            <a:ext cx="43853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Georgia"/>
                <a:ea typeface="Microsoft YaHei"/>
                <a:cs typeface="Georgia"/>
              </a:rPr>
              <a:t>EDD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55558" y="3177064"/>
            <a:ext cx="9913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网络 + 实现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7808" y="31770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可微联合搜索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99208" y="3177064"/>
            <a:ext cx="14289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联合 cost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9148" y="3639979"/>
            <a:ext cx="51098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4DA3FF"/>
                </a:solidFill>
                <a:latin typeface="Georgia"/>
                <a:ea typeface="Microsoft YaHei"/>
                <a:cs typeface="Georgia"/>
              </a:rPr>
              <a:t>HIDA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55558" y="36723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程序映射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17808" y="3672364"/>
            <a:ext cx="16431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分层 IR + dataflow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9208" y="36723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跨层表示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9148" y="4135279"/>
            <a:ext cx="8853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Georgia"/>
                <a:ea typeface="Microsoft YaHei"/>
                <a:cs typeface="Georgia"/>
              </a:rPr>
              <a:t>Medusa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5558" y="41676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解码执行算法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17808" y="4167664"/>
            <a:ext cx="21738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多头 + tree verification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99208" y="41676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改变执行组织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9148" y="4630579"/>
            <a:ext cx="83705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A78BFA"/>
                </a:solidFill>
                <a:latin typeface="Georgia"/>
                <a:ea typeface="Microsoft YaHei"/>
                <a:cs typeface="Georgia"/>
              </a:rPr>
              <a:t>SnapKV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55558" y="46629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内存保留策略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17808" y="4662964"/>
            <a:ext cx="275110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attention-guided compression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99208" y="46629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数据生命周期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9148" y="5125879"/>
            <a:ext cx="82497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36D6B5"/>
                </a:solidFill>
                <a:latin typeface="Georgia"/>
                <a:ea typeface="Microsoft YaHei"/>
                <a:cs typeface="Georgia"/>
              </a:rPr>
              <a:t>Lumina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55558" y="51582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搜索过程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17808" y="5158264"/>
            <a:ext cx="17362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源码先验 + 瓶颈闭环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9208" y="5158264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减少模拟次数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2450" y="5857875"/>
            <a:ext cx="94232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组合方式：A3C3 定义设计空间，Lumina 决定下一次昂贵实验，PyTorchSim 提供跨层证据。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04 · OUR SLICE OF A3C3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894459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我们的切入点：固定算法拓扑，联合搜索 I × 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83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目标不是一开始覆盖全部 A3C3，而是先把可控、可测、可解释的子问题做实。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90550" y="2038350"/>
            <a:ext cx="2476500" cy="2724150"/>
          </a:xfrm>
          <a:prstGeom prst="roundRect">
            <a:avLst>
              <a:gd name="adj" fmla="val 5385"/>
            </a:avLst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68680" y="2249805"/>
            <a:ext cx="95505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A = A₀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4395" y="28508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固定算法拓扑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9158" y="3329464"/>
            <a:ext cx="10658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GPT-2 block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9158" y="3605689"/>
            <a:ext cx="11682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ResNet block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9158" y="3881914"/>
            <a:ext cx="16989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Conv / GEMM motif</a:t>
            </a:r>
          </a:p>
        </p:txBody>
      </p:sp>
      <p:sp>
        <p:nvSpPr>
          <p:cNvPr id="12" name="Freeform 12"/>
          <p:cNvSpPr/>
          <p:nvPr/>
        </p:nvSpPr>
        <p:spPr>
          <a:xfrm>
            <a:off x="3219450" y="3390900"/>
            <a:ext cx="1162050" cy="9525"/>
          </a:xfrm>
          <a:custGeom>
            <a:avLst/>
            <a:gdLst/>
            <a:ahLst/>
            <a:cxnLst/>
            <a:rect l="l" t="t" r="r" b="b"/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229100" y="33051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514850" y="2038350"/>
            <a:ext cx="3143250" cy="2724150"/>
          </a:xfrm>
          <a:prstGeom prst="roundRect">
            <a:avLst>
              <a:gd name="adj" fmla="val 4895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2030" y="224980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DA3FF"/>
                </a:solidFill>
                <a:latin typeface="Consolas"/>
                <a:ea typeface="Microsoft YaHei"/>
                <a:cs typeface="Consolas"/>
              </a:rPr>
              <a:t>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8745" y="2298382"/>
            <a:ext cx="19016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Implementation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22508" y="2929414"/>
            <a:ext cx="14289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tiling / mapping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22508" y="3205639"/>
            <a:ext cx="16245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fusion / dataflow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22508" y="3481864"/>
            <a:ext cx="13638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DMA / schedule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696075" y="3848100"/>
            <a:ext cx="400050" cy="457200"/>
            <a:chOff x="6696075" y="3848100"/>
            <a:chExt cx="400050" cy="457200"/>
          </a:xfrm>
        </p:grpSpPr>
        <p:sp>
          <p:nvSpPr>
            <p:cNvPr id="20" name="Freeform 20"/>
            <p:cNvSpPr/>
            <p:nvPr/>
          </p:nvSpPr>
          <p:spPr>
            <a:xfrm>
              <a:off x="6696075" y="3848100"/>
              <a:ext cx="400050" cy="228600"/>
            </a:xfrm>
            <a:custGeom>
              <a:avLst/>
              <a:gdLst/>
              <a:ahLst/>
              <a:cxnLst/>
              <a:rect l="l" t="t" r="r" b="b"/>
              <a:pathLst>
                <a:path w="400050" h="228600">
                  <a:moveTo>
                    <a:pt x="0" y="142875"/>
                  </a:move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42875"/>
                  </a:lnTo>
                  <a:lnTo>
                    <a:pt x="200025" y="228600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696075" y="4162425"/>
              <a:ext cx="400050" cy="142875"/>
            </a:xfrm>
            <a:custGeom>
              <a:avLst/>
              <a:gdLst/>
              <a:ahLst/>
              <a:cxnLst/>
              <a:rect l="l" t="t" r="r" b="b"/>
              <a:pathLst>
                <a:path w="400050" h="142875">
                  <a:moveTo>
                    <a:pt x="200025" y="142875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200025" y="85725"/>
                  </a:lnTo>
                  <a:lnTo>
                    <a:pt x="400050" y="0"/>
                  </a:lnTo>
                  <a:lnTo>
                    <a:pt x="400050" y="57150"/>
                  </a:lnTo>
                  <a:lnTo>
                    <a:pt x="200025" y="142875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696075" y="4048125"/>
              <a:ext cx="400050" cy="142875"/>
            </a:xfrm>
            <a:custGeom>
              <a:avLst/>
              <a:gdLst/>
              <a:ahLst/>
              <a:cxnLst/>
              <a:rect l="l" t="t" r="r" b="b"/>
              <a:pathLst>
                <a:path w="400050" h="142875">
                  <a:moveTo>
                    <a:pt x="0" y="57150"/>
                  </a:moveTo>
                  <a:lnTo>
                    <a:pt x="200025" y="142875"/>
                  </a:lnTo>
                  <a:lnTo>
                    <a:pt x="400050" y="57150"/>
                  </a:lnTo>
                  <a:lnTo>
                    <a:pt x="400050" y="0"/>
                  </a:lnTo>
                  <a:lnTo>
                    <a:pt x="200025" y="85725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24" name="Freeform 24"/>
          <p:cNvSpPr/>
          <p:nvPr/>
        </p:nvSpPr>
        <p:spPr>
          <a:xfrm>
            <a:off x="7810500" y="3390900"/>
            <a:ext cx="1162050" cy="9525"/>
          </a:xfrm>
          <a:custGeom>
            <a:avLst/>
            <a:gdLst/>
            <a:ahLst/>
            <a:cxnLst/>
            <a:rect l="l" t="t" r="r" b="b"/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820150" y="33051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9105900" y="2038350"/>
            <a:ext cx="2495550" cy="2724150"/>
          </a:xfrm>
          <a:prstGeom prst="roundRect">
            <a:avLst>
              <a:gd name="adj" fmla="val 5344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03080" y="22498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89795" y="2298382"/>
            <a:ext cx="12058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Hardware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13558" y="2929414"/>
            <a:ext cx="11031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SPAD / DRAM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13558" y="3205639"/>
            <a:ext cx="7586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NoC / PE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3558" y="3481864"/>
            <a:ext cx="19317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bandwidth / capacity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763250" y="38481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00025" y="200025"/>
                </a:moveTo>
                <a:lnTo>
                  <a:pt x="228600" y="0"/>
                </a:lnTo>
                <a:lnTo>
                  <a:pt x="171450" y="0"/>
                </a:lnTo>
                <a:lnTo>
                  <a:pt x="0" y="200025"/>
                </a:lnTo>
                <a:lnTo>
                  <a:pt x="0" y="257175"/>
                </a:lnTo>
                <a:lnTo>
                  <a:pt x="142875" y="257175"/>
                </a:lnTo>
                <a:lnTo>
                  <a:pt x="114300" y="457200"/>
                </a:lnTo>
                <a:lnTo>
                  <a:pt x="171450" y="457200"/>
                </a:lnTo>
                <a:lnTo>
                  <a:pt x="342900" y="257175"/>
                </a:lnTo>
                <a:lnTo>
                  <a:pt x="342900" y="200025"/>
                </a:lnTo>
                <a:lnTo>
                  <a:pt x="200025" y="200025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90550" y="5257800"/>
            <a:ext cx="11010900" cy="704850"/>
          </a:xfrm>
          <a:prstGeom prst="roundRect">
            <a:avLst>
              <a:gd name="adj" fmla="val 16216"/>
            </a:avLst>
          </a:prstGeom>
          <a:solidFill>
            <a:srgbClr val="1B2B4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8200" y="5419725"/>
            <a:ext cx="19769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min Cost(A₀, I, H)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88105" y="5435918"/>
            <a:ext cx="48890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TOG structure + cycles + memory + critical path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2962" y="5726906"/>
            <a:ext cx="52042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核心判据：换硬件，最优 mapping 是否迁移？mapping 排名是否重排？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57245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05 · NEXT EXPERIMENT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205" y="797242"/>
            <a:ext cx="1318402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下一步：从全量 sweep 转向 TOG-aware、bottleneck-driven DSE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8618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组合 A3C3 的设计空间与 Lumina 的低样本搜索，把 PyTorchSim 变成可学习的实验环境。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209800"/>
            <a:ext cx="20002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4DA3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81050" y="2466975"/>
            <a:ext cx="1751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DA3FF"/>
                </a:solidFill>
                <a:latin typeface="Arial"/>
                <a:ea typeface="Microsoft YaHei"/>
                <a:cs typeface="Arial"/>
              </a:rPr>
              <a:t>① Influence 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4860" y="29565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compiler knob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4860" y="32232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→ MLIR / TOG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4860" y="3489960"/>
            <a:ext cx="16165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→ simulator metric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90800" y="3019425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4DA3FF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2876550" y="2933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143250" y="2209800"/>
            <a:ext cx="20002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A78BF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352800" y="2466975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② Motif probes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56610" y="29565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GEMM / Conv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56610" y="3223260"/>
            <a:ext cx="12485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attention / KV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56610" y="348996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small measured set</a:t>
            </a:r>
          </a:p>
        </p:txBody>
      </p:sp>
      <p:sp>
        <p:nvSpPr>
          <p:cNvPr id="18" name="Freeform 18"/>
          <p:cNvSpPr/>
          <p:nvPr/>
        </p:nvSpPr>
        <p:spPr>
          <a:xfrm>
            <a:off x="5162550" y="3019425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A78BFA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5448300" y="2933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0" y="2209800"/>
            <a:ext cx="20002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FFB454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924550" y="2466975"/>
            <a:ext cx="1947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B454"/>
                </a:solidFill>
                <a:latin typeface="Arial"/>
                <a:ea typeface="Microsoft YaHei"/>
                <a:cs typeface="Arial"/>
              </a:rPr>
              <a:t>③ Surrogate rank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28360" y="29565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预测 cycles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28360" y="3223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识别瓶颈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360" y="3489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选信息量最大点</a:t>
            </a:r>
          </a:p>
        </p:txBody>
      </p:sp>
      <p:sp>
        <p:nvSpPr>
          <p:cNvPr id="25" name="Freeform 25"/>
          <p:cNvSpPr/>
          <p:nvPr/>
        </p:nvSpPr>
        <p:spPr>
          <a:xfrm>
            <a:off x="7734300" y="3019425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FFB454"/>
            </a:solidFill>
          </a:ln>
        </p:spPr>
      </p:sp>
      <p:sp>
        <p:nvSpPr>
          <p:cNvPr id="26" name="Polygon 26"/>
          <p:cNvSpPr/>
          <p:nvPr/>
        </p:nvSpPr>
        <p:spPr>
          <a:xfrm>
            <a:off x="8020050" y="2933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FFB454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286750" y="2209800"/>
            <a:ext cx="2000250" cy="1619250"/>
          </a:xfrm>
          <a:prstGeom prst="roundRect">
            <a:avLst>
              <a:gd name="adj" fmla="val 8235"/>
            </a:avLst>
          </a:prstGeom>
          <a:solidFill>
            <a:srgbClr val="162235"/>
          </a:solidFill>
          <a:ln w="19050">
            <a:solidFill>
              <a:srgbClr val="36D6B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496300" y="2466975"/>
            <a:ext cx="18668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④ Measured gate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0110" y="2956560"/>
            <a:ext cx="10382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TOGSim 验证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0110" y="3223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更新轨迹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00110" y="34899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排除假阳性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306050" y="3019425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36D6B5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10591800" y="2933700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36D6B5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10858500" y="2209800"/>
            <a:ext cx="762000" cy="1619250"/>
          </a:xfrm>
          <a:prstGeom prst="roundRect">
            <a:avLst>
              <a:gd name="adj" fmla="val 17500"/>
            </a:avLst>
          </a:prstGeom>
          <a:solidFill>
            <a:srgbClr val="162235"/>
          </a:solidFill>
          <a:ln w="9525">
            <a:solidFill>
              <a:srgbClr val="F4F7F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0880762" y="25784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Pareto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29461" y="2983706"/>
            <a:ext cx="620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AB8CC"/>
                </a:solidFill>
                <a:latin typeface="Arial"/>
                <a:ea typeface="Microsoft YaHei"/>
                <a:cs typeface="Arial"/>
              </a:rPr>
              <a:t>verdict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629150"/>
            <a:ext cx="11049000" cy="1066800"/>
          </a:xfrm>
          <a:prstGeom prst="roundRect">
            <a:avLst>
              <a:gd name="adj" fmla="val 12500"/>
            </a:avLst>
          </a:prstGeom>
          <a:solidFill>
            <a:srgbClr val="1B2B40"/>
          </a:solidFill>
          <a:ln w="9525">
            <a:solidFill>
              <a:srgbClr val="2A3A52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17245" y="485108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第一阶段的研究问题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0102" y="5256371"/>
            <a:ext cx="958896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6D6B5"/>
                </a:solidFill>
                <a:latin typeface="Arial"/>
                <a:ea typeface="Microsoft YaHei"/>
                <a:cs typeface="Arial"/>
              </a:rPr>
              <a:t>少量 TOGSim measured runs，能否预测并筛掉大部分不可能成为 Pareto 最优的 HW × mapping 组合？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770" y="63036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