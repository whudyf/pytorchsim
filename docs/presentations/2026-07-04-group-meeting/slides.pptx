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大家好，本次组会我汇报最近两条研究主线的进展。第一条是 PyTorchSim 上的硬件软件协同设计实验，我们拿到了第一份 measured POSITIVE 证据。第二条是 Lumina 论文 QualE 模块的最小复现，我们得到了两个方向相反的 NEGATIVE，同时也理清了论文原意与我们实现之间的四大错位。今天大约十五分钟。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汇报分四个部分。首先花四页介绍 PyTorchSim 与 Lumina 各自的架构、以及为什么从 GPU 迁移到 NPU 这条研究路径和迁移中需要关注的新问题。然后用六页展开 PyTorchSim 主线的完整证据链，从 v1 NEGATIVE 到 fusion 与硬件配置形成 measured 交互作用的 POSITIVE。接着用四页讲 Lumina QualE 复现的两次失败模式和背后的 Gap Analysis。最后两页做方法论总结和下一步。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我们先建立共同语境。PyTorchSim 是 POSTECH 提出的一个 NPU 模拟框架，它把 PyTorch 模型经过 PyTorch2 编译器生成 NPU 机器码和 Tile-Operation Graph，然后 TOGSim 执行这个 TOG 做高速仿真，同时集成 BookSim 建 NoC、Ramulator2 建 DRAM，保证共享资源是周期精确的。核心创新叫 Tile-Level Simulation，本质是利用 tile 计算延迟的确定性。原论文相对 TPUv3 的 runtime 平均绝对误差是百分之十一点五。对我们的工作来说重要的是，它给出了一个可以无源码切换编译器优化、mapping、以及 L2 cache 的实验平台，这是后面所有协同设计实验的基础设施。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是 2026 年 arXiv 的一篇 LLM 辅助 GPU 架构探索的论文，它使用的仿真器是 LLMCompass，不是通用的 gpgpu-sim 或 Accel-Sim。这一点后面会成为核心 gap，请大家先记住。它的框架有四个模块：QualE 从仿真器源码提取架构参数到 PPA 指标的定性因果图，QuanE 跑 micro-benchmark 把定性边填上定量灵敏度系数，SE 从 critical path 挑选瓶颈选择改哪些 knob，EE 做闭环探索并返回一个 Pareto set。整个框架靠迭代式知识积累。QualE 是四个模块里最前端的一步，我们本次只复现它。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看完两个 framework，我先交代一下为什么这条研究路径要从 GPU 换到 NPU。我们过去在 GPU 客体上做过 DSE 类工作，包括 gpgpu-sim 和 Accel-Sim。今天要复现的 Lumina QualE 客体依然是 GPU 仿真器，所以 GPU 这条线不是完全放下、而是延续。但主线换到了 NPU，具体有两个动机。第一，GPU 架构研究趋于饱和，主流微架构基本定型，DSE 和编译器方向的边际收益递减。第二，硬件软件协同设计在 NPU 上才真正可行，因为 NPU 的编译器栈是自研可控的、ISA 可以扩展、硬件参数是通过 YAML 暴露给我们的，所以我们能真正做架构选择、而不是在既定的 CUDA 与已固化的 GPU 微架构上小修小补。总结一句：迁移的核心逻辑是从被锁死的架构走到可控的架构。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迁到 NPU 之后，第一件需要重新思考的事情是抽象层次。GPU 侧我们习惯的抽象是 kernel、CTA、warp、SIMT lane，profiling 单位是 warp 利用率、divergence、L1/L2 hit rate，nsys 和 nsight 这一套工具积累了几十年。NPU 侧 PyTorchSim 的抽象是模型经过编译器生成 MLIR 或 TOG op，然后展开成 tile，最底层落到 RISC-V 向量指令。profiling 单位变成 tile 级 cycle 和 TOG 节点间的执行依赖，工具链还在演进中。核心差异是 GPU 是动态 SIMT 调度，NPU 是编译期静态 tile 图加确定性 latency。由此带来三个新问题：第一，critical path 定义变了，我们后面 P11 会看到 GPT-2 里 fusion 不在 critical path 就是这类问题的直接体现；第二，编译器暴露面有限，很多 axis 在源码里是 hardcode，这是 P09 会展开的 discovery；第三，measured 方法论要重新建立，GPU 时代的 baseline 和 verdict 判据不能直接搬到 tile-level 语境。这三个新问题正好对应 Part B 的 co-design axis 搜索和 Part C 的 validator 方法论迁移。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B 主线的核心问题是：在 PyTorchSim 上，给定 workload 和硬件配置空间，硬件软件协同设计是否显著优于在固定硬件上单独调 workload 或者反过来的组合。判据是 measured 数据，Gate 2b 相对 range 超过 15 个百分点才算 significant interaction。我们明确不接受占位、模型推导、待测量、或者空 telemetry 这四种数据来源。上一版 v1 已经在 tiling-only 空间给出 NEGATIVE，所以 Route 4 的目标是扩展到贴近真实编译器控制面的修改维度。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 evidence chain 的起点。v1 的 setup 是 GPT-2 单个 block 的 prefill、序列长度 128、tiling-only 的二乘二 SPAD 与带宽搜索空间。commit 92623de 初次判决 NEGATIVE，commit 09b9ac3 在 10 个百分点的 Gate 1 阈值下重算，NEGATIVE 保持。verdict 名字叫 FUSION_TILING_ONLY_NEGATIVE，注意名字里明确带了 TILING_ONLY 前缀，这是 scope-aware 命名的关键。它告诉我们的下一步不是放弃 co-design，而是换 axis。这就自然导出 Route 4 探索四个编译器修改维度。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Route 4 的 discovery 阶段全面盘点了四个候选轴。fusion 有 YAML 字段 codegen_compiler_optimization，可以设 none、all、或者部分子集，零源码修改，是唯一实测通过的轴。dataflow 主路径是固定的 weight-stationary WS_MESH，没有暴露 output-stationary 或 input-stationary 的 YAML 字段，改起来要动 300 到 800 行源码。SPAD partition 现在只有容量字段没有 partition strategy 字段，模板里 input/weight/output buffer 是硬编码的。DMA schedule 也没有 prefetch 或者 double buffer 字段。所以 Route 4 主线聚焦到 fusion 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这是本次工作最关键的一张证据。commit 79e6259 的 Conv 3x3 4 硬件配置 × 2 fusion 状态的 sweep。workload 是 shape [1, 64, 56, 56] 的 Conv，functional mode 等于零，seed 等于零，每个 cell 跑 5 次取中位数，mapping 是 harness default。四个硬件配置上的 fusion 加速比分别是：HW-A 6.90×，HW-B 4.83×，HW-C 6.26×，HW-D 5.25×。fusion_speedup_range 的相对 range 是 42.7 个百分点，远超 15 个百分点阈值。gate2b_ratio_fusion 等于 0.523，Gate 2b pass。verdict 名叫 FUSION_CONV_CODESIGN_POSITIVE，这是本项目第一份 measured 协同设计 POSITIVE 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 fusion 轴在不同 workload 上差异非常大。addmm+relu 128 大概是 2 倍的弱信号。GPT-2 block 序列长度 128 只有 1.02 倍，也就是 1.9 个百分点，被判定为 NOT_GENERALIZABLE_ON_GPT2。Conv 3x3 probe 是 6.84 倍的强信号。commit ce5f0e3 的根因调查发现，GPT-2 里 fusion 结构上生效，MLIR op count 减少了 7.8 个百分点，说明 fusion 不是 no-op，但是它变化的部分不在 critical path 上，所以端到端 timing 不变。Conv 3x3 是 compute-bound、序列短，fusion 直接落在 critical path 上，所以效果强。这个对比是本次工作最重要的一个 methodological 结论：协同设计的价值是 workload-dependent 加 axis-dependent，不是普适性质。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按学术诚实原则，POSITIVE 声明必须与五条 scope limit 一同引用，未来任何论文或外部引用都要带上。第一，只在 Conv 3x3 kernel-level 上成立，不代表端到端 ResNet 或 MobileNet。第二，只用了 harness 默认 mapping，没有做 multi-mapping ranking，所以不能声称正式的 Gate 3 ranking interaction。第三，只有 mode 等于零的 timing 证据，mode 等于一的 correctness 因为 Spike 的 --varch source blocker 仍然 deferred。第四，只覆盖了 codesign_v1_2x2 的 A、B、C、D 四个 corner，没有覆盖连续空间。第五，只有 fusion 轴 POSITIVE，dataflow、SPAD partition、DMA schedule 都还没 demonstrated。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 Part C。QualE 复现的核心问题是：在严格 Spec Coding 约束下，原论文的 R1、R2、R3 三条机器验证规则是否足以从 GPU 仿真器源码提取真实可用的架构到 PPA 因果图。判据是至少 60 个百分点的 edge 通过人工语义抽检，低于 30 个百分点直接 NEGATIVE。工程约束我们卡得很死，前一版复现是 22 份 spec、5600 行代码的过度工程，这次总代码 671 行、6 个核心模块、3 个 CLI 脚本，明确禁止 provider registry、cache manifest、retry ledger 这些自证式 bookkeeping。整个流程组织成四个 Milestone Gate：A 是 control 用 gold-standard packet，B 是 real LLM 在 6 个 packet 上跑，C 是 validator 三条规则判定，D 是 verdict 加人工语义抽检。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v1 的结果是失败模式一：机器验证 86 分之 86，也就是百分之百通过，看起来非常漂亮，但人工语义抽检 pass_ratio 只有 0.20，硬触发 No-Go 阈值。判决是 NO_GO_NEGATIVE，属于假阳性。根因是三条规则各自太松。R1 的 symbol 匹配把 DDR 时序常量 tRAS、tRCD 这些误判成 arch knob，因为 gpgpu-sim 是老代码库，DRAM 常量和现代 m_ 前缀命名混在一起。R2 的 PPA 白名单太宽，几乎所有内部 counter 都能作为 target，让 LLM 可以给任何 knob 到任何 counter 编造一个 fake 因果。R3 只做 substring 匹配，只要 evidence_text 里出现 knob 名就 pass，注释、debug print、无关分支都能匹配。表面 pass，实际很多不是因果。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v2 我们做了一步补救：加了 R4 命名 pattern 分类器，只把符合 m_config_ 或 CONFIG_ 这类现代命名 pattern 的 symbol 判为 knob。结果 11 条 edge 语义抽检百分百通过，但覆盖率从 6 分之 6 崩到 6 分之 1，AC-C3 硬 Go 条件失败，判决还是 NO_GO_NEGATIVE，这次属于假阴性，方向和 v1 正好相反。副作用是 pattern 只匹配现代命名，gpgpu-sim 里许多真 knob 用的是老命名比如 n_sets、n_ways、line_size，R4 全部误伤剔除掉了。合起来的结论是：任何单一规则式 validator 都无法通吃异质命名规范的老代码库。我们必须放弃规则式，转向 AST 分析或者 LLM 两步 prompt。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但是 v1 和 v2 的 NEGATIVE 不能作为对 Lumina QualE 方法论本身的否定，因为我们的实现与论文原意有四大深度错位。第一，仿真器不同：我们用 gpgpu-sim 或 Accel-Sim，论文用 LLMCompass。第二，knob 定义不同：我们抓 C++ 里 m_ 前缀成员变量，论文抓 LLMCompass 定义的架构参数。第三，PPA 指标不同：我们看仿真器内部 counter，论文看 LLMCompass 的输出指标加 critical path。第四，scope 不同：我们只做 QualE 单独实验没有下游，论文有 QualE 加 QuanE 加 SE 加 EE 的闭环。v3 方案是切换到 LLMCompass，直接闭合 Gap 1、2、3；Gap 4 是有意识的分阶段。v1、v2 的工程流程包括 spec-first、gate、measured artifact、TDD 全部 carry over。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最后总结。两条主线的共同方法论贡献有三点：一是 Spec Coding，以 measured 数据为唯一 claim-bearing 源，不接受 modeled、placeholder、pending 冒充；二是 Gate-based verdict，四种诚实终态 POSITIVE、NEGATIVE、PARTIAL、BLOCKED；三是 scope limit 强制引用。PyTorchSim 主线的下一步是扩展 dataflow、SPAD partition、DMA schedule 三个尚未 demonstrated 的轴，同时扩大 workload 覆盖到 ResNet 和 MobileNet，然后做 multi-mapping ranking 来跑正式的 Gate 3。Lumina 主线下一步是切换到 LLMCompass 做 v3，放弃规则式 validator，分阶段接入 QuanE、SE、EE。总的一句话是：POSITIVE 和 NEGATIVE 都是诚实的科研结论，都要保留、都要引用 scope、都要指导下一步。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汇报到这里，欢迎讨论。我特别想听大家对以下几个方向的意见：任一 gate 判决细节的合理性，如何在 dataflow、SPAD、DMA 三个 axis 上跑通 POSITIVE，LLMCompass v3 setup 可能的 pitfalls，以及方法论迁移到其它仿真器上的可行性。谢谢。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3A5F">
                    <a:alpha val="10000"/>
                  </a:srgbClr>
                </a:gs>
                <a:gs pos="100000">
                  <a:srgbClr val="1E3A5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333500" cy="6858000"/>
            <a:chOff x="0" y="0"/>
            <a:chExt cx="13335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143000"/>
              <a:ext cx="762000" cy="38100"/>
            </a:xfrm>
            <a:prstGeom prst="rect">
              <a:avLst/>
            </a:prstGeom>
            <a:solidFill>
              <a:srgbClr val="0076A8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20065" y="1753552"/>
            <a:ext cx="7431586" cy="1489710"/>
            <a:chOff x="520065" y="1753552"/>
            <a:chExt cx="7431586" cy="1489710"/>
          </a:xfrm>
        </p:grpSpPr>
        <p:sp>
          <p:nvSpPr>
            <p:cNvPr id="8" name="TextBox 8"/>
            <p:cNvSpPr txBox="1"/>
            <p:nvPr/>
          </p:nvSpPr>
          <p:spPr>
            <a:xfrm>
              <a:off x="520065" y="1753552"/>
              <a:ext cx="553729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从 fusion POSITIVE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0065" y="2420302"/>
              <a:ext cx="743158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到 QualE Double Negative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8640" y="3238500"/>
            <a:ext cx="4909185" cy="1047750"/>
            <a:chOff x="548640" y="3238500"/>
            <a:chExt cx="4909185" cy="1047750"/>
          </a:xfrm>
        </p:grpSpPr>
        <p:sp>
          <p:nvSpPr>
            <p:cNvPr id="11" name="Rectangle 11"/>
            <p:cNvSpPr/>
            <p:nvPr/>
          </p:nvSpPr>
          <p:spPr>
            <a:xfrm>
              <a:off x="571500" y="3238500"/>
              <a:ext cx="762000" cy="19050"/>
            </a:xfrm>
            <a:prstGeom prst="rect">
              <a:avLst/>
            </a:prstGeom>
            <a:solidFill>
              <a:srgbClr val="5D6D7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8640" y="3568065"/>
              <a:ext cx="49091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PyTorchSim 上的 HW/SW Co-design 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8640" y="3920490"/>
              <a:ext cx="38707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Lumina QualE 复现失败模式分析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379" y="4667250"/>
            <a:ext cx="3733871" cy="323850"/>
            <a:chOff x="552379" y="4667250"/>
            <a:chExt cx="3733871" cy="323850"/>
          </a:xfrm>
        </p:grpSpPr>
        <p:sp>
          <p:nvSpPr>
            <p:cNvPr id="15" name="Rectangle 15"/>
            <p:cNvSpPr/>
            <p:nvPr/>
          </p:nvSpPr>
          <p:spPr>
            <a:xfrm>
              <a:off x="571500" y="46672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379" y="47634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HW/SW Co-design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0" y="4667250"/>
              <a:ext cx="1143000" cy="3238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76592" y="4763452"/>
              <a:ext cx="1199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LLM × Simulator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43250" y="4667250"/>
              <a:ext cx="1143000" cy="3238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75862" y="4763452"/>
              <a:ext cx="877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Spec Coding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191250"/>
            <a:ext cx="12192000" cy="666750"/>
            <a:chOff x="0" y="6191250"/>
            <a:chExt cx="12192000" cy="666750"/>
          </a:xfrm>
        </p:grpSpPr>
        <p:sp>
          <p:nvSpPr>
            <p:cNvPr id="22" name="Rectangle 22"/>
            <p:cNvSpPr/>
            <p:nvPr/>
          </p:nvSpPr>
          <p:spPr>
            <a:xfrm>
              <a:off x="0" y="6191250"/>
              <a:ext cx="12192000" cy="666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54355" y="64455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dyf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4356" y="6461760"/>
              <a:ext cx="19232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2026-07-04 周组会汇报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0110" y="647795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D5DBDB"/>
                  </a:solidFill>
                  <a:latin typeface="Segoe UI"/>
                  <a:ea typeface="Microsoft YaHei"/>
                  <a:cs typeface="Segoe UI"/>
                </a:rPr>
                <a:t>01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33400"/>
            <a:ext cx="2269998" cy="609600"/>
            <a:chOff x="533400" y="533400"/>
            <a:chExt cx="2269998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533400"/>
              <a:ext cx="19164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汇报大纲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028700"/>
              <a:ext cx="571500" cy="38100"/>
            </a:xfrm>
            <a:prstGeom prst="rect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18260" y="794385"/>
              <a:ext cx="1485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Outline · 4 Parts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524000"/>
            <a:ext cx="11049000" cy="1066800"/>
            <a:chOff x="571500" y="1524000"/>
            <a:chExt cx="11049000" cy="10668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1049000" cy="1066800"/>
            </a:xfrm>
            <a:prstGeom prst="roundRect">
              <a:avLst>
                <a:gd name="adj" fmla="val 8929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24000"/>
              <a:ext cx="76200" cy="10668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3925" y="1662112"/>
              <a:ext cx="1109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Part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63140" y="1710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背景介绍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2187892"/>
              <a:ext cx="6304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PyTorchSim / Lumina 架构 · 从 GPU 到 NPU 的迁移动机与新问题 · 4 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762250"/>
            <a:ext cx="11049000" cy="1066800"/>
            <a:chOff x="571500" y="2762250"/>
            <a:chExt cx="11049000" cy="1066800"/>
          </a:xfrm>
        </p:grpSpPr>
        <p:sp>
          <p:nvSpPr>
            <p:cNvPr id="13" name="Rectangle 13"/>
            <p:cNvSpPr/>
            <p:nvPr/>
          </p:nvSpPr>
          <p:spPr>
            <a:xfrm>
              <a:off x="571500" y="2762250"/>
              <a:ext cx="11049000" cy="1066800"/>
            </a:xfrm>
            <a:prstGeom prst="roundRect">
              <a:avLst>
                <a:gd name="adj" fmla="val 8929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762250"/>
              <a:ext cx="76200" cy="1066800"/>
            </a:xfrm>
            <a:prstGeom prst="rect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3925" y="2900362"/>
              <a:ext cx="1109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63140" y="2948940"/>
              <a:ext cx="4517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PyTorchSim 上的 HW/SW Co-design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426142"/>
              <a:ext cx="62746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从 v1 NEGATIVE 到 fusion × HW POSITIVE 的完整 evidence chain · 6 页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000500"/>
            <a:ext cx="11049000" cy="1066800"/>
            <a:chOff x="571500" y="4000500"/>
            <a:chExt cx="110490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571500" y="4000500"/>
              <a:ext cx="11049000" cy="1066800"/>
            </a:xfrm>
            <a:prstGeom prst="roundRect">
              <a:avLst>
                <a:gd name="adj" fmla="val 8929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4000500"/>
              <a:ext cx="76200" cy="10668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3925" y="4138612"/>
              <a:ext cx="1109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4A6FA5"/>
                  </a:solidFill>
                  <a:latin typeface="Georgia"/>
                  <a:ea typeface="Microsoft YaHei"/>
                  <a:cs typeface="Georgia"/>
                </a:rPr>
                <a:t>Part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63140" y="4187190"/>
              <a:ext cx="2405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Lumina QualE 复现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355" y="4664392"/>
              <a:ext cx="52395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v1 假阳性 · v2 假阴性 · 4 大 Gap Analysis · v3 方向 · 4 页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5238750"/>
            <a:ext cx="11049000" cy="857250"/>
            <a:chOff x="571500" y="5238750"/>
            <a:chExt cx="11049000" cy="857250"/>
          </a:xfrm>
        </p:grpSpPr>
        <p:sp>
          <p:nvSpPr>
            <p:cNvPr id="25" name="Rectangle 25"/>
            <p:cNvSpPr/>
            <p:nvPr/>
          </p:nvSpPr>
          <p:spPr>
            <a:xfrm>
              <a:off x="571500" y="5238750"/>
              <a:ext cx="11049000" cy="857250"/>
            </a:xfrm>
            <a:prstGeom prst="roundRect">
              <a:avLst>
                <a:gd name="adj" fmla="val 11111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5238750"/>
              <a:ext cx="76200" cy="8572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3925" y="5376862"/>
              <a:ext cx="1109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Part 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3140" y="5425440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方法论总结与下一步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7260" y="579501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共同贡献 · 两条主线下一步 · 2 页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1022" y="6477000"/>
            <a:ext cx="11069956" cy="269081"/>
            <a:chOff x="561022" y="6477000"/>
            <a:chExt cx="11069956" cy="269081"/>
          </a:xfrm>
        </p:grpSpPr>
        <p:sp>
          <p:nvSpPr>
            <p:cNvPr id="31" name="Line 31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1022" y="6578441"/>
              <a:ext cx="14186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2026-07-04 周组会 · dyf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7889629" cy="981075"/>
            <a:chOff x="542925" y="523875"/>
            <a:chExt cx="7889629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78896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PyTorchSim：面向 NPU 的快速、周期精确模拟框架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6037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POSTECH PSAL Lab · 2026 · github.com/PSAL-POSTECH/PyTorchSim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48" y="1775460"/>
            <a:ext cx="4705302" cy="3749040"/>
            <a:chOff x="533448" y="1775460"/>
            <a:chExt cx="4705302" cy="3749040"/>
          </a:xfrm>
        </p:grpSpPr>
        <p:sp>
          <p:nvSpPr>
            <p:cNvPr id="8" name="TextBox 8"/>
            <p:cNvSpPr txBox="1"/>
            <p:nvPr/>
          </p:nvSpPr>
          <p:spPr>
            <a:xfrm>
              <a:off x="746760" y="177546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编译 &amp; 模拟流水线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2047875"/>
              <a:ext cx="13335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766" y="22326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PyTorch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4579" y="2442210"/>
              <a:ext cx="5273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Model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3448" y="26269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ResNet / BERT / GPT-2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1905000" y="2352675"/>
              <a:ext cx="238125" cy="152400"/>
            </a:xfrm>
            <a:custGeom>
              <a:avLst/>
              <a:gdLst/>
              <a:ahLst/>
              <a:cxnLst/>
              <a:rect l="l" t="t" r="r" b="b"/>
              <a:pathLst>
                <a:path w="238125" h="152400">
                  <a:moveTo>
                    <a:pt x="0" y="76200"/>
                  </a:moveTo>
                  <a:lnTo>
                    <a:pt x="238125" y="0"/>
                  </a:lnTo>
                  <a:lnTo>
                    <a:pt x="238125" y="1524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905000" y="24288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238375" y="2047875"/>
              <a:ext cx="13335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85034" y="2232660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PyTorch2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2638" y="244221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Compiler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2617" y="26269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生成 NPU code + TOG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3571875" y="2352675"/>
              <a:ext cx="238125" cy="152400"/>
            </a:xfrm>
            <a:custGeom>
              <a:avLst/>
              <a:gdLst/>
              <a:ahLst/>
              <a:cxnLst/>
              <a:rect l="l" t="t" r="r" b="b"/>
              <a:pathLst>
                <a:path w="238125" h="152400">
                  <a:moveTo>
                    <a:pt x="0" y="76200"/>
                  </a:moveTo>
                  <a:lnTo>
                    <a:pt x="238125" y="0"/>
                  </a:lnTo>
                  <a:lnTo>
                    <a:pt x="238125" y="1524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571875" y="24288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05250" y="2047875"/>
              <a:ext cx="13335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6539" y="2232660"/>
              <a:ext cx="370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TOG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10430" y="24584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Tile-Operation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47805" y="2610802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6760" y="30613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仿真核心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3333750"/>
              <a:ext cx="4667250" cy="1095375"/>
            </a:xfrm>
            <a:prstGeom prst="roundRect">
              <a:avLst>
                <a:gd name="adj" fmla="val 6957"/>
              </a:avLst>
            </a:prstGeom>
            <a:solidFill>
              <a:srgbClr val="F5F7FA"/>
            </a:solidFill>
            <a:ln w="19050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2950" y="3505200"/>
              <a:ext cx="8316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TOGSim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379190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Tile-Level Simulation (TLS)：利用 tile 计算延迟确定性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4030028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集成 </a:t>
              </a:r>
              <a:r>
                <a:rPr lang="zh-CN" sz="105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BookSim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(NoC) + </a:t>
              </a:r>
              <a:r>
                <a:rPr lang="zh-CN" sz="105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Ramulator2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(DRAM)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42491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高速 × 周期精确共享资源建模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905125" y="44291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2828925" y="4619625"/>
              <a:ext cx="152400" cy="238125"/>
            </a:xfrm>
            <a:custGeom>
              <a:avLst/>
              <a:gdLst/>
              <a:ahLst/>
              <a:cxnLst/>
              <a:rect l="l" t="t" r="r" b="b"/>
              <a:pathLst>
                <a:path w="152400" h="238125">
                  <a:moveTo>
                    <a:pt x="76200" y="238125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1500" y="4857750"/>
              <a:ext cx="466725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0076A8"/>
              </a:solidFill>
              <a:prstDash val="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73158" y="5013960"/>
              <a:ext cx="20639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Cycle-accurate output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87652" y="5268278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cycles / IPC / DRAM_bw / stall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67375" y="1762125"/>
            <a:ext cx="5953125" cy="4143375"/>
            <a:chOff x="5667375" y="1762125"/>
            <a:chExt cx="5953125" cy="4143375"/>
          </a:xfrm>
        </p:grpSpPr>
        <p:sp>
          <p:nvSpPr>
            <p:cNvPr id="37" name="Line 37"/>
            <p:cNvSpPr/>
            <p:nvPr/>
          </p:nvSpPr>
          <p:spPr>
            <a:xfrm>
              <a:off x="5667375" y="176212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90260" y="1775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核心特点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5905500" y="2095500"/>
              <a:ext cx="228600" cy="228600"/>
              <a:chOff x="5905500" y="2095500"/>
              <a:chExt cx="228600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991225" y="21812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0"/>
                    </a:ln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905500" y="2095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42862" y="28575"/>
                    </a:moveTo>
                    <a:lnTo>
                      <a:pt x="42862" y="0"/>
                    </a:lnTo>
                    <a:lnTo>
                      <a:pt x="71438" y="0"/>
                    </a:lnTo>
                    <a:lnTo>
                      <a:pt x="71438" y="28575"/>
                    </a:lnTo>
                    <a:lnTo>
                      <a:pt x="100012" y="28575"/>
                    </a:lnTo>
                    <a:lnTo>
                      <a:pt x="100012" y="0"/>
                    </a:lnTo>
                    <a:lnTo>
                      <a:pt x="128588" y="0"/>
                    </a:lnTo>
                    <a:lnTo>
                      <a:pt x="128588" y="28575"/>
                    </a:lnTo>
                    <a:lnTo>
                      <a:pt x="157162" y="28575"/>
                    </a:lnTo>
                    <a:lnTo>
                      <a:pt x="157162" y="0"/>
                    </a:lnTo>
                    <a:lnTo>
                      <a:pt x="185738" y="0"/>
                    </a:lnTo>
                    <a:lnTo>
                      <a:pt x="185738" y="28575"/>
                    </a:lnTo>
                    <a:lnTo>
                      <a:pt x="200025" y="28575"/>
                    </a:lnTo>
                    <a:lnTo>
                      <a:pt x="200025" y="42862"/>
                    </a:lnTo>
                    <a:lnTo>
                      <a:pt x="228600" y="42862"/>
                    </a:lnTo>
                    <a:lnTo>
                      <a:pt x="228600" y="71438"/>
                    </a:lnTo>
                    <a:lnTo>
                      <a:pt x="200025" y="71438"/>
                    </a:lnTo>
                    <a:lnTo>
                      <a:pt x="200025" y="100012"/>
                    </a:lnTo>
                    <a:lnTo>
                      <a:pt x="228600" y="100012"/>
                    </a:lnTo>
                    <a:lnTo>
                      <a:pt x="228600" y="128588"/>
                    </a:lnTo>
                    <a:lnTo>
                      <a:pt x="200025" y="128588"/>
                    </a:lnTo>
                    <a:lnTo>
                      <a:pt x="200025" y="157162"/>
                    </a:lnTo>
                    <a:lnTo>
                      <a:pt x="228600" y="157162"/>
                    </a:lnTo>
                    <a:lnTo>
                      <a:pt x="228600" y="185738"/>
                    </a:lnTo>
                    <a:lnTo>
                      <a:pt x="200025" y="185738"/>
                    </a:lnTo>
                    <a:lnTo>
                      <a:pt x="200025" y="200025"/>
                    </a:lnTo>
                    <a:lnTo>
                      <a:pt x="185738" y="200025"/>
                    </a:lnTo>
                    <a:lnTo>
                      <a:pt x="185738" y="228600"/>
                    </a:lnTo>
                    <a:lnTo>
                      <a:pt x="157162" y="228600"/>
                    </a:lnTo>
                    <a:lnTo>
                      <a:pt x="157162" y="200025"/>
                    </a:lnTo>
                    <a:lnTo>
                      <a:pt x="128588" y="200025"/>
                    </a:lnTo>
                    <a:lnTo>
                      <a:pt x="128588" y="228600"/>
                    </a:lnTo>
                    <a:lnTo>
                      <a:pt x="100012" y="228600"/>
                    </a:lnTo>
                    <a:lnTo>
                      <a:pt x="100012" y="200025"/>
                    </a:lnTo>
                    <a:lnTo>
                      <a:pt x="71438" y="200025"/>
                    </a:lnTo>
                    <a:lnTo>
                      <a:pt x="71438" y="228600"/>
                    </a:lnTo>
                    <a:lnTo>
                      <a:pt x="42862" y="228600"/>
                    </a:lnTo>
                    <a:lnTo>
                      <a:pt x="42862" y="200025"/>
                    </a:lnTo>
                    <a:lnTo>
                      <a:pt x="28575" y="200025"/>
                    </a:lnTo>
                    <a:lnTo>
                      <a:pt x="28575" y="185738"/>
                    </a:lnTo>
                    <a:lnTo>
                      <a:pt x="0" y="185738"/>
                    </a:lnTo>
                    <a:lnTo>
                      <a:pt x="0" y="157162"/>
                    </a:lnTo>
                    <a:lnTo>
                      <a:pt x="28575" y="157162"/>
                    </a:lnTo>
                    <a:lnTo>
                      <a:pt x="28575" y="128588"/>
                    </a:lnTo>
                    <a:lnTo>
                      <a:pt x="0" y="128588"/>
                    </a:lnTo>
                    <a:lnTo>
                      <a:pt x="0" y="100012"/>
                    </a:lnTo>
                    <a:lnTo>
                      <a:pt x="28575" y="100012"/>
                    </a:lnTo>
                    <a:lnTo>
                      <a:pt x="28575" y="71438"/>
                    </a:lnTo>
                    <a:lnTo>
                      <a:pt x="0" y="71438"/>
                    </a:lnTo>
                    <a:lnTo>
                      <a:pt x="0" y="42862"/>
                    </a:lnTo>
                    <a:lnTo>
                      <a:pt x="28575" y="42862"/>
                    </a:lnTo>
                    <a:lnTo>
                      <a:pt x="28575" y="28575"/>
                    </a:lnTo>
                    <a:lnTo>
                      <a:pt x="42862" y="28575"/>
                    </a:lnTo>
                    <a:close/>
                    <a:moveTo>
                      <a:pt x="57150" y="57150"/>
                    </a:moveTo>
                    <a:lnTo>
                      <a:pt x="57150" y="171450"/>
                    </a:lnTo>
                    <a:lnTo>
                      <a:pt x="171450" y="171450"/>
                    </a:lnTo>
                    <a:lnTo>
                      <a:pt x="171450" y="57150"/>
                    </a:lnTo>
                    <a:lnTo>
                      <a:pt x="57150" y="5715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214110" y="2156460"/>
              <a:ext cx="24140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NPU 架构基于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RISC-V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向量扩展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934075" y="24288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14110" y="248983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核心创新：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Tile-Level Simulation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905500" y="2776538"/>
              <a:ext cx="228600" cy="200025"/>
              <a:chOff x="5905500" y="2776538"/>
              <a:chExt cx="228600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76950" y="2776538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00025">
                    <a:moveTo>
                      <a:pt x="5715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991225" y="2833688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905500" y="289083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85725"/>
                    </a:lnTo>
                    <a:lnTo>
                      <a:pt x="0" y="85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214110" y="2823210"/>
              <a:ext cx="3132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支持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DNN 推理 + 训练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、数据相关 timing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934075" y="30956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0"/>
                  </a:moveTo>
                  <a:cubicBezTo>
                    <a:pt x="19190" y="0"/>
                    <a:pt x="0" y="19190"/>
                    <a:pt x="0" y="42862"/>
                  </a:cubicBezTo>
                  <a:lnTo>
                    <a:pt x="0" y="185738"/>
                  </a:lnTo>
                  <a:cubicBezTo>
                    <a:pt x="0" y="209410"/>
                    <a:pt x="19190" y="228600"/>
                    <a:pt x="42862" y="228600"/>
                  </a:cubicBezTo>
                  <a:lnTo>
                    <a:pt x="171450" y="228600"/>
                  </a:lnTo>
                  <a:lnTo>
                    <a:pt x="171450" y="200025"/>
                  </a:lnTo>
                  <a:lnTo>
                    <a:pt x="28575" y="200025"/>
                  </a:lnTo>
                  <a:lnTo>
                    <a:pt x="28575" y="171450"/>
                  </a:lnTo>
                  <a:lnTo>
                    <a:pt x="171450" y="171450"/>
                  </a:lnTo>
                  <a:lnTo>
                    <a:pt x="171450" y="0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14110" y="3156585"/>
              <a:ext cx="32026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Model Zoo：ResNet / MobileNet / BERT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4110" y="3375660"/>
              <a:ext cx="32377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GPT-2 / ViT / Llama 2-3 / DeepSeek-V3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05500" y="3857625"/>
              <a:ext cx="57150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80760" y="4061460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效果 KPI (原论文)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50280" y="4278630"/>
              <a:ext cx="133359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11.5%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9010" y="4394835"/>
              <a:ext cx="915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相对 TPUv3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19010" y="4613910"/>
              <a:ext cx="10732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runtime </a:t>
              </a:r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MAE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83618" y="4847749"/>
              <a:ext cx="2217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Mean Absolute Error of runtime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715000"/>
            <a:ext cx="11049000" cy="523875"/>
            <a:chOff x="571500" y="5715000"/>
            <a:chExt cx="11049000" cy="523875"/>
          </a:xfrm>
        </p:grpSpPr>
        <p:sp>
          <p:nvSpPr>
            <p:cNvPr id="60" name="Rectangle 60"/>
            <p:cNvSpPr/>
            <p:nvPr/>
          </p:nvSpPr>
          <p:spPr>
            <a:xfrm>
              <a:off x="571500" y="5715000"/>
              <a:ext cx="11049000" cy="523875"/>
            </a:xfrm>
            <a:prstGeom prst="roundRect">
              <a:avLst>
                <a:gd name="adj" fmla="val 1090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4855" y="5921692"/>
              <a:ext cx="10799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要点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PyTorchSim 提供 </a:t>
              </a:r>
              <a:r>
                <a:rPr lang="zh-CN" sz="1350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可无源码切换的 compiler / mapping / L2 cache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配置面 — 是我们后续 co-design 实验的基础设施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61022" y="6578441"/>
              <a:ext cx="10089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A · 背景介绍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9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5802118" cy="981075"/>
            <a:chOff x="542925" y="523875"/>
            <a:chExt cx="5802118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58021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Lumina：LLM 辅助 GPU 架构探索框架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81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arXiv 2603.05904 · 2026 · 使用 LLMCompass 作为 simulator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775460"/>
            <a:ext cx="4714875" cy="3368040"/>
            <a:chOff x="571500" y="1775460"/>
            <a:chExt cx="4714875" cy="3368040"/>
          </a:xfrm>
        </p:grpSpPr>
        <p:sp>
          <p:nvSpPr>
            <p:cNvPr id="8" name="TextBox 8"/>
            <p:cNvSpPr txBox="1"/>
            <p:nvPr/>
          </p:nvSpPr>
          <p:spPr>
            <a:xfrm>
              <a:off x="746760" y="1775460"/>
              <a:ext cx="17142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四大模块 &amp; 迭代闭环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2047875"/>
              <a:ext cx="1095375" cy="66675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320" y="2187892"/>
              <a:ext cx="5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QualE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046" y="247459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Qualitative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1666875" y="2305050"/>
              <a:ext cx="238125" cy="152400"/>
            </a:xfrm>
            <a:custGeom>
              <a:avLst/>
              <a:gdLst/>
              <a:ahLst/>
              <a:cxnLst/>
              <a:rect l="l" t="t" r="r" b="b"/>
              <a:pathLst>
                <a:path w="238125" h="152400">
                  <a:moveTo>
                    <a:pt x="0" y="76200"/>
                  </a:moveTo>
                  <a:lnTo>
                    <a:pt x="238125" y="0"/>
                  </a:lnTo>
                  <a:lnTo>
                    <a:pt x="238125" y="1524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666875" y="23812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00250" y="2047875"/>
              <a:ext cx="1095375" cy="66675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30192" y="2187892"/>
              <a:ext cx="6450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QuanE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27218" y="24745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Quantitative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3095625" y="2305050"/>
              <a:ext cx="238125" cy="152400"/>
            </a:xfrm>
            <a:custGeom>
              <a:avLst/>
              <a:gdLst/>
              <a:ahLst/>
              <a:cxnLst/>
              <a:rect l="l" t="t" r="r" b="b"/>
              <a:pathLst>
                <a:path w="238125" h="152400">
                  <a:moveTo>
                    <a:pt x="0" y="76200"/>
                  </a:moveTo>
                  <a:lnTo>
                    <a:pt x="238125" y="0"/>
                  </a:lnTo>
                  <a:lnTo>
                    <a:pt x="238125" y="1524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095625" y="23812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29000" y="2047875"/>
              <a:ext cx="1095375" cy="66675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19050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93509" y="218789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AHK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5543" y="24745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Heuristic KB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981450" y="271462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5D6D7E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905250" y="3143250"/>
              <a:ext cx="152400" cy="238125"/>
            </a:xfrm>
            <a:custGeom>
              <a:avLst/>
              <a:gdLst/>
              <a:ahLst/>
              <a:cxnLst/>
              <a:rect l="l" t="t" r="r" b="b"/>
              <a:pathLst>
                <a:path w="152400" h="238125">
                  <a:moveTo>
                    <a:pt x="76200" y="238125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429000"/>
              <a:ext cx="1905000" cy="619125"/>
            </a:xfrm>
            <a:prstGeom prst="roundRect">
              <a:avLst>
                <a:gd name="adj" fmla="val 9231"/>
              </a:avLst>
            </a:prstGeom>
            <a:solidFill>
              <a:srgbClr val="F5F7FA"/>
            </a:solidFill>
            <a:ln w="19050">
              <a:solidFill>
                <a:srgbClr val="4A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92991" y="35690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6FA5"/>
                  </a:solidFill>
                  <a:latin typeface="Georgia"/>
                  <a:ea typeface="Microsoft YaHei"/>
                  <a:cs typeface="Georgia"/>
                </a:rPr>
                <a:t>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7611" y="3817620"/>
              <a:ext cx="16527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Strategy Engine · 选 knob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67000" y="3429000"/>
              <a:ext cx="1905000" cy="619125"/>
            </a:xfrm>
            <a:prstGeom prst="roundRect">
              <a:avLst>
                <a:gd name="adj" fmla="val 9231"/>
              </a:avLst>
            </a:prstGeom>
            <a:solidFill>
              <a:srgbClr val="F5F7FA"/>
            </a:solidFill>
            <a:ln w="19050">
              <a:solidFill>
                <a:srgbClr val="4A6FA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88491" y="35690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6FA5"/>
                  </a:solidFill>
                  <a:latin typeface="Georgia"/>
                  <a:ea typeface="Microsoft YaHei"/>
                  <a:cs typeface="Georgia"/>
                </a:rPr>
                <a:t>EE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36284" y="3817620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Exploration · 闭环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572000" y="2286000"/>
              <a:ext cx="714375" cy="1447800"/>
            </a:xfrm>
            <a:custGeom>
              <a:avLst/>
              <a:gdLst/>
              <a:ahLst/>
              <a:cxnLst/>
              <a:rect l="l" t="t" r="r" b="b"/>
              <a:pathLst>
                <a:path w="714375" h="1447800">
                  <a:moveTo>
                    <a:pt x="0" y="1447800"/>
                  </a:moveTo>
                  <a:cubicBezTo>
                    <a:pt x="476250" y="1447800"/>
                    <a:pt x="714375" y="996950"/>
                    <a:pt x="714375" y="95250"/>
                  </a:cubicBezTo>
                  <a:cubicBezTo>
                    <a:pt x="714375" y="0"/>
                    <a:pt x="476250" y="0"/>
                    <a:pt x="0" y="95250"/>
                  </a:cubicBezTo>
                </a:path>
              </a:pathLst>
            </a:custGeom>
            <a:noFill/>
            <a:ln w="19050">
              <a:solidFill>
                <a:srgbClr val="4A6FA5"/>
              </a:solidFill>
              <a:prstDash val="dash"/>
            </a:ln>
          </p:spPr>
        </p:sp>
        <p:sp>
          <p:nvSpPr>
            <p:cNvPr id="31" name="Polygon 31"/>
            <p:cNvSpPr/>
            <p:nvPr/>
          </p:nvSpPr>
          <p:spPr>
            <a:xfrm>
              <a:off x="4572000" y="230505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76200"/>
                  </a:moveTo>
                  <a:lnTo>
                    <a:pt x="142875" y="0"/>
                  </a:lnTo>
                  <a:lnTo>
                    <a:pt x="142875" y="152400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41768" y="2998470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6FA5"/>
                  </a:solidFill>
                  <a:latin typeface="Segoe UI"/>
                  <a:ea typeface="Microsoft YaHei"/>
                  <a:cs typeface="Segoe UI"/>
                </a:rPr>
                <a:t>Perf Metrics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95762" y="31603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6FA5"/>
                  </a:solidFill>
                  <a:latin typeface="Segoe UI"/>
                  <a:ea typeface="Microsoft YaHei"/>
                  <a:cs typeface="Segoe UI"/>
                </a:rPr>
                <a:t>+ Critical Path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981450" y="40481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E3A5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3905250" y="4333875"/>
              <a:ext cx="152400" cy="238125"/>
            </a:xfrm>
            <a:custGeom>
              <a:avLst/>
              <a:gdLst/>
              <a:ahLst/>
              <a:cxnLst/>
              <a:rect l="l" t="t" r="r" b="b"/>
              <a:pathLst>
                <a:path w="152400" h="238125">
                  <a:moveTo>
                    <a:pt x="76200" y="238125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619625"/>
              <a:ext cx="4667250" cy="523875"/>
            </a:xfrm>
            <a:prstGeom prst="roundRect">
              <a:avLst>
                <a:gd name="adj" fmla="val 1090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78354" y="4807268"/>
              <a:ext cx="32535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Pareto Set (Exploration Result)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67375" y="1762125"/>
            <a:ext cx="5953125" cy="4143375"/>
            <a:chOff x="5667375" y="1762125"/>
            <a:chExt cx="5953125" cy="4143375"/>
          </a:xfrm>
        </p:grpSpPr>
        <p:sp>
          <p:nvSpPr>
            <p:cNvPr id="39" name="Line 39"/>
            <p:cNvSpPr/>
            <p:nvPr/>
          </p:nvSpPr>
          <p:spPr>
            <a:xfrm>
              <a:off x="5667375" y="176212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90260" y="1775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模块职责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88355" y="2092642"/>
              <a:ext cx="5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QualE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91212" y="2336006"/>
              <a:ext cx="2583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从 simulator 源码提取 arch → PPA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91212" y="25265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定性因果图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(Influence Map)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88355" y="2854642"/>
              <a:ext cx="6450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QuanE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91212" y="3098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跑 micro-benchmark，填 QualE 边的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91212" y="3288506"/>
              <a:ext cx="1655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定量 sensitivity 系数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88355" y="361664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AHK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91212" y="3860006"/>
              <a:ext cx="2829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QualE + QuanE 合成的 Architectural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91212" y="4050506"/>
              <a:ext cx="2024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Heuristic Knowledge base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88355" y="4378642"/>
              <a:ext cx="727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6FA5"/>
                  </a:solidFill>
                  <a:latin typeface="Georgia"/>
                  <a:ea typeface="Microsoft YaHei"/>
                  <a:cs typeface="Georgia"/>
                </a:rPr>
                <a:t>SE + EE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91212" y="4622006"/>
              <a:ext cx="27314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从 critical path 挑 bottleneck → 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91212" y="4812506"/>
              <a:ext cx="22056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knob → 迭代逼近 Pareto 前沿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05500" y="5191125"/>
              <a:ext cx="5715000" cy="523875"/>
            </a:xfrm>
            <a:prstGeom prst="roundRect">
              <a:avLst>
                <a:gd name="adj" fmla="val 14545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4837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ubicBezTo>
                    <a:pt x="177426" y="0"/>
                    <a:pt x="228600" y="51174"/>
                    <a:pt x="228600" y="114300"/>
                  </a:cubicBezTo>
                  <a:close/>
                  <a:moveTo>
                    <a:pt x="100012" y="114300"/>
                  </a:moveTo>
                  <a:lnTo>
                    <a:pt x="85725" y="114300"/>
                  </a:lnTo>
                  <a:lnTo>
                    <a:pt x="85725" y="85725"/>
                  </a:lnTo>
                  <a:lnTo>
                    <a:pt x="128588" y="85725"/>
                  </a:lnTo>
                  <a:lnTo>
                    <a:pt x="128588" y="157162"/>
                  </a:lnTo>
                  <a:lnTo>
                    <a:pt x="142875" y="157162"/>
                  </a:lnTo>
                  <a:lnTo>
                    <a:pt x="142875" y="185738"/>
                  </a:lnTo>
                  <a:lnTo>
                    <a:pt x="100012" y="185738"/>
                  </a:lnTo>
                  <a:lnTo>
                    <a:pt x="100012" y="114300"/>
                  </a:lnTo>
                  <a:close/>
                  <a:moveTo>
                    <a:pt x="128588" y="71438"/>
                  </a:moveTo>
                  <a:lnTo>
                    <a:pt x="128588" y="42862"/>
                  </a:lnTo>
                  <a:lnTo>
                    <a:pt x="100012" y="42862"/>
                  </a:lnTo>
                  <a:lnTo>
                    <a:pt x="100012" y="71438"/>
                  </a:lnTo>
                  <a:lnTo>
                    <a:pt x="128588" y="71438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67462" y="5374481"/>
              <a:ext cx="4349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Simulator 是 </a:t>
              </a:r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LLMCompass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— 不是 gpgpu-sim / Accel-Sim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905500"/>
            <a:ext cx="11049000" cy="495300"/>
            <a:chOff x="571500" y="5905500"/>
            <a:chExt cx="11049000" cy="495300"/>
          </a:xfrm>
        </p:grpSpPr>
        <p:sp>
          <p:nvSpPr>
            <p:cNvPr id="57" name="Rectangle 57"/>
            <p:cNvSpPr/>
            <p:nvPr/>
          </p:nvSpPr>
          <p:spPr>
            <a:xfrm>
              <a:off x="571500" y="5905500"/>
              <a:ext cx="11049000" cy="495300"/>
            </a:xfrm>
            <a:prstGeom prst="roundRect">
              <a:avLst>
                <a:gd name="adj" fmla="val 11538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4855" y="6093142"/>
              <a:ext cx="8423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要点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Lumina 效果 = </a:t>
              </a:r>
              <a:r>
                <a:rPr lang="zh-CN" sz="1350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迭代式知识积累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→ 产出 Pareto set；QualE 是最前端一步，本次只复现它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561022" y="6578441"/>
              <a:ext cx="10089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A · 背景介绍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6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4956762" cy="981075"/>
            <a:chOff x="542925" y="523875"/>
            <a:chExt cx="4956762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4956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从 GPU 到 NPU：研究客体的迁移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2114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为什么这条科研路径要换客体 · 两大动机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762125"/>
            <a:ext cx="3619500" cy="3619500"/>
            <a:chOff x="571500" y="1762125"/>
            <a:chExt cx="36195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619500" cy="3619500"/>
            </a:xfrm>
            <a:prstGeom prst="roundRect">
              <a:avLst>
                <a:gd name="adj" fmla="val 2632"/>
              </a:avLst>
            </a:prstGeom>
            <a:solidFill>
              <a:srgbClr val="F5F7FA"/>
            </a:solidFill>
            <a:ln w="19050">
              <a:solidFill>
                <a:srgbClr val="95A5A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62125"/>
              <a:ext cx="3619500" cy="571500"/>
            </a:xfrm>
            <a:prstGeom prst="roundRect">
              <a:avLst>
                <a:gd name="adj" fmla="val 16667"/>
              </a:avLst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4855" y="1968818"/>
              <a:ext cx="19182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GPU 时代 · 传统客体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" y="2506028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Simulator 客体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762000" y="2762250"/>
              <a:ext cx="209550" cy="209550"/>
              <a:chOff x="762000" y="2762250"/>
              <a:chExt cx="209550" cy="2095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0581" y="284083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0" y="0"/>
                    </a:lnTo>
                    <a:lnTo>
                      <a:pt x="52388" y="0"/>
                    </a:lnTo>
                    <a:lnTo>
                      <a:pt x="52388" y="52388"/>
                    </a:lnTo>
                    <a:lnTo>
                      <a:pt x="0" y="52388"/>
                    </a:lnTo>
                    <a:close/>
                  </a:path>
                </a:pathLst>
              </a:custGeom>
              <a:solidFill>
                <a:srgbClr val="5D6D7E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2000" y="27622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39291" y="26194"/>
                    </a:moveTo>
                    <a:lnTo>
                      <a:pt x="39291" y="0"/>
                    </a:lnTo>
                    <a:lnTo>
                      <a:pt x="65484" y="0"/>
                    </a:lnTo>
                    <a:lnTo>
                      <a:pt x="65484" y="26194"/>
                    </a:lnTo>
                    <a:lnTo>
                      <a:pt x="91678" y="26194"/>
                    </a:lnTo>
                    <a:lnTo>
                      <a:pt x="91678" y="0"/>
                    </a:lnTo>
                    <a:lnTo>
                      <a:pt x="117872" y="0"/>
                    </a:lnTo>
                    <a:lnTo>
                      <a:pt x="117872" y="26194"/>
                    </a:lnTo>
                    <a:lnTo>
                      <a:pt x="144066" y="26194"/>
                    </a:lnTo>
                    <a:lnTo>
                      <a:pt x="144066" y="0"/>
                    </a:lnTo>
                    <a:lnTo>
                      <a:pt x="170259" y="0"/>
                    </a:lnTo>
                    <a:lnTo>
                      <a:pt x="170259" y="26194"/>
                    </a:lnTo>
                    <a:lnTo>
                      <a:pt x="183356" y="26194"/>
                    </a:lnTo>
                    <a:lnTo>
                      <a:pt x="183356" y="39291"/>
                    </a:lnTo>
                    <a:lnTo>
                      <a:pt x="209550" y="39291"/>
                    </a:lnTo>
                    <a:lnTo>
                      <a:pt x="209550" y="65484"/>
                    </a:lnTo>
                    <a:lnTo>
                      <a:pt x="183356" y="65484"/>
                    </a:lnTo>
                    <a:lnTo>
                      <a:pt x="183356" y="91678"/>
                    </a:lnTo>
                    <a:lnTo>
                      <a:pt x="209550" y="91678"/>
                    </a:lnTo>
                    <a:lnTo>
                      <a:pt x="209550" y="117872"/>
                    </a:lnTo>
                    <a:lnTo>
                      <a:pt x="183356" y="117872"/>
                    </a:lnTo>
                    <a:lnTo>
                      <a:pt x="183356" y="144066"/>
                    </a:lnTo>
                    <a:lnTo>
                      <a:pt x="209550" y="144066"/>
                    </a:lnTo>
                    <a:lnTo>
                      <a:pt x="209550" y="170259"/>
                    </a:lnTo>
                    <a:lnTo>
                      <a:pt x="183356" y="170259"/>
                    </a:lnTo>
                    <a:lnTo>
                      <a:pt x="183356" y="183356"/>
                    </a:lnTo>
                    <a:lnTo>
                      <a:pt x="170259" y="183356"/>
                    </a:lnTo>
                    <a:lnTo>
                      <a:pt x="170259" y="209550"/>
                    </a:lnTo>
                    <a:lnTo>
                      <a:pt x="144066" y="209550"/>
                    </a:lnTo>
                    <a:lnTo>
                      <a:pt x="144066" y="183356"/>
                    </a:lnTo>
                    <a:lnTo>
                      <a:pt x="117872" y="183356"/>
                    </a:lnTo>
                    <a:lnTo>
                      <a:pt x="117872" y="209550"/>
                    </a:lnTo>
                    <a:lnTo>
                      <a:pt x="91678" y="209550"/>
                    </a:lnTo>
                    <a:lnTo>
                      <a:pt x="91678" y="183356"/>
                    </a:lnTo>
                    <a:lnTo>
                      <a:pt x="65484" y="183356"/>
                    </a:lnTo>
                    <a:lnTo>
                      <a:pt x="65484" y="209550"/>
                    </a:lnTo>
                    <a:lnTo>
                      <a:pt x="39291" y="209550"/>
                    </a:lnTo>
                    <a:lnTo>
                      <a:pt x="39291" y="183356"/>
                    </a:lnTo>
                    <a:lnTo>
                      <a:pt x="26194" y="183356"/>
                    </a:lnTo>
                    <a:lnTo>
                      <a:pt x="26194" y="170259"/>
                    </a:lnTo>
                    <a:lnTo>
                      <a:pt x="0" y="170259"/>
                    </a:lnTo>
                    <a:lnTo>
                      <a:pt x="0" y="144066"/>
                    </a:lnTo>
                    <a:lnTo>
                      <a:pt x="26194" y="144066"/>
                    </a:lnTo>
                    <a:lnTo>
                      <a:pt x="26194" y="117872"/>
                    </a:lnTo>
                    <a:lnTo>
                      <a:pt x="0" y="117872"/>
                    </a:lnTo>
                    <a:lnTo>
                      <a:pt x="0" y="91678"/>
                    </a:lnTo>
                    <a:lnTo>
                      <a:pt x="26194" y="91678"/>
                    </a:lnTo>
                    <a:lnTo>
                      <a:pt x="26194" y="65484"/>
                    </a:lnTo>
                    <a:lnTo>
                      <a:pt x="0" y="65484"/>
                    </a:lnTo>
                    <a:lnTo>
                      <a:pt x="0" y="39291"/>
                    </a:lnTo>
                    <a:lnTo>
                      <a:pt x="26194" y="39291"/>
                    </a:lnTo>
                    <a:lnTo>
                      <a:pt x="26194" y="26194"/>
                    </a:lnTo>
                    <a:lnTo>
                      <a:pt x="39291" y="26194"/>
                    </a:lnTo>
                    <a:close/>
                    <a:moveTo>
                      <a:pt x="52388" y="52388"/>
                    </a:moveTo>
                    <a:lnTo>
                      <a:pt x="52388" y="157162"/>
                    </a:lnTo>
                    <a:lnTo>
                      <a:pt x="157162" y="157162"/>
                    </a:lnTo>
                    <a:lnTo>
                      <a:pt x="157162" y="52388"/>
                    </a:lnTo>
                    <a:lnTo>
                      <a:pt x="52388" y="52388"/>
                    </a:lnTo>
                    <a:close/>
                  </a:path>
                </a:pathLst>
              </a:custGeom>
              <a:solidFill>
                <a:srgbClr val="5D6D7E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32510" y="2794635"/>
              <a:ext cx="190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gpgpu-sim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· Accel-Sim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172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主要工作类型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62000" y="3442097"/>
              <a:ext cx="209550" cy="183356"/>
              <a:chOff x="762000" y="3442097"/>
              <a:chExt cx="209550" cy="18335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19162" y="3442097"/>
                <a:ext cx="523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83356">
                    <a:moveTo>
                      <a:pt x="52388" y="0"/>
                    </a:moveTo>
                    <a:lnTo>
                      <a:pt x="0" y="0"/>
                    </a:lnTo>
                    <a:lnTo>
                      <a:pt x="0" y="183356"/>
                    </a:lnTo>
                    <a:lnTo>
                      <a:pt x="52388" y="183356"/>
                    </a:lnTo>
                    <a:lnTo>
                      <a:pt x="52388" y="0"/>
                    </a:lnTo>
                    <a:close/>
                  </a:path>
                </a:pathLst>
              </a:custGeom>
              <a:solidFill>
                <a:srgbClr val="5D6D7E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0581" y="3494484"/>
                <a:ext cx="5238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30969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130969"/>
                    </a:lnTo>
                    <a:lnTo>
                      <a:pt x="0" y="1309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6D7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62000" y="3546872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78581"/>
                    </a:lnTo>
                    <a:lnTo>
                      <a:pt x="0" y="78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6D7E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32510" y="3461385"/>
              <a:ext cx="3001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GPU DSE (design space exploration)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383952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对本次汇报的关联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88194" y="4095750"/>
              <a:ext cx="157162" cy="209550"/>
            </a:xfrm>
            <a:custGeom>
              <a:avLst/>
              <a:gdLst/>
              <a:ahLst/>
              <a:cxnLst/>
              <a:rect l="l" t="t" r="r" b="b"/>
              <a:pathLst>
                <a:path w="157162" h="209550">
                  <a:moveTo>
                    <a:pt x="39291" y="0"/>
                  </a:moveTo>
                  <a:cubicBezTo>
                    <a:pt x="17591" y="0"/>
                    <a:pt x="0" y="17591"/>
                    <a:pt x="0" y="39291"/>
                  </a:cubicBezTo>
                  <a:lnTo>
                    <a:pt x="0" y="170259"/>
                  </a:lnTo>
                  <a:cubicBezTo>
                    <a:pt x="0" y="191960"/>
                    <a:pt x="17591" y="209550"/>
                    <a:pt x="39291" y="209550"/>
                  </a:cubicBezTo>
                  <a:lnTo>
                    <a:pt x="157162" y="209550"/>
                  </a:lnTo>
                  <a:lnTo>
                    <a:pt x="157162" y="183356"/>
                  </a:lnTo>
                  <a:lnTo>
                    <a:pt x="26194" y="183356"/>
                  </a:lnTo>
                  <a:lnTo>
                    <a:pt x="26194" y="157162"/>
                  </a:lnTo>
                  <a:lnTo>
                    <a:pt x="157162" y="157162"/>
                  </a:lnTo>
                  <a:lnTo>
                    <a:pt x="157162" y="0"/>
                  </a:lnTo>
                  <a:lnTo>
                    <a:pt x="39291" y="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3462" y="4136231"/>
              <a:ext cx="26739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Lumina QualE 复现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就在 GPU 客体上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415" y="43443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(Part C 后面会展开)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47148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8665" y="4858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遇到的天花板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5096828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主流微架构定型 · 边际收益低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048125" y="1926431"/>
            <a:ext cx="4095750" cy="3121819"/>
            <a:chOff x="4048125" y="1926431"/>
            <a:chExt cx="4095750" cy="3121819"/>
          </a:xfrm>
        </p:grpSpPr>
        <p:sp>
          <p:nvSpPr>
            <p:cNvPr id="30" name="TextBox 30"/>
            <p:cNvSpPr txBox="1"/>
            <p:nvPr/>
          </p:nvSpPr>
          <p:spPr>
            <a:xfrm>
              <a:off x="5564148" y="19264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两大迁移动机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29125" y="2333625"/>
              <a:ext cx="3333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0076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591050" y="2543175"/>
              <a:ext cx="342900" cy="3429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19657" y="26422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2058" y="2510314"/>
              <a:ext cx="19778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GPU 架构研究趋于饱和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34915" y="2791778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主流 GPU 微架构成熟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34915" y="2982278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DSE / 编译器方向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34915" y="3172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边际收益递减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29125" y="3667125"/>
              <a:ext cx="3333750" cy="138112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27AE6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591050" y="3876675"/>
              <a:ext cx="342900" cy="3429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96654" y="3975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32058" y="3843814"/>
              <a:ext cx="24275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Co-design 在 NPU 上更可行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34915" y="412527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编译器栈自研可控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4915" y="4315778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RISC-V 向量 ISA 可扩展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34915" y="4506278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硬件参数暴露成 YAML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34915" y="4744402"/>
              <a:ext cx="1773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→ 真正的架构选择自由度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191000" y="35718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95A5A6"/>
                  </a:gs>
                  <a:gs pos="100000">
                    <a:srgbClr val="0076A8"/>
                  </a:gs>
                </a:gsLst>
                <a:lin ang="0" scaled="1"/>
              </a:gra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4048125" y="349567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5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7762875" y="35718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95A5A6"/>
                  </a:gs>
                  <a:gs pos="100000">
                    <a:srgbClr val="0076A8"/>
                  </a:gs>
                </a:gsLst>
                <a:lin ang="0" scaled="1"/>
              </a:gra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8001000" y="349567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76200"/>
                  </a:moveTo>
                  <a:lnTo>
                    <a:pt x="142875" y="0"/>
                  </a:lnTo>
                  <a:lnTo>
                    <a:pt x="142875" y="15240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8001000" y="1762125"/>
            <a:ext cx="3619500" cy="3619500"/>
            <a:chOff x="8001000" y="1762125"/>
            <a:chExt cx="3619500" cy="3619500"/>
          </a:xfrm>
        </p:grpSpPr>
        <p:sp>
          <p:nvSpPr>
            <p:cNvPr id="51" name="Rectangle 51"/>
            <p:cNvSpPr/>
            <p:nvPr/>
          </p:nvSpPr>
          <p:spPr>
            <a:xfrm>
              <a:off x="8001000" y="1762125"/>
              <a:ext cx="3619500" cy="3619500"/>
            </a:xfrm>
            <a:prstGeom prst="roundRect">
              <a:avLst>
                <a:gd name="adj" fmla="val 2632"/>
              </a:avLst>
            </a:prstGeom>
            <a:solidFill>
              <a:srgbClr val="F5F7FA"/>
            </a:solidFill>
            <a:ln w="23812">
              <a:solidFill>
                <a:srgbClr val="0076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01000" y="1762125"/>
              <a:ext cx="3619500" cy="571500"/>
            </a:xfrm>
            <a:prstGeom prst="roundRect">
              <a:avLst>
                <a:gd name="adj" fmla="val 16667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74355" y="1968818"/>
              <a:ext cx="1711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NPU 时代 · 新客体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78165" y="2506028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Simulator 客体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191500" y="2762250"/>
              <a:ext cx="209550" cy="209550"/>
              <a:chOff x="8191500" y="2762250"/>
              <a:chExt cx="209550" cy="20955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270081" y="284083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0" y="0"/>
                    </a:lnTo>
                    <a:lnTo>
                      <a:pt x="52388" y="0"/>
                    </a:lnTo>
                    <a:lnTo>
                      <a:pt x="52388" y="52388"/>
                    </a:lnTo>
                    <a:lnTo>
                      <a:pt x="0" y="52388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91500" y="27622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39291" y="26194"/>
                    </a:moveTo>
                    <a:lnTo>
                      <a:pt x="39291" y="0"/>
                    </a:lnTo>
                    <a:lnTo>
                      <a:pt x="65484" y="0"/>
                    </a:lnTo>
                    <a:lnTo>
                      <a:pt x="65484" y="26194"/>
                    </a:lnTo>
                    <a:lnTo>
                      <a:pt x="91678" y="26194"/>
                    </a:lnTo>
                    <a:lnTo>
                      <a:pt x="91678" y="0"/>
                    </a:lnTo>
                    <a:lnTo>
                      <a:pt x="117872" y="0"/>
                    </a:lnTo>
                    <a:lnTo>
                      <a:pt x="117872" y="26194"/>
                    </a:lnTo>
                    <a:lnTo>
                      <a:pt x="144066" y="26194"/>
                    </a:lnTo>
                    <a:lnTo>
                      <a:pt x="144066" y="0"/>
                    </a:lnTo>
                    <a:lnTo>
                      <a:pt x="170259" y="0"/>
                    </a:lnTo>
                    <a:lnTo>
                      <a:pt x="170259" y="26194"/>
                    </a:lnTo>
                    <a:lnTo>
                      <a:pt x="183356" y="26194"/>
                    </a:lnTo>
                    <a:lnTo>
                      <a:pt x="183356" y="39291"/>
                    </a:lnTo>
                    <a:lnTo>
                      <a:pt x="209550" y="39291"/>
                    </a:lnTo>
                    <a:lnTo>
                      <a:pt x="209550" y="65484"/>
                    </a:lnTo>
                    <a:lnTo>
                      <a:pt x="183356" y="65484"/>
                    </a:lnTo>
                    <a:lnTo>
                      <a:pt x="183356" y="91678"/>
                    </a:lnTo>
                    <a:lnTo>
                      <a:pt x="209550" y="91678"/>
                    </a:lnTo>
                    <a:lnTo>
                      <a:pt x="209550" y="117872"/>
                    </a:lnTo>
                    <a:lnTo>
                      <a:pt x="183356" y="117872"/>
                    </a:lnTo>
                    <a:lnTo>
                      <a:pt x="183356" y="144066"/>
                    </a:lnTo>
                    <a:lnTo>
                      <a:pt x="209550" y="144066"/>
                    </a:lnTo>
                    <a:lnTo>
                      <a:pt x="209550" y="170259"/>
                    </a:lnTo>
                    <a:lnTo>
                      <a:pt x="183356" y="170259"/>
                    </a:lnTo>
                    <a:lnTo>
                      <a:pt x="183356" y="183356"/>
                    </a:lnTo>
                    <a:lnTo>
                      <a:pt x="170259" y="183356"/>
                    </a:lnTo>
                    <a:lnTo>
                      <a:pt x="170259" y="209550"/>
                    </a:lnTo>
                    <a:lnTo>
                      <a:pt x="144066" y="209550"/>
                    </a:lnTo>
                    <a:lnTo>
                      <a:pt x="144066" y="183356"/>
                    </a:lnTo>
                    <a:lnTo>
                      <a:pt x="117872" y="183356"/>
                    </a:lnTo>
                    <a:lnTo>
                      <a:pt x="117872" y="209550"/>
                    </a:lnTo>
                    <a:lnTo>
                      <a:pt x="91678" y="209550"/>
                    </a:lnTo>
                    <a:lnTo>
                      <a:pt x="91678" y="183356"/>
                    </a:lnTo>
                    <a:lnTo>
                      <a:pt x="65484" y="183356"/>
                    </a:lnTo>
                    <a:lnTo>
                      <a:pt x="65484" y="209550"/>
                    </a:lnTo>
                    <a:lnTo>
                      <a:pt x="39291" y="209550"/>
                    </a:lnTo>
                    <a:lnTo>
                      <a:pt x="39291" y="183356"/>
                    </a:lnTo>
                    <a:lnTo>
                      <a:pt x="26194" y="183356"/>
                    </a:lnTo>
                    <a:lnTo>
                      <a:pt x="26194" y="170259"/>
                    </a:lnTo>
                    <a:lnTo>
                      <a:pt x="0" y="170259"/>
                    </a:lnTo>
                    <a:lnTo>
                      <a:pt x="0" y="144066"/>
                    </a:lnTo>
                    <a:lnTo>
                      <a:pt x="26194" y="144066"/>
                    </a:lnTo>
                    <a:lnTo>
                      <a:pt x="26194" y="117872"/>
                    </a:lnTo>
                    <a:lnTo>
                      <a:pt x="0" y="117872"/>
                    </a:lnTo>
                    <a:lnTo>
                      <a:pt x="0" y="91678"/>
                    </a:lnTo>
                    <a:lnTo>
                      <a:pt x="26194" y="91678"/>
                    </a:lnTo>
                    <a:lnTo>
                      <a:pt x="26194" y="65484"/>
                    </a:lnTo>
                    <a:lnTo>
                      <a:pt x="0" y="65484"/>
                    </a:lnTo>
                    <a:lnTo>
                      <a:pt x="0" y="39291"/>
                    </a:lnTo>
                    <a:lnTo>
                      <a:pt x="26194" y="39291"/>
                    </a:lnTo>
                    <a:lnTo>
                      <a:pt x="26194" y="26194"/>
                    </a:lnTo>
                    <a:lnTo>
                      <a:pt x="39291" y="26194"/>
                    </a:lnTo>
                    <a:close/>
                    <a:moveTo>
                      <a:pt x="52388" y="52388"/>
                    </a:moveTo>
                    <a:lnTo>
                      <a:pt x="52388" y="157162"/>
                    </a:lnTo>
                    <a:lnTo>
                      <a:pt x="157162" y="157162"/>
                    </a:lnTo>
                    <a:lnTo>
                      <a:pt x="157162" y="52388"/>
                    </a:lnTo>
                    <a:lnTo>
                      <a:pt x="52388" y="52388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62010" y="2794635"/>
              <a:ext cx="1940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PyTorchSim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(POSTECH)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78165" y="3172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主要工作类型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8191500" y="3442097"/>
              <a:ext cx="209550" cy="183356"/>
              <a:chOff x="8191500" y="3442097"/>
              <a:chExt cx="209550" cy="18335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48662" y="3442097"/>
                <a:ext cx="523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83356">
                    <a:moveTo>
                      <a:pt x="52388" y="0"/>
                    </a:moveTo>
                    <a:lnTo>
                      <a:pt x="0" y="0"/>
                    </a:lnTo>
                    <a:lnTo>
                      <a:pt x="0" y="183356"/>
                    </a:lnTo>
                    <a:lnTo>
                      <a:pt x="52388" y="183356"/>
                    </a:lnTo>
                    <a:lnTo>
                      <a:pt x="52388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081" y="3494484"/>
                <a:ext cx="5238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30969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130969"/>
                    </a:lnTo>
                    <a:lnTo>
                      <a:pt x="0" y="1309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91500" y="3546872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78581"/>
                    </a:lnTo>
                    <a:lnTo>
                      <a:pt x="0" y="78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462010" y="3461385"/>
              <a:ext cx="30624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HW/SW Co-design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(evidence-driven)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8165" y="383952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对本次汇报的关联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8191500" y="4095750"/>
              <a:ext cx="209550" cy="209550"/>
              <a:chOff x="8191500" y="4095750"/>
              <a:chExt cx="209550" cy="2095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243888" y="41481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52388" y="0"/>
                    </a:moveTo>
                    <a:cubicBezTo>
                      <a:pt x="23455" y="0"/>
                      <a:pt x="0" y="23455"/>
                      <a:pt x="0" y="52388"/>
                    </a:cubicBez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cubicBezTo>
                      <a:pt x="104775" y="23455"/>
                      <a:pt x="81320" y="0"/>
                      <a:pt x="52388" y="0"/>
                    </a:cubicBezTo>
                    <a:close/>
                    <a:moveTo>
                      <a:pt x="26194" y="52388"/>
                    </a:moveTo>
                    <a:cubicBezTo>
                      <a:pt x="26194" y="37921"/>
                      <a:pt x="37921" y="26194"/>
                      <a:pt x="52388" y="26194"/>
                    </a:cubicBezTo>
                    <a:cubicBezTo>
                      <a:pt x="66854" y="26194"/>
                      <a:pt x="78581" y="37921"/>
                      <a:pt x="78581" y="52388"/>
                    </a:cubicBezTo>
                    <a:cubicBezTo>
                      <a:pt x="78581" y="66854"/>
                      <a:pt x="66854" y="78581"/>
                      <a:pt x="52388" y="78581"/>
                    </a:cubicBezTo>
                    <a:cubicBezTo>
                      <a:pt x="37921" y="78581"/>
                      <a:pt x="26194" y="66854"/>
                      <a:pt x="26194" y="52388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91500" y="40957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0"/>
                    </a:move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lose/>
                    <a:moveTo>
                      <a:pt x="26194" y="104775"/>
                    </a:moveTo>
                    <a:cubicBezTo>
                      <a:pt x="26194" y="61376"/>
                      <a:pt x="61376" y="26194"/>
                      <a:pt x="104775" y="26194"/>
                    </a:cubicBezTo>
                    <a:cubicBezTo>
                      <a:pt x="148174" y="26194"/>
                      <a:pt x="183356" y="61376"/>
                      <a:pt x="183356" y="104775"/>
                    </a:cubicBezTo>
                    <a:cubicBezTo>
                      <a:pt x="183356" y="148174"/>
                      <a:pt x="148174" y="183356"/>
                      <a:pt x="104775" y="183356"/>
                    </a:cubicBezTo>
                    <a:cubicBezTo>
                      <a:pt x="61376" y="183356"/>
                      <a:pt x="26194" y="148174"/>
                      <a:pt x="26194" y="104775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462962" y="4136231"/>
              <a:ext cx="2452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Fusion POSITIVE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就是新客体产出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63915" y="43443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(Part B 后面会展开)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8191500" y="47148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178165" y="4858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新客体的优势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78165" y="509682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编译器 + ISA + 硬件参数 三面可控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762625"/>
            <a:ext cx="11049000" cy="650081"/>
            <a:chOff x="571500" y="5762625"/>
            <a:chExt cx="11049000" cy="650081"/>
          </a:xfrm>
        </p:grpSpPr>
        <p:sp>
          <p:nvSpPr>
            <p:cNvPr id="75" name="Rectangle 75"/>
            <p:cNvSpPr/>
            <p:nvPr/>
          </p:nvSpPr>
          <p:spPr>
            <a:xfrm>
              <a:off x="571500" y="5762625"/>
              <a:ext cx="11049000" cy="619125"/>
            </a:xfrm>
            <a:prstGeom prst="roundRect">
              <a:avLst>
                <a:gd name="adj" fmla="val 923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5808" y="5958364"/>
              <a:ext cx="5004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要点</a:t>
              </a:r>
              <a:r>
                <a:rPr lang="zh-CN" sz="12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迁移的核心逻辑是 </a:t>
              </a:r>
              <a:r>
                <a:rPr lang="zh-CN" sz="1275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"从被锁死的架构 → 到可控的架构"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7712" y="6184106"/>
              <a:ext cx="54588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5DBDB"/>
                  </a:solidFill>
                  <a:latin typeface="Segoe UI"/>
                  <a:ea typeface="Microsoft YaHei"/>
                  <a:cs typeface="Segoe UI"/>
                </a:rPr>
                <a:t>Lumina 复现留在 GPU 是延续性工作；Co-design 落到 NPU 才有新架构空间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1022" y="6626066"/>
            <a:ext cx="11069956" cy="167640"/>
            <a:chOff x="561022" y="6626066"/>
            <a:chExt cx="11069956" cy="167640"/>
          </a:xfrm>
        </p:grpSpPr>
        <p:sp>
          <p:nvSpPr>
            <p:cNvPr id="79" name="TextBox 79"/>
            <p:cNvSpPr txBox="1"/>
            <p:nvPr/>
          </p:nvSpPr>
          <p:spPr>
            <a:xfrm>
              <a:off x="561022" y="6626066"/>
              <a:ext cx="10089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A · 背景介绍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36500" y="6626066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0" grpId="0"/>
      <p:bldP spid="74" grpId="0"/>
      <p:bldP spid="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5612344" cy="981075"/>
            <a:chOff x="542925" y="523875"/>
            <a:chExt cx="5612344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56123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NPU 上的新问题：TOG 抽象层次不同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7985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Tile-Operation Graph 带来一整套新的思考维度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32585"/>
            <a:ext cx="5429250" cy="1558290"/>
            <a:chOff x="571500" y="1632585"/>
            <a:chExt cx="5429250" cy="1558290"/>
          </a:xfrm>
        </p:grpSpPr>
        <p:sp>
          <p:nvSpPr>
            <p:cNvPr id="8" name="TextBox 8"/>
            <p:cNvSpPr txBox="1"/>
            <p:nvPr/>
          </p:nvSpPr>
          <p:spPr>
            <a:xfrm>
              <a:off x="746760" y="1632585"/>
              <a:ext cx="941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GPU 侧抽象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5429250" cy="1333500"/>
            </a:xfrm>
            <a:prstGeom prst="roundRect">
              <a:avLst>
                <a:gd name="adj" fmla="val 7143"/>
              </a:avLst>
            </a:prstGeom>
            <a:solidFill>
              <a:srgbClr val="F5F7FA"/>
            </a:solidFill>
            <a:ln w="19050">
              <a:solidFill>
                <a:srgbClr val="95A5A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047875"/>
              <a:ext cx="1000125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95A5A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8409" y="2201228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Kernel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1790700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52625" y="2047875"/>
              <a:ext cx="1000125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95A5A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07887" y="2201228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CTA / Block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2981325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43250" y="2047875"/>
              <a:ext cx="1000125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95A5A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31991" y="2201228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Warp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4171950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33875" y="2047875"/>
              <a:ext cx="1428750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95A5A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83421" y="2201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SIMT lane / SM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2648902"/>
              <a:ext cx="47882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Profiling 单位：warp/SM utilization、divergence、L1/L2 hit rate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2887028"/>
              <a:ext cx="41748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数十年积累的 tooling：nsys / nsight / SASS / CUPTI，成熟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1250" y="1632585"/>
            <a:ext cx="5429250" cy="1558290"/>
            <a:chOff x="6191250" y="1632585"/>
            <a:chExt cx="5429250" cy="1558290"/>
          </a:xfrm>
        </p:grpSpPr>
        <p:sp>
          <p:nvSpPr>
            <p:cNvPr id="24" name="TextBox 24"/>
            <p:cNvSpPr txBox="1"/>
            <p:nvPr/>
          </p:nvSpPr>
          <p:spPr>
            <a:xfrm>
              <a:off x="6366510" y="1632585"/>
              <a:ext cx="2155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NPU 侧抽象 · PyTorchSim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1857375"/>
              <a:ext cx="5429250" cy="1333500"/>
            </a:xfrm>
            <a:prstGeom prst="roundRect">
              <a:avLst>
                <a:gd name="adj" fmla="val 7143"/>
              </a:avLst>
            </a:prstGeom>
            <a:solidFill>
              <a:srgbClr val="F5F7FA"/>
            </a:solidFill>
            <a:ln w="23812">
              <a:solidFill>
                <a:srgbClr val="0076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81750" y="2047875"/>
              <a:ext cx="1238250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0076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36046" y="2201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PyTorch Model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7648575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0" y="2047875"/>
              <a:ext cx="1333500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0076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6574" y="2201228"/>
              <a:ext cx="1081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MLIR / TOG op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9172575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34500" y="2047875"/>
              <a:ext cx="1000125" cy="428625"/>
            </a:xfrm>
            <a:prstGeom prst="roundRect">
              <a:avLst>
                <a:gd name="adj" fmla="val 13333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79598" y="2201228"/>
              <a:ext cx="3004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Tile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10363200" y="2209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47625"/>
                  </a:moveTo>
                  <a:lnTo>
                    <a:pt x="11430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525125" y="2047875"/>
              <a:ext cx="1000125" cy="4286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0076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15979" y="2201228"/>
              <a:ext cx="1008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RV vector op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8415" y="2648902"/>
              <a:ext cx="4052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Profiling 单位：</a:t>
              </a:r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tile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级 cycle、TOG 节点执行 dependency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8415" y="2887028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tooling 新：TOG 依赖图、tile-level latency 表，还在演进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429000"/>
            <a:ext cx="11049000" cy="523875"/>
            <a:chOff x="571500" y="3429000"/>
            <a:chExt cx="11049000" cy="523875"/>
          </a:xfrm>
        </p:grpSpPr>
        <p:sp>
          <p:nvSpPr>
            <p:cNvPr id="40" name="Rectangle 40"/>
            <p:cNvSpPr/>
            <p:nvPr/>
          </p:nvSpPr>
          <p:spPr>
            <a:xfrm>
              <a:off x="571500" y="3429000"/>
              <a:ext cx="11049000" cy="523875"/>
            </a:xfrm>
            <a:prstGeom prst="roundRect">
              <a:avLst>
                <a:gd name="adj" fmla="val 10909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97719" y="352425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53578" y="205383"/>
                  </a:moveTo>
                  <a:lnTo>
                    <a:pt x="53578" y="258961"/>
                  </a:lnTo>
                  <a:lnTo>
                    <a:pt x="80367" y="285750"/>
                  </a:lnTo>
                  <a:lnTo>
                    <a:pt x="133945" y="285750"/>
                  </a:lnTo>
                  <a:lnTo>
                    <a:pt x="160734" y="258961"/>
                  </a:lnTo>
                  <a:lnTo>
                    <a:pt x="160734" y="205383"/>
                  </a:lnTo>
                  <a:lnTo>
                    <a:pt x="182873" y="183244"/>
                  </a:lnTo>
                  <a:cubicBezTo>
                    <a:pt x="203004" y="163114"/>
                    <a:pt x="214312" y="135756"/>
                    <a:pt x="214312" y="107288"/>
                  </a:cubicBezTo>
                  <a:cubicBezTo>
                    <a:pt x="214312" y="48107"/>
                    <a:pt x="166337" y="0"/>
                    <a:pt x="107156" y="0"/>
                  </a:cubicBezTo>
                  <a:cubicBezTo>
                    <a:pt x="47975" y="0"/>
                    <a:pt x="0" y="48107"/>
                    <a:pt x="0" y="107288"/>
                  </a:cubicBezTo>
                  <a:cubicBezTo>
                    <a:pt x="0" y="135756"/>
                    <a:pt x="11309" y="163114"/>
                    <a:pt x="31440" y="183244"/>
                  </a:cubicBezTo>
                  <a:lnTo>
                    <a:pt x="53578" y="205383"/>
                  </a:lnTo>
                  <a:close/>
                  <a:moveTo>
                    <a:pt x="89297" y="176343"/>
                  </a:moveTo>
                  <a:lnTo>
                    <a:pt x="89297" y="107156"/>
                  </a:lnTo>
                  <a:lnTo>
                    <a:pt x="125016" y="107156"/>
                  </a:lnTo>
                  <a:lnTo>
                    <a:pt x="125016" y="176343"/>
                  </a:lnTo>
                  <a:cubicBezTo>
                    <a:pt x="155827" y="168413"/>
                    <a:pt x="178594" y="140443"/>
                    <a:pt x="178594" y="107156"/>
                  </a:cubicBezTo>
                  <a:cubicBezTo>
                    <a:pt x="178594" y="67702"/>
                    <a:pt x="146609" y="35719"/>
                    <a:pt x="107156" y="35719"/>
                  </a:cubicBezTo>
                  <a:cubicBezTo>
                    <a:pt x="67702" y="35719"/>
                    <a:pt x="35719" y="67702"/>
                    <a:pt x="35719" y="107156"/>
                  </a:cubicBezTo>
                  <a:cubicBezTo>
                    <a:pt x="35719" y="140443"/>
                    <a:pt x="58485" y="168413"/>
                    <a:pt x="89297" y="176343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75385" y="3604260"/>
              <a:ext cx="6997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核心差异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· GPU 抽象是 </a:t>
              </a:r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动态 SIMT 调度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；NPU 抽象是 </a:t>
              </a:r>
              <a:r>
                <a:rPr lang="zh-CN" sz="12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编译期静态 tile 图 + 确定性 latency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6260" y="4156710"/>
            <a:ext cx="11064240" cy="1653540"/>
            <a:chOff x="556260" y="4156710"/>
            <a:chExt cx="11064240" cy="1653540"/>
          </a:xfrm>
        </p:grpSpPr>
        <p:sp>
          <p:nvSpPr>
            <p:cNvPr id="44" name="TextBox 44"/>
            <p:cNvSpPr txBox="1"/>
            <p:nvPr/>
          </p:nvSpPr>
          <p:spPr>
            <a:xfrm>
              <a:off x="556260" y="4156710"/>
              <a:ext cx="3600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这带来的新问题 (本次汇报只解决了一部分)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429125"/>
              <a:ext cx="3619500" cy="138112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62000" y="4591050"/>
              <a:ext cx="247650" cy="247650"/>
              <a:chOff x="762000" y="4591050"/>
              <a:chExt cx="247650" cy="2476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3912" y="465296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61912" y="0"/>
                    </a:moveTo>
                    <a:cubicBezTo>
                      <a:pt x="27719" y="0"/>
                      <a:pt x="0" y="27719"/>
                      <a:pt x="0" y="61912"/>
                    </a:cubicBezTo>
                    <a:cubicBezTo>
                      <a:pt x="0" y="96105"/>
                      <a:pt x="27719" y="123825"/>
                      <a:pt x="61912" y="123825"/>
                    </a:cubicBezTo>
                    <a:cubicBezTo>
                      <a:pt x="96105" y="123825"/>
                      <a:pt x="123825" y="96105"/>
                      <a:pt x="123825" y="61912"/>
                    </a:cubicBezTo>
                    <a:cubicBezTo>
                      <a:pt x="123825" y="27719"/>
                      <a:pt x="96105" y="0"/>
                      <a:pt x="61912" y="0"/>
                    </a:cubicBezTo>
                    <a:close/>
                    <a:moveTo>
                      <a:pt x="30956" y="61912"/>
                    </a:moveTo>
                    <a:cubicBezTo>
                      <a:pt x="30956" y="44816"/>
                      <a:pt x="44816" y="30956"/>
                      <a:pt x="61912" y="30956"/>
                    </a:cubicBezTo>
                    <a:cubicBezTo>
                      <a:pt x="79009" y="30956"/>
                      <a:pt x="92869" y="44816"/>
                      <a:pt x="92869" y="61912"/>
                    </a:cubicBezTo>
                    <a:cubicBezTo>
                      <a:pt x="92869" y="79009"/>
                      <a:pt x="79009" y="92869"/>
                      <a:pt x="61912" y="92869"/>
                    </a:cubicBezTo>
                    <a:cubicBezTo>
                      <a:pt x="44816" y="92869"/>
                      <a:pt x="30956" y="79009"/>
                      <a:pt x="30956" y="61912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62000" y="45910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650" y="55438"/>
                      <a:pt x="192212" y="0"/>
                      <a:pt x="123825" y="0"/>
                    </a:cubicBezTo>
                    <a:close/>
                    <a:moveTo>
                      <a:pt x="30956" y="123825"/>
                    </a:moveTo>
                    <a:cubicBezTo>
                      <a:pt x="30956" y="72535"/>
                      <a:pt x="72535" y="30956"/>
                      <a:pt x="123825" y="30956"/>
                    </a:cubicBezTo>
                    <a:cubicBezTo>
                      <a:pt x="175115" y="30956"/>
                      <a:pt x="216694" y="72535"/>
                      <a:pt x="216694" y="123825"/>
                    </a:cubicBezTo>
                    <a:cubicBezTo>
                      <a:pt x="216694" y="175115"/>
                      <a:pt x="175115" y="216694"/>
                      <a:pt x="123825" y="216694"/>
                    </a:cubicBezTo>
                    <a:cubicBezTo>
                      <a:pt x="72535" y="216694"/>
                      <a:pt x="30956" y="175115"/>
                      <a:pt x="30956" y="123825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79182" y="4643914"/>
              <a:ext cx="18800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Critical path 定义变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8665" y="493490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GPU：warp scheduling + memory stall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8665" y="514445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NPU：TOG 依赖图 + tile latency 累加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618" y="541924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P09 里 GPT-2 fusion 不在 critical path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618" y="55906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就是这类问题的直接体现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286250" y="4429125"/>
              <a:ext cx="3619500" cy="138112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4476750" y="4591050"/>
              <a:ext cx="243116" cy="243116"/>
            </a:xfrm>
            <a:custGeom>
              <a:avLst/>
              <a:gdLst/>
              <a:ahLst/>
              <a:cxnLst/>
              <a:rect l="l" t="t" r="r" b="b"/>
              <a:pathLst>
                <a:path w="243116" h="243116">
                  <a:moveTo>
                    <a:pt x="173234" y="195123"/>
                  </a:moveTo>
                  <a:cubicBezTo>
                    <a:pt x="155147" y="208670"/>
                    <a:pt x="132684" y="216694"/>
                    <a:pt x="108347" y="216694"/>
                  </a:cubicBezTo>
                  <a:cubicBezTo>
                    <a:pt x="48509" y="216694"/>
                    <a:pt x="0" y="168185"/>
                    <a:pt x="0" y="108347"/>
                  </a:cubicBezTo>
                  <a:cubicBezTo>
                    <a:pt x="0" y="48509"/>
                    <a:pt x="48509" y="0"/>
                    <a:pt x="108347" y="0"/>
                  </a:cubicBezTo>
                  <a:cubicBezTo>
                    <a:pt x="168185" y="0"/>
                    <a:pt x="216694" y="48509"/>
                    <a:pt x="216694" y="108347"/>
                  </a:cubicBezTo>
                  <a:cubicBezTo>
                    <a:pt x="216694" y="132684"/>
                    <a:pt x="208670" y="155147"/>
                    <a:pt x="195123" y="173234"/>
                  </a:cubicBezTo>
                  <a:lnTo>
                    <a:pt x="243116" y="221227"/>
                  </a:lnTo>
                  <a:lnTo>
                    <a:pt x="221227" y="243116"/>
                  </a:lnTo>
                  <a:lnTo>
                    <a:pt x="173234" y="195123"/>
                  </a:lnTo>
                  <a:close/>
                  <a:moveTo>
                    <a:pt x="86458" y="130236"/>
                  </a:moveTo>
                  <a:lnTo>
                    <a:pt x="64568" y="152126"/>
                  </a:lnTo>
                  <a:cubicBezTo>
                    <a:pt x="40390" y="127947"/>
                    <a:pt x="40390" y="88746"/>
                    <a:pt x="64568" y="64568"/>
                  </a:cubicBezTo>
                  <a:cubicBezTo>
                    <a:pt x="88746" y="40390"/>
                    <a:pt x="127947" y="40390"/>
                    <a:pt x="152126" y="64568"/>
                  </a:cubicBezTo>
                  <a:lnTo>
                    <a:pt x="130236" y="86458"/>
                  </a:lnTo>
                  <a:cubicBezTo>
                    <a:pt x="118147" y="74368"/>
                    <a:pt x="98547" y="74368"/>
                    <a:pt x="86458" y="86458"/>
                  </a:cubicBezTo>
                  <a:cubicBezTo>
                    <a:pt x="74368" y="98547"/>
                    <a:pt x="74368" y="118147"/>
                    <a:pt x="86458" y="130236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93932" y="4643914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编译器暴露面有限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63415" y="49349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很多 axis 在源码里是 hardcode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63415" y="514445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dataflow / SPAD / DMA schedule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64368" y="54192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P07 会展开这个 discovery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464368" y="55906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当前只有 fusion 可无源码切换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01000" y="4429125"/>
              <a:ext cx="3619500" cy="138112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191500" y="4606528"/>
              <a:ext cx="247650" cy="216694"/>
              <a:chOff x="8191500" y="4606528"/>
              <a:chExt cx="247650" cy="21669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77238" y="4606528"/>
                <a:ext cx="61912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216694">
                    <a:moveTo>
                      <a:pt x="61912" y="0"/>
                    </a:moveTo>
                    <a:lnTo>
                      <a:pt x="0" y="0"/>
                    </a:lnTo>
                    <a:lnTo>
                      <a:pt x="0" y="216694"/>
                    </a:lnTo>
                    <a:lnTo>
                      <a:pt x="61912" y="216694"/>
                    </a:lnTo>
                    <a:lnTo>
                      <a:pt x="61912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84369" y="4668441"/>
                <a:ext cx="6191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54781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154781"/>
                    </a:lnTo>
                    <a:lnTo>
                      <a:pt x="0" y="1547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91500" y="4730353"/>
                <a:ext cx="619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2869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92869"/>
                    </a:lnTo>
                    <a:lnTo>
                      <a:pt x="0" y="92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508682" y="4643914"/>
              <a:ext cx="21636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Measured 方法论要重立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8165" y="4934902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GPU 时代 baseline / verdict 方法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78165" y="514445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不能直接搬到 tile-level 语境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79118" y="54192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Part B 的 gate2b_ratio + scope limit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79118" y="5590699"/>
              <a:ext cx="21963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就是我们在 NPU 上重新定义的判据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5981700"/>
            <a:ext cx="11049000" cy="476250"/>
            <a:chOff x="571500" y="5981700"/>
            <a:chExt cx="11049000" cy="476250"/>
          </a:xfrm>
        </p:grpSpPr>
        <p:sp>
          <p:nvSpPr>
            <p:cNvPr id="72" name="Rectangle 72"/>
            <p:cNvSpPr/>
            <p:nvPr/>
          </p:nvSpPr>
          <p:spPr>
            <a:xfrm>
              <a:off x="571500" y="5981700"/>
              <a:ext cx="11049000" cy="476250"/>
            </a:xfrm>
            <a:prstGeom prst="roundRect">
              <a:avLst>
                <a:gd name="adj" fmla="val 12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5808" y="6148864"/>
              <a:ext cx="82164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承上启下</a:t>
              </a:r>
              <a:r>
                <a:rPr lang="zh-CN" sz="12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三个新问题正好对应 Part B (co-design axis 搜索) 和 Part C (validator 方法论迁移)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1022" y="6626066"/>
            <a:ext cx="11069956" cy="167640"/>
            <a:chOff x="561022" y="6626066"/>
            <a:chExt cx="11069956" cy="167640"/>
          </a:xfrm>
        </p:grpSpPr>
        <p:sp>
          <p:nvSpPr>
            <p:cNvPr id="75" name="TextBox 75"/>
            <p:cNvSpPr txBox="1"/>
            <p:nvPr/>
          </p:nvSpPr>
          <p:spPr>
            <a:xfrm>
              <a:off x="561022" y="6626066"/>
              <a:ext cx="10089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A · 背景介绍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36500" y="6626066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  <p:bldP spid="43" grpId="0"/>
      <p:bldP spid="71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9045523" cy="981075"/>
            <a:chOff x="542925" y="523875"/>
            <a:chExt cx="9045523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90455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研究问题：PyTorchSim 上是否存在 measured POSITIVE？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160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HW/SW Co-design 的存在性判定 · 学术诚实优先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2190750"/>
            <a:ext cx="3429000" cy="4214812"/>
            <a:chOff x="381000" y="2190750"/>
            <a:chExt cx="3429000" cy="4214812"/>
          </a:xfrm>
        </p:grpSpPr>
        <p:sp>
          <p:nvSpPr>
            <p:cNvPr id="8" name="Ellipse 8"/>
            <p:cNvSpPr/>
            <p:nvPr/>
          </p:nvSpPr>
          <p:spPr>
            <a:xfrm>
              <a:off x="381000" y="2190750"/>
              <a:ext cx="3429000" cy="3429000"/>
            </a:xfrm>
            <a:prstGeom prst="ellipse">
              <a:avLst/>
            </a:prstGeom>
            <a:gradFill>
              <a:gsLst>
                <a:gs pos="0">
                  <a:srgbClr val="0076A8">
                    <a:alpha val="15000"/>
                  </a:srgbClr>
                </a:gs>
                <a:gs pos="100000">
                  <a:srgbClr val="0076A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52500" y="276225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0076A8"/>
              </a:solidFill>
              <a:prstDash val="dash"/>
            </a:ln>
          </p:spPr>
        </p:sp>
        <p:sp>
          <p:nvSpPr>
            <p:cNvPr id="10" name="Ellipse 10"/>
            <p:cNvSpPr/>
            <p:nvPr/>
          </p:nvSpPr>
          <p:spPr>
            <a:xfrm>
              <a:off x="1428750" y="3238500"/>
              <a:ext cx="1333500" cy="1333500"/>
            </a:xfrm>
            <a:prstGeom prst="ellipse">
              <a:avLst/>
            </a:prstGeom>
            <a:noFill/>
            <a:ln w="19050">
              <a:solidFill>
                <a:srgbClr val="0076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809750" y="3619500"/>
              <a:ext cx="571500" cy="5715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866900" y="3676650"/>
              <a:ext cx="457200" cy="457200"/>
              <a:chOff x="1866900" y="3676650"/>
              <a:chExt cx="457200" cy="457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981200" y="37909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5"/>
                      <a:pt x="51174" y="228600"/>
                      <a:pt x="114300" y="228600"/>
                    </a:cubicBezTo>
                    <a:cubicBezTo>
                      <a:pt x="177425" y="228600"/>
                      <a:pt x="228600" y="177425"/>
                      <a:pt x="228600" y="114300"/>
                    </a:cubicBezTo>
                    <a:cubicBezTo>
                      <a:pt x="228600" y="51174"/>
                      <a:pt x="177425" y="0"/>
                      <a:pt x="114300" y="0"/>
                    </a:cubicBezTo>
                    <a:close/>
                    <a:moveTo>
                      <a:pt x="57150" y="114300"/>
                    </a:moveTo>
                    <a:cubicBezTo>
                      <a:pt x="57150" y="82737"/>
                      <a:pt x="82737" y="57150"/>
                      <a:pt x="114300" y="57150"/>
                    </a:cubicBezTo>
                    <a:cubicBezTo>
                      <a:pt x="145863" y="57150"/>
                      <a:pt x="171450" y="82737"/>
                      <a:pt x="171450" y="114300"/>
                    </a:cubicBezTo>
                    <a:cubicBezTo>
                      <a:pt x="171450" y="145863"/>
                      <a:pt x="145863" y="171450"/>
                      <a:pt x="114300" y="171450"/>
                    </a:cubicBezTo>
                    <a:cubicBezTo>
                      <a:pt x="82737" y="171450"/>
                      <a:pt x="57150" y="145863"/>
                      <a:pt x="57150" y="1143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866900" y="367665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28600" y="0"/>
                    </a:moveTo>
                    <a:cubicBezTo>
                      <a:pt x="102348" y="0"/>
                      <a:pt x="0" y="102348"/>
                      <a:pt x="0" y="228600"/>
                    </a:cubicBezTo>
                    <a:cubicBezTo>
                      <a:pt x="0" y="354853"/>
                      <a:pt x="102348" y="457200"/>
                      <a:pt x="228600" y="457200"/>
                    </a:cubicBezTo>
                    <a:cubicBezTo>
                      <a:pt x="354853" y="457200"/>
                      <a:pt x="457200" y="354853"/>
                      <a:pt x="457200" y="228600"/>
                    </a:cubicBezTo>
                    <a:cubicBezTo>
                      <a:pt x="457200" y="102348"/>
                      <a:pt x="354853" y="0"/>
                      <a:pt x="228600" y="0"/>
                    </a:cubicBezTo>
                    <a:close/>
                    <a:moveTo>
                      <a:pt x="57150" y="228600"/>
                    </a:moveTo>
                    <a:cubicBezTo>
                      <a:pt x="57150" y="133911"/>
                      <a:pt x="133911" y="57150"/>
                      <a:pt x="228600" y="57150"/>
                    </a:cubicBezTo>
                    <a:cubicBezTo>
                      <a:pt x="323289" y="57150"/>
                      <a:pt x="400050" y="133911"/>
                      <a:pt x="400050" y="228600"/>
                    </a:cubicBezTo>
                    <a:cubicBezTo>
                      <a:pt x="400050" y="323289"/>
                      <a:pt x="323289" y="400050"/>
                      <a:pt x="228600" y="400050"/>
                    </a:cubicBezTo>
                    <a:cubicBezTo>
                      <a:pt x="133911" y="400050"/>
                      <a:pt x="57150" y="323289"/>
                      <a:pt x="57150" y="2286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67629" y="5759768"/>
              <a:ext cx="1255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Route 4 目标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62050" y="6030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扩展到贴近编译器控制面的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75460" y="61922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修改维度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91000" y="1905000"/>
            <a:ext cx="7799832" cy="4191000"/>
            <a:chOff x="4191000" y="1905000"/>
            <a:chExt cx="7799832" cy="4191000"/>
          </a:xfrm>
        </p:grpSpPr>
        <p:sp>
          <p:nvSpPr>
            <p:cNvPr id="19" name="Line 19"/>
            <p:cNvSpPr/>
            <p:nvPr/>
          </p:nvSpPr>
          <p:spPr>
            <a:xfrm>
              <a:off x="4191000" y="19050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6750" y="1905000"/>
              <a:ext cx="7143750" cy="1000125"/>
            </a:xfrm>
            <a:prstGeom prst="roundRect">
              <a:avLst>
                <a:gd name="adj" fmla="val 7619"/>
              </a:avLst>
            </a:prstGeom>
            <a:solidFill>
              <a:srgbClr val="F5F7FA"/>
            </a:solidFill>
            <a:ln w="19050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20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核心问题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6295" y="2393632"/>
              <a:ext cx="55706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给定 workload 和 HW 配置空间，co-design 是否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6295" y="2631758"/>
              <a:ext cx="52290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显著优于 fixed HW × workload-tuned 组合？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1510" y="3156585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判据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76750" y="3381375"/>
              <a:ext cx="7143750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52010" y="3489960"/>
              <a:ext cx="73388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measured 数据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· </a:t>
              </a:r>
              <a:r>
                <a:rPr lang="zh-CN" sz="120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gate2b_ratio ≥ 0.15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(相对 range 超过 15% 视为 significant interaction)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3915" y="3706178"/>
              <a:ext cx="4013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合格证据来源：脚本可复现 · 有 seed · per-cell 多次重复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1510" y="4109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不接受的证据类型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476750" y="4381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51112" y="67950"/>
                  </a:moveTo>
                  <a:lnTo>
                    <a:pt x="78412" y="95250"/>
                  </a:lnTo>
                  <a:lnTo>
                    <a:pt x="51112" y="122550"/>
                  </a:lnTo>
                  <a:lnTo>
                    <a:pt x="67950" y="139388"/>
                  </a:lnTo>
                  <a:lnTo>
                    <a:pt x="95250" y="112088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12088" y="95250"/>
                  </a:lnTo>
                  <a:lnTo>
                    <a:pt x="139388" y="67950"/>
                  </a:lnTo>
                  <a:lnTo>
                    <a:pt x="122550" y="51112"/>
                  </a:lnTo>
                  <a:lnTo>
                    <a:pt x="95250" y="78412"/>
                  </a:lnTo>
                  <a:lnTo>
                    <a:pt x="67950" y="51112"/>
                  </a:lnTo>
                  <a:lnTo>
                    <a:pt x="51112" y="6795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48212" y="4412456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placeholder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— 占位行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4381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51112" y="67950"/>
                  </a:moveTo>
                  <a:lnTo>
                    <a:pt x="78412" y="95250"/>
                  </a:lnTo>
                  <a:lnTo>
                    <a:pt x="51112" y="122550"/>
                  </a:lnTo>
                  <a:lnTo>
                    <a:pt x="67950" y="139388"/>
                  </a:lnTo>
                  <a:lnTo>
                    <a:pt x="95250" y="112088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12088" y="95250"/>
                  </a:lnTo>
                  <a:lnTo>
                    <a:pt x="139388" y="67950"/>
                  </a:lnTo>
                  <a:lnTo>
                    <a:pt x="122550" y="51112"/>
                  </a:lnTo>
                  <a:lnTo>
                    <a:pt x="95250" y="78412"/>
                  </a:lnTo>
                  <a:lnTo>
                    <a:pt x="67950" y="51112"/>
                  </a:lnTo>
                  <a:lnTo>
                    <a:pt x="51112" y="6795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9462" y="4412456"/>
              <a:ext cx="2632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modeled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— 模型推导，非 measured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4476750" y="4667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51112" y="67950"/>
                  </a:moveTo>
                  <a:lnTo>
                    <a:pt x="78412" y="95250"/>
                  </a:lnTo>
                  <a:lnTo>
                    <a:pt x="51112" y="122550"/>
                  </a:lnTo>
                  <a:lnTo>
                    <a:pt x="67950" y="139388"/>
                  </a:lnTo>
                  <a:lnTo>
                    <a:pt x="95250" y="112088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12088" y="95250"/>
                  </a:lnTo>
                  <a:lnTo>
                    <a:pt x="139388" y="67950"/>
                  </a:lnTo>
                  <a:lnTo>
                    <a:pt x="122550" y="51112"/>
                  </a:lnTo>
                  <a:lnTo>
                    <a:pt x="95250" y="78412"/>
                  </a:lnTo>
                  <a:lnTo>
                    <a:pt x="67950" y="51112"/>
                  </a:lnTo>
                  <a:lnTo>
                    <a:pt x="51112" y="6795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48212" y="4698206"/>
              <a:ext cx="1770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pending_measurement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858000" y="4667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51112" y="67950"/>
                  </a:moveTo>
                  <a:lnTo>
                    <a:pt x="78412" y="95250"/>
                  </a:lnTo>
                  <a:lnTo>
                    <a:pt x="51112" y="122550"/>
                  </a:lnTo>
                  <a:lnTo>
                    <a:pt x="67950" y="139388"/>
                  </a:lnTo>
                  <a:lnTo>
                    <a:pt x="95250" y="112088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12088" y="95250"/>
                  </a:lnTo>
                  <a:lnTo>
                    <a:pt x="139388" y="67950"/>
                  </a:lnTo>
                  <a:lnTo>
                    <a:pt x="122550" y="51112"/>
                  </a:lnTo>
                  <a:lnTo>
                    <a:pt x="95250" y="78412"/>
                  </a:lnTo>
                  <a:lnTo>
                    <a:pt x="67950" y="51112"/>
                  </a:lnTo>
                  <a:lnTo>
                    <a:pt x="51112" y="6795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29462" y="4698206"/>
              <a:ext cx="2172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null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telemetry — 未采集完成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76750" y="5143500"/>
              <a:ext cx="7143750" cy="857250"/>
            </a:xfrm>
            <a:prstGeom prst="roundRect">
              <a:avLst>
                <a:gd name="adj" fmla="val 888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52962" y="5307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5DBDB"/>
                  </a:solidFill>
                  <a:latin typeface="Segoe UI"/>
                  <a:ea typeface="Microsoft YaHei"/>
                  <a:cs typeface="Segoe UI"/>
                </a:rPr>
                <a:t>路线判断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48200" y="5553075"/>
              <a:ext cx="40290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v1 tiling-only 已经 NEGATIVE → 换 axis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52962" y="5803106"/>
              <a:ext cx="50892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Route 4 探索四个编译器修改维度：fusion / dataflow / SPAD / DMA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561022" y="6578441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7613594" cy="981075"/>
            <a:chOff x="542925" y="523875"/>
            <a:chExt cx="7613594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761359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v1 Baseline：GPT-2 tiling-only 空间上 NEGATIVE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18268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Evidence chain 的起点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857375"/>
            <a:ext cx="3048000" cy="3905250"/>
            <a:chOff x="571500" y="1857375"/>
            <a:chExt cx="3048000" cy="3905250"/>
          </a:xfrm>
        </p:grpSpPr>
        <p:sp>
          <p:nvSpPr>
            <p:cNvPr id="8" name="Rectangle 8"/>
            <p:cNvSpPr/>
            <p:nvPr/>
          </p:nvSpPr>
          <p:spPr>
            <a:xfrm>
              <a:off x="571500" y="1857375"/>
              <a:ext cx="3048000" cy="3905250"/>
            </a:xfrm>
            <a:prstGeom prst="roundRect">
              <a:avLst>
                <a:gd name="adj" fmla="val 3125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3048000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57250" y="206692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92002" y="122311"/>
                  </a:moveTo>
                  <a:lnTo>
                    <a:pt x="141142" y="171450"/>
                  </a:lnTo>
                  <a:lnTo>
                    <a:pt x="92002" y="220590"/>
                  </a:lnTo>
                  <a:lnTo>
                    <a:pt x="122311" y="250898"/>
                  </a:lnTo>
                  <a:lnTo>
                    <a:pt x="171450" y="201758"/>
                  </a:lnTo>
                  <a:lnTo>
                    <a:pt x="220590" y="250898"/>
                  </a:lnTo>
                  <a:lnTo>
                    <a:pt x="250898" y="220590"/>
                  </a:lnTo>
                  <a:lnTo>
                    <a:pt x="201758" y="171450"/>
                  </a:lnTo>
                  <a:lnTo>
                    <a:pt x="250898" y="122311"/>
                  </a:lnTo>
                  <a:lnTo>
                    <a:pt x="220590" y="92002"/>
                  </a:lnTo>
                  <a:lnTo>
                    <a:pt x="171450" y="141142"/>
                  </a:lnTo>
                  <a:lnTo>
                    <a:pt x="122311" y="92002"/>
                  </a:lnTo>
                  <a:lnTo>
                    <a:pt x="92002" y="1223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6830" y="2106930"/>
              <a:ext cx="138980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NEGATIVE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83940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Verdict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308705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FUSION_TILING_ONLY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327755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_NEGATIVE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3696652"/>
              <a:ext cx="670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Commits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934778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92623de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92618" y="39428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初次判决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4172902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09b9ac3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92618" y="4180999"/>
              <a:ext cx="12636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10% threshold 重算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52437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8665" y="4696778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Gate 1 Threshold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7235" y="4885372"/>
              <a:ext cx="4681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10%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20165" y="4934902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relative range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5268278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实测差异 &lt; threshold 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5439728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NEGATIVE 保持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888105" y="1949768"/>
            <a:ext cx="7732395" cy="3860482"/>
            <a:chOff x="3888105" y="1949768"/>
            <a:chExt cx="7732395" cy="3860482"/>
          </a:xfrm>
        </p:grpSpPr>
        <p:sp>
          <p:nvSpPr>
            <p:cNvPr id="27" name="TextBox 27"/>
            <p:cNvSpPr txBox="1"/>
            <p:nvPr/>
          </p:nvSpPr>
          <p:spPr>
            <a:xfrm>
              <a:off x="3888105" y="194976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v1 实验 setup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905250" y="2238375"/>
              <a:ext cx="7715250" cy="1381125"/>
            </a:xfrm>
            <a:prstGeom prst="roundRect">
              <a:avLst>
                <a:gd name="adj" fmla="val 5517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81462" y="2402681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Workload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81462" y="264080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GPT-2 single block prefill · seq=128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81462" y="2974181"/>
              <a:ext cx="1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Search space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1462" y="3212306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tiling-only · 2×2 SPAD/BW HW corners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20000" y="2428875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96212" y="2402681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 corners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97165" y="26489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codesign_v1_2x2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6212" y="2974181"/>
              <a:ext cx="4426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Mode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97165" y="3220402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pytorchsim_functional_mode=0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8105" y="3807142"/>
              <a:ext cx="35330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结论含义 · 为什么 NEGATIVE 不是死路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05250" y="4095750"/>
              <a:ext cx="771525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0076A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126706" y="4286250"/>
              <a:ext cx="185738" cy="247650"/>
            </a:xfrm>
            <a:custGeom>
              <a:avLst/>
              <a:gdLst/>
              <a:ahLst/>
              <a:cxnLst/>
              <a:rect l="l" t="t" r="r" b="b"/>
              <a:pathLst>
                <a:path w="185738" h="247650">
                  <a:moveTo>
                    <a:pt x="46434" y="177998"/>
                  </a:moveTo>
                  <a:lnTo>
                    <a:pt x="46434" y="224433"/>
                  </a:lnTo>
                  <a:lnTo>
                    <a:pt x="69652" y="247650"/>
                  </a:lnTo>
                  <a:lnTo>
                    <a:pt x="116086" y="247650"/>
                  </a:lnTo>
                  <a:lnTo>
                    <a:pt x="139303" y="224433"/>
                  </a:lnTo>
                  <a:lnTo>
                    <a:pt x="139303" y="177998"/>
                  </a:lnTo>
                  <a:lnTo>
                    <a:pt x="158490" y="158812"/>
                  </a:lnTo>
                  <a:cubicBezTo>
                    <a:pt x="175937" y="141365"/>
                    <a:pt x="185738" y="117656"/>
                    <a:pt x="185738" y="92983"/>
                  </a:cubicBezTo>
                  <a:cubicBezTo>
                    <a:pt x="185738" y="41693"/>
                    <a:pt x="144159" y="0"/>
                    <a:pt x="92869" y="0"/>
                  </a:cubicBezTo>
                  <a:cubicBezTo>
                    <a:pt x="41579" y="0"/>
                    <a:pt x="0" y="41693"/>
                    <a:pt x="0" y="92983"/>
                  </a:cubicBezTo>
                  <a:cubicBezTo>
                    <a:pt x="0" y="117656"/>
                    <a:pt x="9801" y="141365"/>
                    <a:pt x="27248" y="158812"/>
                  </a:cubicBezTo>
                  <a:lnTo>
                    <a:pt x="46434" y="177998"/>
                  </a:lnTo>
                  <a:close/>
                  <a:moveTo>
                    <a:pt x="77391" y="152831"/>
                  </a:moveTo>
                  <a:lnTo>
                    <a:pt x="77391" y="92869"/>
                  </a:lnTo>
                  <a:lnTo>
                    <a:pt x="108347" y="92869"/>
                  </a:lnTo>
                  <a:lnTo>
                    <a:pt x="108347" y="152831"/>
                  </a:lnTo>
                  <a:cubicBezTo>
                    <a:pt x="135050" y="145958"/>
                    <a:pt x="154781" y="121717"/>
                    <a:pt x="154781" y="92869"/>
                  </a:cubicBezTo>
                  <a:cubicBezTo>
                    <a:pt x="154781" y="58675"/>
                    <a:pt x="127061" y="30956"/>
                    <a:pt x="92869" y="30956"/>
                  </a:cubicBezTo>
                  <a:cubicBezTo>
                    <a:pt x="58675" y="30956"/>
                    <a:pt x="30956" y="58675"/>
                    <a:pt x="30956" y="92869"/>
                  </a:cubicBezTo>
                  <a:cubicBezTo>
                    <a:pt x="30956" y="121717"/>
                    <a:pt x="50687" y="145958"/>
                    <a:pt x="77391" y="152831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23410" y="4347210"/>
              <a:ext cx="5130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不是 co-design 不存在 — 是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这个 workload + 这个 axis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下不成立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4095750" y="4745831"/>
              <a:ext cx="247650" cy="185738"/>
            </a:xfrm>
            <a:custGeom>
              <a:avLst/>
              <a:gdLst/>
              <a:ahLst/>
              <a:cxnLst/>
              <a:rect l="l" t="t" r="r" b="b"/>
              <a:pathLst>
                <a:path w="247650" h="185738">
                  <a:moveTo>
                    <a:pt x="123825" y="61912"/>
                  </a:moveTo>
                  <a:lnTo>
                    <a:pt x="123825" y="0"/>
                  </a:lnTo>
                  <a:lnTo>
                    <a:pt x="154781" y="0"/>
                  </a:lnTo>
                  <a:lnTo>
                    <a:pt x="247650" y="92869"/>
                  </a:lnTo>
                  <a:lnTo>
                    <a:pt x="154781" y="185738"/>
                  </a:lnTo>
                  <a:lnTo>
                    <a:pt x="123825" y="185738"/>
                  </a:lnTo>
                  <a:lnTo>
                    <a:pt x="123825" y="123825"/>
                  </a:lnTo>
                  <a:lnTo>
                    <a:pt x="0" y="123825"/>
                  </a:lnTo>
                  <a:lnTo>
                    <a:pt x="0" y="61912"/>
                  </a:lnTo>
                  <a:lnTo>
                    <a:pt x="123825" y="61912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23410" y="4775835"/>
              <a:ext cx="55862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诚实结论 · 记录 verdict 后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换 workload / 换 axis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，不隐藏、不改判据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095750" y="5143500"/>
              <a:ext cx="247650" cy="247650"/>
              <a:chOff x="4095750" y="5143500"/>
              <a:chExt cx="247650" cy="2476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157662" y="52054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61912" y="0"/>
                    </a:moveTo>
                    <a:cubicBezTo>
                      <a:pt x="27719" y="0"/>
                      <a:pt x="0" y="27719"/>
                      <a:pt x="0" y="61912"/>
                    </a:cubicBezTo>
                    <a:cubicBezTo>
                      <a:pt x="0" y="96105"/>
                      <a:pt x="27719" y="123825"/>
                      <a:pt x="61912" y="123825"/>
                    </a:cubicBezTo>
                    <a:cubicBezTo>
                      <a:pt x="96105" y="123825"/>
                      <a:pt x="123825" y="96105"/>
                      <a:pt x="123825" y="61912"/>
                    </a:cubicBezTo>
                    <a:cubicBezTo>
                      <a:pt x="123825" y="27719"/>
                      <a:pt x="96105" y="0"/>
                      <a:pt x="61912" y="0"/>
                    </a:cubicBezTo>
                    <a:close/>
                    <a:moveTo>
                      <a:pt x="30956" y="61912"/>
                    </a:moveTo>
                    <a:cubicBezTo>
                      <a:pt x="30956" y="44816"/>
                      <a:pt x="44816" y="30956"/>
                      <a:pt x="61912" y="30956"/>
                    </a:cubicBezTo>
                    <a:cubicBezTo>
                      <a:pt x="79009" y="30956"/>
                      <a:pt x="92869" y="44816"/>
                      <a:pt x="92869" y="61912"/>
                    </a:cubicBezTo>
                    <a:cubicBezTo>
                      <a:pt x="92869" y="79009"/>
                      <a:pt x="79009" y="92869"/>
                      <a:pt x="61912" y="92869"/>
                    </a:cubicBezTo>
                    <a:cubicBezTo>
                      <a:pt x="44816" y="92869"/>
                      <a:pt x="30956" y="79009"/>
                      <a:pt x="30956" y="61912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095750" y="51435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650" y="55438"/>
                      <a:pt x="192212" y="0"/>
                      <a:pt x="123825" y="0"/>
                    </a:cubicBezTo>
                    <a:close/>
                    <a:moveTo>
                      <a:pt x="30956" y="123825"/>
                    </a:moveTo>
                    <a:cubicBezTo>
                      <a:pt x="30956" y="72535"/>
                      <a:pt x="72535" y="30956"/>
                      <a:pt x="123825" y="30956"/>
                    </a:cubicBezTo>
                    <a:cubicBezTo>
                      <a:pt x="175115" y="30956"/>
                      <a:pt x="216694" y="72535"/>
                      <a:pt x="216694" y="123825"/>
                    </a:cubicBezTo>
                    <a:cubicBezTo>
                      <a:pt x="216694" y="175115"/>
                      <a:pt x="175115" y="216694"/>
                      <a:pt x="123825" y="216694"/>
                    </a:cubicBezTo>
                    <a:cubicBezTo>
                      <a:pt x="72535" y="216694"/>
                      <a:pt x="30956" y="175115"/>
                      <a:pt x="30956" y="123825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423410" y="5204460"/>
              <a:ext cx="60243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触发 Route 4 pivot：探索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fusion / dataflow / SPAD / DMA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编译器修改维度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25315" y="5554028"/>
              <a:ext cx="48572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Verdict 名的 </a:t>
              </a:r>
              <a:r>
                <a:rPr lang="zh-CN" sz="1050" dirty="0">
                  <a:solidFill>
                    <a:srgbClr val="5D6D7E"/>
                  </a:solidFill>
                  <a:latin typeface="Consolas"/>
                  <a:ea typeface="Microsoft YaHei"/>
                  <a:cs typeface="Consolas"/>
                </a:rPr>
                <a:t>TILING_ONLY</a:t>
              </a:r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 明确标注了 axis 局限 — scope-aware 命名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561022" y="6578441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6405944" cy="981075"/>
            <a:chOff x="542925" y="523875"/>
            <a:chExt cx="6405944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64059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Route 4 Pivot：四个编译器修改维度全景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226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只有 fusion 是无源码可切换的 axis · commit 42e57b6 discovery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8165" y="1696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D6D7E"/>
                </a:solidFill>
                <a:latin typeface="Segoe UI"/>
                <a:ea typeface="Microsoft YaHei"/>
                <a:cs typeface="Segoe UI"/>
              </a:rPr>
              <a:t>对比维度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952625"/>
            <a:ext cx="2619375" cy="3905250"/>
            <a:chOff x="571500" y="1952625"/>
            <a:chExt cx="2619375" cy="390525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2619375" cy="3905250"/>
            </a:xfrm>
            <a:prstGeom prst="roundRect">
              <a:avLst>
                <a:gd name="adj" fmla="val 3636"/>
              </a:avLst>
            </a:prstGeom>
            <a:solidFill>
              <a:srgbClr val="F5F7FA"/>
            </a:solidFill>
            <a:ln w="23812">
              <a:solidFill>
                <a:srgbClr val="27AE6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52625"/>
              <a:ext cx="2619375" cy="762000"/>
            </a:xfrm>
            <a:prstGeom prst="roundRect">
              <a:avLst>
                <a:gd name="adj" fmla="val 125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1050" y="21717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257200" y="115515"/>
                  </a:moveTo>
                  <a:lnTo>
                    <a:pt x="228575" y="86891"/>
                  </a:lnTo>
                  <a:lnTo>
                    <a:pt x="131564" y="183902"/>
                  </a:lnTo>
                  <a:lnTo>
                    <a:pt x="95275" y="147613"/>
                  </a:lnTo>
                  <a:lnTo>
                    <a:pt x="66650" y="176237"/>
                  </a:lnTo>
                  <a:lnTo>
                    <a:pt x="131564" y="241151"/>
                  </a:lnTo>
                  <a:lnTo>
                    <a:pt x="257200" y="115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84910" y="2246948"/>
              <a:ext cx="961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fusion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895124"/>
              <a:ext cx="9667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YAML control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3104674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codegen_compiler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327612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_optimization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6285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可选值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83000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none / all / subset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修改成本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9140" y="4330065"/>
              <a:ext cx="7910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0 LOC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46096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无源码修改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4942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是否已实测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1435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7265" y="52096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YES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553354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Conv sweep 42.7%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333750" y="1952625"/>
            <a:ext cx="2619375" cy="3905250"/>
            <a:chOff x="3333750" y="1952625"/>
            <a:chExt cx="2619375" cy="3905250"/>
          </a:xfrm>
        </p:grpSpPr>
        <p:sp>
          <p:nvSpPr>
            <p:cNvPr id="26" name="Rectangle 26"/>
            <p:cNvSpPr/>
            <p:nvPr/>
          </p:nvSpPr>
          <p:spPr>
            <a:xfrm>
              <a:off x="3333750" y="1952625"/>
              <a:ext cx="2619375" cy="3905250"/>
            </a:xfrm>
            <a:prstGeom prst="roundRect">
              <a:avLst>
                <a:gd name="adj" fmla="val 3636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0" y="1952625"/>
              <a:ext cx="2619375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543300" y="21717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86891" y="115515"/>
                  </a:moveTo>
                  <a:lnTo>
                    <a:pt x="133301" y="161925"/>
                  </a:lnTo>
                  <a:lnTo>
                    <a:pt x="86891" y="208335"/>
                  </a:lnTo>
                  <a:lnTo>
                    <a:pt x="115515" y="236959"/>
                  </a:lnTo>
                  <a:lnTo>
                    <a:pt x="161925" y="190549"/>
                  </a:lnTo>
                  <a:lnTo>
                    <a:pt x="208335" y="236959"/>
                  </a:lnTo>
                  <a:lnTo>
                    <a:pt x="236959" y="208335"/>
                  </a:lnTo>
                  <a:lnTo>
                    <a:pt x="190549" y="161925"/>
                  </a:lnTo>
                  <a:lnTo>
                    <a:pt x="236959" y="115515"/>
                  </a:lnTo>
                  <a:lnTo>
                    <a:pt x="208335" y="86891"/>
                  </a:lnTo>
                  <a:lnTo>
                    <a:pt x="161925" y="133301"/>
                  </a:lnTo>
                  <a:lnTo>
                    <a:pt x="115515" y="86891"/>
                  </a:lnTo>
                  <a:lnTo>
                    <a:pt x="86891" y="115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47160" y="2246948"/>
              <a:ext cx="13503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dataflow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11868" y="28951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主路径固定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10915" y="3125152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WS_MESH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11868" y="33237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weight-stationary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11868" y="36285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未暴露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10915" y="38300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OS / IS YAML field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1868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修改成本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01390" y="4330065"/>
              <a:ext cx="583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HIGH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1868" y="46096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300-800 LOC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11868" y="4942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是否已实测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524250" y="51435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95680" y="5209699"/>
              <a:ext cx="219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11868" y="5533549"/>
              <a:ext cx="1050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source blocker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0" y="1952625"/>
            <a:ext cx="2619375" cy="3905250"/>
            <a:chOff x="6096000" y="1952625"/>
            <a:chExt cx="2619375" cy="3905250"/>
          </a:xfrm>
        </p:grpSpPr>
        <p:sp>
          <p:nvSpPr>
            <p:cNvPr id="43" name="Rectangle 43"/>
            <p:cNvSpPr/>
            <p:nvPr/>
          </p:nvSpPr>
          <p:spPr>
            <a:xfrm>
              <a:off x="6096000" y="1952625"/>
              <a:ext cx="2619375" cy="3905250"/>
            </a:xfrm>
            <a:prstGeom prst="roundRect">
              <a:avLst>
                <a:gd name="adj" fmla="val 3636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96000" y="1952625"/>
              <a:ext cx="2619375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305550" y="21717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86891" y="115515"/>
                  </a:moveTo>
                  <a:lnTo>
                    <a:pt x="133301" y="161925"/>
                  </a:lnTo>
                  <a:lnTo>
                    <a:pt x="86891" y="208335"/>
                  </a:lnTo>
                  <a:lnTo>
                    <a:pt x="115515" y="236959"/>
                  </a:lnTo>
                  <a:lnTo>
                    <a:pt x="161925" y="190549"/>
                  </a:lnTo>
                  <a:lnTo>
                    <a:pt x="208335" y="236959"/>
                  </a:lnTo>
                  <a:lnTo>
                    <a:pt x="236959" y="208335"/>
                  </a:lnTo>
                  <a:lnTo>
                    <a:pt x="190549" y="161925"/>
                  </a:lnTo>
                  <a:lnTo>
                    <a:pt x="236959" y="115515"/>
                  </a:lnTo>
                  <a:lnTo>
                    <a:pt x="208335" y="86891"/>
                  </a:lnTo>
                  <a:lnTo>
                    <a:pt x="161925" y="133301"/>
                  </a:lnTo>
                  <a:lnTo>
                    <a:pt x="115515" y="86891"/>
                  </a:lnTo>
                  <a:lnTo>
                    <a:pt x="86891" y="115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3220" y="2279332"/>
              <a:ext cx="18004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SPAD partition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4118" y="28951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状态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4118" y="3104674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SPAD_PARTITION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4118" y="32761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_HARDCODED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4118" y="36285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仅有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74118" y="383809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vpu_spad_size_kb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4118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修改成本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63640" y="4330065"/>
              <a:ext cx="583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HIGH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4118" y="4609624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改 tile descriptor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4118" y="4942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是否已实测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86500" y="51435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7930" y="5209699"/>
              <a:ext cx="219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74118" y="553354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仅 grep discovery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858250" y="1952625"/>
            <a:ext cx="2762250" cy="3905250"/>
            <a:chOff x="8858250" y="1952625"/>
            <a:chExt cx="2762250" cy="3905250"/>
          </a:xfrm>
        </p:grpSpPr>
        <p:sp>
          <p:nvSpPr>
            <p:cNvPr id="60" name="Rectangle 60"/>
            <p:cNvSpPr/>
            <p:nvPr/>
          </p:nvSpPr>
          <p:spPr>
            <a:xfrm>
              <a:off x="8858250" y="1952625"/>
              <a:ext cx="2762250" cy="3905250"/>
            </a:xfrm>
            <a:prstGeom prst="roundRect">
              <a:avLst>
                <a:gd name="adj" fmla="val 3448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58250" y="1952625"/>
              <a:ext cx="2762250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067800" y="21717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86891" y="115515"/>
                  </a:moveTo>
                  <a:lnTo>
                    <a:pt x="133301" y="161925"/>
                  </a:lnTo>
                  <a:lnTo>
                    <a:pt x="86891" y="208335"/>
                  </a:lnTo>
                  <a:lnTo>
                    <a:pt x="115515" y="236959"/>
                  </a:lnTo>
                  <a:lnTo>
                    <a:pt x="161925" y="190549"/>
                  </a:lnTo>
                  <a:lnTo>
                    <a:pt x="208335" y="236959"/>
                  </a:lnTo>
                  <a:lnTo>
                    <a:pt x="236959" y="208335"/>
                  </a:lnTo>
                  <a:lnTo>
                    <a:pt x="190549" y="161925"/>
                  </a:lnTo>
                  <a:lnTo>
                    <a:pt x="236959" y="115515"/>
                  </a:lnTo>
                  <a:lnTo>
                    <a:pt x="208335" y="86891"/>
                  </a:lnTo>
                  <a:lnTo>
                    <a:pt x="161925" y="133301"/>
                  </a:lnTo>
                  <a:lnTo>
                    <a:pt x="115515" y="86891"/>
                  </a:lnTo>
                  <a:lnTo>
                    <a:pt x="86891" y="115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7375" y="229552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DMA schedule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36368" y="28951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状态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36368" y="3104674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DMA_SCHEDULE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36368" y="32761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_HARDCODED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36368" y="36285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未见字段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37320" y="384619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prefetch / double_buffer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36368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修改成本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25890" y="4330065"/>
              <a:ext cx="12464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MED-HIGH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36368" y="460962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改 MLIR DMA emission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36368" y="4942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是否已实测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048750" y="51435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20180" y="5209699"/>
              <a:ext cx="219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6368" y="55335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下一步扩展方向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6000750"/>
            <a:ext cx="11049000" cy="495300"/>
            <a:chOff x="571500" y="6000750"/>
            <a:chExt cx="11049000" cy="495300"/>
          </a:xfrm>
        </p:grpSpPr>
        <p:sp>
          <p:nvSpPr>
            <p:cNvPr id="77" name="Rectangle 77"/>
            <p:cNvSpPr/>
            <p:nvPr/>
          </p:nvSpPr>
          <p:spPr>
            <a:xfrm>
              <a:off x="571500" y="6000750"/>
              <a:ext cx="11049000" cy="495300"/>
            </a:xfrm>
            <a:prstGeom prst="roundRect">
              <a:avLst>
                <a:gd name="adj" fmla="val 11538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4855" y="6169342"/>
              <a:ext cx="6866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要点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fusion 是 4 个维度中 </a:t>
              </a:r>
              <a:r>
                <a:rPr lang="zh-CN" sz="13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唯一可无源码切换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的 → Route 4 主线聚焦 fusion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1022" y="6626066"/>
            <a:ext cx="11069956" cy="167640"/>
            <a:chOff x="561022" y="6626066"/>
            <a:chExt cx="11069956" cy="167640"/>
          </a:xfrm>
        </p:grpSpPr>
        <p:sp>
          <p:nvSpPr>
            <p:cNvPr id="80" name="TextBox 80"/>
            <p:cNvSpPr txBox="1"/>
            <p:nvPr/>
          </p:nvSpPr>
          <p:spPr>
            <a:xfrm>
              <a:off x="561022" y="6626066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36500" y="6626066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2" grpId="0"/>
      <p:bldP spid="59" grpId="0"/>
      <p:bldP spid="76" grpId="0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8458950" cy="981075"/>
            <a:chOff x="542925" y="523875"/>
            <a:chExt cx="8458950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845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Fusion × HW POSITIVE：Conv 4-HW × 2-fusion sweep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6563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commit 79e6259 · Conv 3×3 [1,64,56,56] · seed=0 · 5 repeats/cell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0" y="1619250"/>
            <a:ext cx="2970609" cy="233362"/>
            <a:chOff x="8763000" y="1619250"/>
            <a:chExt cx="2970609" cy="233362"/>
          </a:xfrm>
        </p:grpSpPr>
        <p:sp>
          <p:nvSpPr>
            <p:cNvPr id="8" name="Rectangle 8"/>
            <p:cNvSpPr/>
            <p:nvPr/>
          </p:nvSpPr>
          <p:spPr>
            <a:xfrm>
              <a:off x="8763000" y="1619250"/>
              <a:ext cx="152400" cy="152400"/>
            </a:xfrm>
            <a:prstGeom prst="rect">
              <a:avLst/>
            </a:prstGeom>
            <a:gradFill>
              <a:gsLst>
                <a:gs pos="0">
                  <a:srgbClr val="5D6D7E"/>
                </a:gs>
                <a:gs pos="100000">
                  <a:srgbClr val="2C3E5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78265" y="163925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fusion=none (median cycles)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63250" y="1619250"/>
              <a:ext cx="152400" cy="152400"/>
            </a:xfrm>
            <a:prstGeom prst="rect">
              <a:avLst/>
            </a:prstGeom>
            <a:gradFill>
              <a:gsLst>
                <a:gs pos="0">
                  <a:srgbClr val="27AE60"/>
                </a:gs>
                <a:gs pos="100000">
                  <a:srgbClr val="1E844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78515" y="1639252"/>
              <a:ext cx="75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fusion=all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11087" y="1714500"/>
            <a:ext cx="10928413" cy="4176712"/>
            <a:chOff x="311087" y="1714500"/>
            <a:chExt cx="10928413" cy="4176712"/>
          </a:xfrm>
        </p:grpSpPr>
        <p:sp>
          <p:nvSpPr>
            <p:cNvPr id="13" name="TextBox 13"/>
            <p:cNvSpPr txBox="1"/>
            <p:nvPr/>
          </p:nvSpPr>
          <p:spPr>
            <a:xfrm>
              <a:off x="937641" y="1855470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320k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33500" y="1905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7641" y="2712720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240k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333500" y="2762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0502" y="3569970"/>
              <a:ext cx="2791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160k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33500" y="3619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9936" y="4427220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80k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333500" y="4476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54525" y="52844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3335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5334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 rot="-5400000">
              <a:off x="311087" y="3528060"/>
              <a:ext cx="8903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median cycles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5000" y="3295650"/>
              <a:ext cx="476250" cy="2038350"/>
            </a:xfrm>
            <a:prstGeom prst="rect">
              <a:avLst/>
            </a:prstGeom>
            <a:gradFill>
              <a:gsLst>
                <a:gs pos="0">
                  <a:srgbClr val="5D6D7E"/>
                </a:gs>
                <a:gs pos="100000">
                  <a:srgbClr val="2C3E5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83264" y="310324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189,837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76500" y="5038725"/>
              <a:ext cx="476250" cy="295275"/>
            </a:xfrm>
            <a:prstGeom prst="rect">
              <a:avLst/>
            </a:prstGeom>
            <a:gradFill>
              <a:gsLst>
                <a:gs pos="0">
                  <a:srgbClr val="27AE60"/>
                </a:gs>
                <a:gs pos="100000">
                  <a:srgbClr val="1E844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75467" y="484632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27,533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92807" y="544258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HW-A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27069" y="56168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6.90×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81500" y="2752725"/>
              <a:ext cx="476250" cy="2581275"/>
            </a:xfrm>
            <a:prstGeom prst="rect">
              <a:avLst/>
            </a:prstGeom>
            <a:gradFill>
              <a:gsLst>
                <a:gs pos="0">
                  <a:srgbClr val="5D6D7E"/>
                </a:gs>
                <a:gs pos="100000">
                  <a:srgbClr val="2C3E5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59764" y="2560320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240,914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53000" y="4800600"/>
              <a:ext cx="476250" cy="533400"/>
            </a:xfrm>
            <a:prstGeom prst="rect">
              <a:avLst/>
            </a:prstGeom>
            <a:gradFill>
              <a:gsLst>
                <a:gs pos="0">
                  <a:srgbClr val="27AE60"/>
                </a:gs>
                <a:gs pos="100000">
                  <a:srgbClr val="1E844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51967" y="4608195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49,877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69307" y="544258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HW-B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3569" y="56168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4.83×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0" y="3581400"/>
              <a:ext cx="476250" cy="1752600"/>
            </a:xfrm>
            <a:prstGeom prst="rect">
              <a:avLst/>
            </a:prstGeom>
            <a:gradFill>
              <a:gsLst>
                <a:gs pos="0">
                  <a:srgbClr val="5D6D7E"/>
                </a:gs>
                <a:gs pos="100000">
                  <a:srgbClr val="2C3E5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6264" y="338899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163,275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5057775"/>
              <a:ext cx="476250" cy="276225"/>
            </a:xfrm>
            <a:prstGeom prst="rect">
              <a:avLst/>
            </a:prstGeom>
            <a:gradFill>
              <a:gsLst>
                <a:gs pos="0">
                  <a:srgbClr val="27AE60"/>
                </a:gs>
                <a:gs pos="100000">
                  <a:srgbClr val="1E844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28467" y="486537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26,074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45807" y="544258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HW-C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80069" y="56168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6.26×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181225"/>
              <a:ext cx="476250" cy="3152775"/>
            </a:xfrm>
            <a:prstGeom prst="rect">
              <a:avLst/>
            </a:prstGeom>
            <a:gradFill>
              <a:gsLst>
                <a:gs pos="0">
                  <a:srgbClr val="5D6D7E"/>
                </a:gs>
                <a:gs pos="100000">
                  <a:srgbClr val="2C3E5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95512" y="1988820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294,609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0" y="4733925"/>
              <a:ext cx="476250" cy="600075"/>
            </a:xfrm>
            <a:prstGeom prst="rect">
              <a:avLst/>
            </a:prstGeom>
            <a:gradFill>
              <a:gsLst>
                <a:gs pos="0">
                  <a:srgbClr val="27AE60"/>
                </a:gs>
                <a:gs pos="100000">
                  <a:srgbClr val="1E844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904967" y="454152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56,080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22307" y="544258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HW-D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56569" y="56168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5.25×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6000750"/>
            <a:ext cx="7810500" cy="623888"/>
            <a:chOff x="571500" y="6000750"/>
            <a:chExt cx="7810500" cy="623888"/>
          </a:xfrm>
        </p:grpSpPr>
        <p:sp>
          <p:nvSpPr>
            <p:cNvPr id="50" name="Rectangle 50"/>
            <p:cNvSpPr/>
            <p:nvPr/>
          </p:nvSpPr>
          <p:spPr>
            <a:xfrm>
              <a:off x="571500" y="6000750"/>
              <a:ext cx="7810500" cy="571500"/>
            </a:xfrm>
            <a:prstGeom prst="roundRect">
              <a:avLst>
                <a:gd name="adj" fmla="val 1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42950" y="61245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257200" y="115515"/>
                  </a:moveTo>
                  <a:lnTo>
                    <a:pt x="228575" y="86891"/>
                  </a:lnTo>
                  <a:lnTo>
                    <a:pt x="131564" y="183902"/>
                  </a:lnTo>
                  <a:lnTo>
                    <a:pt x="95275" y="147613"/>
                  </a:lnTo>
                  <a:lnTo>
                    <a:pt x="66650" y="176237"/>
                  </a:lnTo>
                  <a:lnTo>
                    <a:pt x="131564" y="241151"/>
                  </a:lnTo>
                  <a:lnTo>
                    <a:pt x="257200" y="115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76338" y="6165056"/>
              <a:ext cx="22023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Verdict (commit 79e6259)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73480" y="6350318"/>
              <a:ext cx="32949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FUSION_CONV_CODESIGN_POSITIVE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524875" y="6000750"/>
            <a:ext cx="3095625" cy="642938"/>
            <a:chOff x="8524875" y="6000750"/>
            <a:chExt cx="3095625" cy="642938"/>
          </a:xfrm>
        </p:grpSpPr>
        <p:sp>
          <p:nvSpPr>
            <p:cNvPr id="55" name="Rectangle 55"/>
            <p:cNvSpPr/>
            <p:nvPr/>
          </p:nvSpPr>
          <p:spPr>
            <a:xfrm>
              <a:off x="8524875" y="6000750"/>
              <a:ext cx="3095625" cy="571500"/>
            </a:xfrm>
            <a:prstGeom prst="roundRect">
              <a:avLst>
                <a:gd name="adj" fmla="val 10000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74418" y="6085999"/>
              <a:ext cx="11013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relative_range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62035" y="6247448"/>
              <a:ext cx="8718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42.7%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98368" y="6085999"/>
              <a:ext cx="9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gate2b_ratio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85985" y="6247448"/>
              <a:ext cx="8718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0.523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1022" y="6673691"/>
            <a:ext cx="11069955" cy="167640"/>
            <a:chOff x="561022" y="6673691"/>
            <a:chExt cx="11069955" cy="167640"/>
          </a:xfrm>
        </p:grpSpPr>
        <p:sp>
          <p:nvSpPr>
            <p:cNvPr id="61" name="TextBox 61"/>
            <p:cNvSpPr txBox="1"/>
            <p:nvPr/>
          </p:nvSpPr>
          <p:spPr>
            <a:xfrm>
              <a:off x="561022" y="6673691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66622" y="66736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9" grpId="0"/>
      <p:bldP spid="54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6802743" cy="981075"/>
            <a:chOff x="542925" y="523875"/>
            <a:chExt cx="6802743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68027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同一个 fusion axis，跨 workload 差异悬殊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5248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从 kernel 到 block · workload 决定了 fusion 是否落到 critical path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1653" y="1805940"/>
            <a:ext cx="9085464" cy="3587591"/>
            <a:chOff x="271653" y="1805940"/>
            <a:chExt cx="9085464" cy="3587591"/>
          </a:xfrm>
        </p:grpSpPr>
        <p:sp>
          <p:nvSpPr>
            <p:cNvPr id="8" name="TextBox 8"/>
            <p:cNvSpPr txBox="1"/>
            <p:nvPr/>
          </p:nvSpPr>
          <p:spPr>
            <a:xfrm>
              <a:off x="1082230" y="1950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7×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333500" y="2000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2230" y="261747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5×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333500" y="2667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2230" y="32842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3×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33337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5092" y="395097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1×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333500" y="40005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14288">
              <a:solidFill>
                <a:srgbClr val="C0392B"/>
              </a:solidFill>
              <a:custDash>
                <a:ds d="400000" sp="266666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7270" y="3950970"/>
              <a:ext cx="7198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baseline 1×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230" y="4617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0×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33500" y="4667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33500" y="18097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 rot="-5400000">
              <a:off x="271653" y="3147060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fusion speedup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95500" y="4000500"/>
              <a:ext cx="1143000" cy="666750"/>
            </a:xfrm>
            <a:prstGeom prst="rect">
              <a:avLst/>
            </a:prstGeom>
            <a:gradFill>
              <a:gsLst>
                <a:gs pos="0">
                  <a:srgbClr val="0076A8"/>
                </a:gs>
                <a:gs pos="100000">
                  <a:srgbClr val="1E3A5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4918" y="374332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2.0×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1916" y="4820602"/>
              <a:ext cx="12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addmm+relu 128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6362" y="5046345"/>
              <a:ext cx="106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2183 → 1118 cycles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81500" y="3905250"/>
              <a:ext cx="1143000" cy="76200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46414" y="3648075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1.02×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78845" y="4820602"/>
              <a:ext cx="1548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GPT-2 block seq=128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09218" y="5046345"/>
              <a:ext cx="1087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430,717 → 422,711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54224" y="5225891"/>
              <a:ext cx="1197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NOT_GENERALIZABLE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67500" y="2095500"/>
              <a:ext cx="1143000" cy="2571750"/>
            </a:xfrm>
            <a:prstGeom prst="rect">
              <a:avLst/>
            </a:prstGeom>
            <a:gradFill>
              <a:gsLst>
                <a:gs pos="0">
                  <a:srgbClr val="0076A8"/>
                </a:gs>
                <a:gs pos="100000">
                  <a:srgbClr val="1E3A5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36593" y="1805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6.84×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45993" y="4820602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Conv 3×3 probe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8504" y="504634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189,987 → 27,769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5206" y="5225891"/>
              <a:ext cx="8875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STRONG SIGNAL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01125" y="1714500"/>
            <a:ext cx="2619375" cy="4000500"/>
            <a:chOff x="9001125" y="1714500"/>
            <a:chExt cx="2619375" cy="4000500"/>
          </a:xfrm>
        </p:grpSpPr>
        <p:sp>
          <p:nvSpPr>
            <p:cNvPr id="36" name="Line 36"/>
            <p:cNvSpPr/>
            <p:nvPr/>
          </p:nvSpPr>
          <p:spPr>
            <a:xfrm>
              <a:off x="9001125" y="1714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4010" y="177546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根因 (commit ce5f0e3)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239250" y="2095500"/>
              <a:ext cx="2381250" cy="1428750"/>
            </a:xfrm>
            <a:prstGeom prst="roundRect">
              <a:avLst>
                <a:gd name="adj" fmla="val 5333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66885" y="2185035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GPT-2 无效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68790" y="2458402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Fusion 结构上生效：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8790" y="264890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MLIR op count </a:t>
              </a:r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减 7.8%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382125" y="2905125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68790" y="3010852"/>
              <a:ext cx="1548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但不在 critical path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69742" y="3228499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→ 端到端 timing 无差异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239250" y="3714750"/>
              <a:ext cx="2381250" cy="1428750"/>
            </a:xfrm>
            <a:prstGeom prst="roundRect">
              <a:avLst>
                <a:gd name="adj" fmla="val 5333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66885" y="3804285"/>
              <a:ext cx="14014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Conv 3×3 强敏感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68790" y="40776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Compute-bound + 短序列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382125" y="4333875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68790" y="4439602"/>
              <a:ext cx="12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fusion 直接影响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68790" y="46301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critical path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69742" y="4847749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→ 端到端 timing 6.84×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5905500"/>
            <a:ext cx="11049000" cy="571500"/>
            <a:chOff x="571500" y="5905500"/>
            <a:chExt cx="11049000" cy="571500"/>
          </a:xfrm>
        </p:grpSpPr>
        <p:sp>
          <p:nvSpPr>
            <p:cNvPr id="53" name="Rectangle 53"/>
            <p:cNvSpPr/>
            <p:nvPr/>
          </p:nvSpPr>
          <p:spPr>
            <a:xfrm>
              <a:off x="571500" y="5905500"/>
              <a:ext cx="11049000" cy="571500"/>
            </a:xfrm>
            <a:prstGeom prst="roundRect">
              <a:avLst>
                <a:gd name="adj" fmla="val 1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855" y="6093142"/>
              <a:ext cx="83547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要点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Co-design 价值 = </a:t>
              </a:r>
              <a:r>
                <a:rPr lang="zh-CN" sz="1350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workload-dependent × axis-dependent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，不是 universal property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56" name="TextBox 56"/>
            <p:cNvSpPr txBox="1"/>
            <p:nvPr/>
          </p:nvSpPr>
          <p:spPr>
            <a:xfrm>
              <a:off x="561022" y="6626066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96745" y="6626066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2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9045523" cy="981075"/>
            <a:chOff x="542925" y="523875"/>
            <a:chExt cx="9045523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90455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Scope Limitations · POSITIVE 声明必与 5 条 limit 同引用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518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学术诚实优先 · 越界引用 = 论文 reject risk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762125"/>
            <a:ext cx="3619500" cy="1905000"/>
            <a:chOff x="571500" y="1762125"/>
            <a:chExt cx="3619500" cy="190500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62125"/>
              <a:ext cx="3619500" cy="495300"/>
            </a:xfrm>
            <a:prstGeom prst="roundRect">
              <a:avLst>
                <a:gd name="adj" fmla="val 1923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" y="185737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9354" y="1929289"/>
              <a:ext cx="910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1921192"/>
              <a:ext cx="1576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Single workload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2428875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0135" y="2489835"/>
              <a:ext cx="21651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仅 Conv 3×3 kernel-level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791778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不代表完整 ResNet / MobileNet 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2982278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GPT-2 等端到端模型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323749"/>
              <a:ext cx="2253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76A8"/>
                  </a:solidFill>
                  <a:latin typeface="Consolas"/>
                  <a:ea typeface="Microsoft YaHei"/>
                  <a:cs typeface="Consolas"/>
                </a:rPr>
                <a:t>[1, 64, 56, 56] → [1, 64, 56, 56]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86250" y="1762125"/>
            <a:ext cx="3619500" cy="1905000"/>
            <a:chOff x="4286250" y="1762125"/>
            <a:chExt cx="36195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4286250" y="1762125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86250" y="1762125"/>
              <a:ext cx="3619500" cy="495300"/>
            </a:xfrm>
            <a:prstGeom prst="roundRect">
              <a:avLst>
                <a:gd name="adj" fmla="val 1923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467225" y="185737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49663" y="1929289"/>
              <a:ext cx="139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8230" y="1921192"/>
              <a:ext cx="1462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Single mapping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476750" y="2428875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94885" y="2489835"/>
              <a:ext cx="22111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harness default mapping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3415" y="27917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无 multi-mapping ranking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3415" y="2982278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不能声称正式 Gate-3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3415" y="3172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ranking interaction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0" y="1762125"/>
            <a:ext cx="3619500" cy="1905000"/>
            <a:chOff x="8001000" y="1762125"/>
            <a:chExt cx="36195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8001000" y="1762125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0" y="1762125"/>
              <a:ext cx="3619500" cy="495300"/>
            </a:xfrm>
            <a:prstGeom prst="roundRect">
              <a:avLst>
                <a:gd name="adj" fmla="val 1923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181975" y="185737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4413" y="1929289"/>
              <a:ext cx="139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2980" y="1921192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Mode=0 timing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191500" y="2428875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9635" y="2489835"/>
              <a:ext cx="16406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仅 timing evidence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8165" y="2791778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mode=1 correctness deferred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78165" y="2982278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因 Spike --varch source blocker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0070" y="3331845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76A8"/>
                  </a:solidFill>
                  <a:latin typeface="Consolas"/>
                  <a:ea typeface="Microsoft YaHei"/>
                  <a:cs typeface="Consolas"/>
                </a:rPr>
                <a:t>functional_mode=0 only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3905250"/>
            <a:ext cx="5524500" cy="1905000"/>
            <a:chOff x="571500" y="3905250"/>
            <a:chExt cx="55245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905250"/>
              <a:ext cx="5524500" cy="1905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3905250"/>
              <a:ext cx="5524500" cy="495300"/>
            </a:xfrm>
            <a:prstGeom prst="roundRect">
              <a:avLst>
                <a:gd name="adj" fmla="val 1923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52475" y="40005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4913" y="4072414"/>
              <a:ext cx="139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3480" y="4064318"/>
              <a:ext cx="20941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Four HW configs only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762000" y="4572000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80135" y="4632960"/>
              <a:ext cx="44562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仅 codesign_v1_2x2 的 </a:t>
              </a:r>
              <a:r>
                <a:rPr lang="zh-CN" sz="1200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HW-A / B / C / D</a:t>
              </a:r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四个 corner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8665" y="4982528"/>
              <a:ext cx="3615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未覆盖 SPAD × BW 连续空间 · 未来需要更密的采样点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8665" y="5201602"/>
              <a:ext cx="2388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才能声称 continuous interaction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0570" y="552259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76A8"/>
                  </a:solidFill>
                  <a:latin typeface="Consolas"/>
                  <a:ea typeface="Microsoft YaHei"/>
                  <a:cs typeface="Consolas"/>
                </a:rPr>
                <a:t>HW-A / HW-B / HW-C / HW-D (2x2 discrete)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38875" y="3905250"/>
            <a:ext cx="5381625" cy="1905000"/>
            <a:chOff x="6238875" y="3905250"/>
            <a:chExt cx="5381625" cy="1905000"/>
          </a:xfrm>
        </p:grpSpPr>
        <p:sp>
          <p:nvSpPr>
            <p:cNvPr id="52" name="Rectangle 52"/>
            <p:cNvSpPr/>
            <p:nvPr/>
          </p:nvSpPr>
          <p:spPr>
            <a:xfrm>
              <a:off x="6238875" y="3905250"/>
              <a:ext cx="5381625" cy="1905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38875" y="3905250"/>
              <a:ext cx="5381625" cy="495300"/>
            </a:xfrm>
            <a:prstGeom prst="roundRect">
              <a:avLst>
                <a:gd name="adj" fmla="val 19231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419850" y="40005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02288" y="4072414"/>
              <a:ext cx="139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0855" y="4064318"/>
              <a:ext cx="1597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Fusion axis only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429375" y="457200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123825" y="247650"/>
                  </a:moveTo>
                  <a:cubicBezTo>
                    <a:pt x="192212" y="247650"/>
                    <a:pt x="247650" y="192212"/>
                    <a:pt x="247650" y="123825"/>
                  </a:cubicBezTo>
                  <a:cubicBezTo>
                    <a:pt x="247650" y="55438"/>
                    <a:pt x="192212" y="0"/>
                    <a:pt x="123825" y="0"/>
                  </a:cubicBezTo>
                  <a:cubicBezTo>
                    <a:pt x="55438" y="0"/>
                    <a:pt x="0" y="55438"/>
                    <a:pt x="0" y="123825"/>
                  </a:cubicBezTo>
                  <a:cubicBezTo>
                    <a:pt x="0" y="192212"/>
                    <a:pt x="55438" y="247650"/>
                    <a:pt x="123825" y="247650"/>
                  </a:cubicBezTo>
                  <a:close/>
                  <a:moveTo>
                    <a:pt x="66446" y="88335"/>
                  </a:moveTo>
                  <a:lnTo>
                    <a:pt x="101936" y="123825"/>
                  </a:lnTo>
                  <a:lnTo>
                    <a:pt x="66446" y="159315"/>
                  </a:lnTo>
                  <a:lnTo>
                    <a:pt x="88335" y="181204"/>
                  </a:lnTo>
                  <a:lnTo>
                    <a:pt x="123825" y="145714"/>
                  </a:lnTo>
                  <a:lnTo>
                    <a:pt x="159315" y="181204"/>
                  </a:lnTo>
                  <a:lnTo>
                    <a:pt x="181204" y="159315"/>
                  </a:lnTo>
                  <a:lnTo>
                    <a:pt x="145714" y="123825"/>
                  </a:lnTo>
                  <a:lnTo>
                    <a:pt x="181204" y="88335"/>
                  </a:lnTo>
                  <a:lnTo>
                    <a:pt x="159315" y="66446"/>
                  </a:lnTo>
                  <a:lnTo>
                    <a:pt x="123825" y="101936"/>
                  </a:lnTo>
                  <a:lnTo>
                    <a:pt x="88335" y="66446"/>
                  </a:lnTo>
                  <a:lnTo>
                    <a:pt x="66446" y="88335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47510" y="4632960"/>
              <a:ext cx="1879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仅 </a:t>
              </a:r>
              <a:r>
                <a:rPr lang="zh-CN" sz="12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fusion 轴 POSITIVE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429375" y="4933950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6040" y="5077778"/>
              <a:ext cx="18622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未 demonstrated 的轴：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16040" y="5315902"/>
              <a:ext cx="30783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dataflow · SPAD partition · DMA schedule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16992" y="5562124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这些是 Route 4 下一步的扩展目标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6019800"/>
            <a:ext cx="11049000" cy="457200"/>
            <a:chOff x="571500" y="6019800"/>
            <a:chExt cx="11049000" cy="457200"/>
          </a:xfrm>
        </p:grpSpPr>
        <p:sp>
          <p:nvSpPr>
            <p:cNvPr id="64" name="Rectangle 64"/>
            <p:cNvSpPr/>
            <p:nvPr/>
          </p:nvSpPr>
          <p:spPr>
            <a:xfrm>
              <a:off x="571500" y="6019800"/>
              <a:ext cx="11049000" cy="457200"/>
            </a:xfrm>
            <a:prstGeom prst="roundRect">
              <a:avLst>
                <a:gd name="adj" fmla="val 125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5808" y="6177439"/>
              <a:ext cx="77974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引用政策</a:t>
              </a:r>
              <a:r>
                <a:rPr lang="zh-CN" sz="12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POSITIVE 声明外部引用时，五条 limit 必须同时出现 — 强制在方法学 section 记录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67" name="TextBox 67"/>
            <p:cNvSpPr txBox="1"/>
            <p:nvPr/>
          </p:nvSpPr>
          <p:spPr>
            <a:xfrm>
              <a:off x="561022" y="6626066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B · PyTorchSim Co-design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0" grpId="0"/>
      <p:bldP spid="51" grpId="0"/>
      <p:bldP spid="63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9683853" cy="981075"/>
            <a:chOff x="542925" y="523875"/>
            <a:chExt cx="9683853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96838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严格 Spec Coding 下复现 Lumina QualE 原版 3 规则 validator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11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从前一版 22 份 spec / 5600 行代码的过度工程失败中吸取教训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762125"/>
            <a:ext cx="6096000" cy="1238250"/>
            <a:chOff x="571500" y="1762125"/>
            <a:chExt cx="6096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6096000" cy="1238250"/>
            </a:xfrm>
            <a:prstGeom prst="roundRect">
              <a:avLst>
                <a:gd name="adj" fmla="val 6154"/>
              </a:avLst>
            </a:prstGeom>
            <a:solidFill>
              <a:srgbClr val="F5F7FA"/>
            </a:solidFill>
            <a:ln w="19050">
              <a:solidFill>
                <a:srgbClr val="4A6FA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62000" y="1952625"/>
              <a:ext cx="285750" cy="285750"/>
              <a:chOff x="762000" y="1952625"/>
              <a:chExt cx="285750" cy="285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3438" y="2024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lose/>
                    <a:moveTo>
                      <a:pt x="35719" y="71438"/>
                    </a:moveTo>
                    <a:cubicBezTo>
                      <a:pt x="35719" y="51711"/>
                      <a:pt x="51711" y="35719"/>
                      <a:pt x="71438" y="35719"/>
                    </a:cubicBezTo>
                    <a:cubicBezTo>
                      <a:pt x="91164" y="35719"/>
                      <a:pt x="107156" y="51711"/>
                      <a:pt x="107156" y="71438"/>
                    </a:cubicBezTo>
                    <a:cubicBezTo>
                      <a:pt x="107156" y="91164"/>
                      <a:pt x="91164" y="107156"/>
                      <a:pt x="71438" y="107156"/>
                    </a:cubicBezTo>
                    <a:cubicBezTo>
                      <a:pt x="51711" y="107156"/>
                      <a:pt x="35719" y="91164"/>
                      <a:pt x="35719" y="71438"/>
                    </a:cubicBezTo>
                    <a:close/>
                  </a:path>
                </a:pathLst>
              </a:custGeom>
              <a:solidFill>
                <a:srgbClr val="4A6FA5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62000" y="19526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142875" y="0"/>
                    </a:moveTo>
                    <a:cubicBezTo>
                      <a:pt x="63967" y="0"/>
                      <a:pt x="0" y="63967"/>
                      <a:pt x="0" y="142875"/>
                    </a:cubicBez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lose/>
                    <a:moveTo>
                      <a:pt x="35719" y="142875"/>
                    </a:moveTo>
                    <a:cubicBezTo>
                      <a:pt x="35719" y="83694"/>
                      <a:pt x="83694" y="35719"/>
                      <a:pt x="142875" y="35719"/>
                    </a:cubicBezTo>
                    <a:cubicBezTo>
                      <a:pt x="202056" y="35719"/>
                      <a:pt x="250031" y="83694"/>
                      <a:pt x="250031" y="142875"/>
                    </a:cubicBezTo>
                    <a:cubicBezTo>
                      <a:pt x="250031" y="202056"/>
                      <a:pt x="202056" y="250031"/>
                      <a:pt x="142875" y="250031"/>
                    </a:cubicBezTo>
                    <a:cubicBezTo>
                      <a:pt x="83694" y="250031"/>
                      <a:pt x="35719" y="202056"/>
                      <a:pt x="35719" y="142875"/>
                    </a:cubicBezTo>
                    <a:close/>
                  </a:path>
                </a:pathLst>
              </a:custGeom>
              <a:solidFill>
                <a:srgbClr val="4A6FA5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27760" y="2042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核心问题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406968"/>
              <a:ext cx="38953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R1/R2/R3 是否足以从 GPU simulator 源码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645092"/>
              <a:ext cx="3470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6FA5"/>
                  </a:solidFill>
                  <a:latin typeface="Georgia"/>
                  <a:ea typeface="Microsoft YaHei"/>
                  <a:cs typeface="Georgia"/>
                </a:rPr>
                <a:t>提取真实可用的 arch → PPA 因果图？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0" y="1762125"/>
            <a:ext cx="4762500" cy="1238250"/>
            <a:chOff x="6858000" y="1762125"/>
            <a:chExt cx="4762500" cy="1238250"/>
          </a:xfrm>
        </p:grpSpPr>
        <p:sp>
          <p:nvSpPr>
            <p:cNvPr id="16" name="Rectangle 16"/>
            <p:cNvSpPr/>
            <p:nvPr/>
          </p:nvSpPr>
          <p:spPr>
            <a:xfrm>
              <a:off x="6858000" y="1762125"/>
              <a:ext cx="4762500" cy="1238250"/>
            </a:xfrm>
            <a:prstGeom prst="roundRect">
              <a:avLst>
                <a:gd name="adj" fmla="val 6154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35165" y="1905952"/>
              <a:ext cx="1749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判据 (spec §3 Go 阈值)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8495" y="2098358"/>
              <a:ext cx="128766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≥ 60%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72462" y="2240756"/>
              <a:ext cx="7679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edge 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72462" y="24312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人工语义抽检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36118" y="275224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No-Go 阈值 &lt; 30% → NEGATIVE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6260" y="3299460"/>
            <a:ext cx="11064240" cy="1553528"/>
            <a:chOff x="556260" y="3299460"/>
            <a:chExt cx="11064240" cy="1553528"/>
          </a:xfrm>
        </p:grpSpPr>
        <p:sp>
          <p:nvSpPr>
            <p:cNvPr id="23" name="TextBox 23"/>
            <p:cNvSpPr txBox="1"/>
            <p:nvPr/>
          </p:nvSpPr>
          <p:spPr>
            <a:xfrm>
              <a:off x="556260" y="3299460"/>
              <a:ext cx="18431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Spec Coding 强制约束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571875"/>
              <a:ext cx="257175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3425" y="3614738"/>
              <a:ext cx="5402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76A8"/>
                  </a:solidFill>
                  <a:latin typeface="Georgia"/>
                  <a:ea typeface="Microsoft YaHei"/>
                  <a:cs typeface="Georgia"/>
                </a:rPr>
                <a:t>671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6368" y="3704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总代码行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16368" y="3876199"/>
              <a:ext cx="786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(上限 1000)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414337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8665" y="42681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6 个核心模块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447770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3 个 CLI script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86125" y="3571875"/>
              <a:ext cx="30956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63290" y="3696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禁止引入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476625" y="39052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46001" y="61155"/>
                  </a:moveTo>
                  <a:lnTo>
                    <a:pt x="70571" y="85725"/>
                  </a:lnTo>
                  <a:lnTo>
                    <a:pt x="46001" y="110295"/>
                  </a:lnTo>
                  <a:lnTo>
                    <a:pt x="61155" y="125449"/>
                  </a:lnTo>
                  <a:lnTo>
                    <a:pt x="85725" y="100879"/>
                  </a:lnTo>
                  <a:lnTo>
                    <a:pt x="110295" y="125449"/>
                  </a:lnTo>
                  <a:lnTo>
                    <a:pt x="125449" y="110295"/>
                  </a:lnTo>
                  <a:lnTo>
                    <a:pt x="100879" y="85725"/>
                  </a:lnTo>
                  <a:lnTo>
                    <a:pt x="125449" y="61155"/>
                  </a:lnTo>
                  <a:lnTo>
                    <a:pt x="110295" y="46001"/>
                  </a:lnTo>
                  <a:lnTo>
                    <a:pt x="85725" y="70571"/>
                  </a:lnTo>
                  <a:lnTo>
                    <a:pt x="61155" y="46001"/>
                  </a:lnTo>
                  <a:lnTo>
                    <a:pt x="46001" y="61155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01415" y="3925252"/>
              <a:ext cx="1345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provider registry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3476625" y="4143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46001" y="61155"/>
                  </a:moveTo>
                  <a:lnTo>
                    <a:pt x="70571" y="85725"/>
                  </a:lnTo>
                  <a:lnTo>
                    <a:pt x="46001" y="110295"/>
                  </a:lnTo>
                  <a:lnTo>
                    <a:pt x="61155" y="125449"/>
                  </a:lnTo>
                  <a:lnTo>
                    <a:pt x="85725" y="100879"/>
                  </a:lnTo>
                  <a:lnTo>
                    <a:pt x="110295" y="125449"/>
                  </a:lnTo>
                  <a:lnTo>
                    <a:pt x="125449" y="110295"/>
                  </a:lnTo>
                  <a:lnTo>
                    <a:pt x="100879" y="85725"/>
                  </a:lnTo>
                  <a:lnTo>
                    <a:pt x="125449" y="61155"/>
                  </a:lnTo>
                  <a:lnTo>
                    <a:pt x="110295" y="46001"/>
                  </a:lnTo>
                  <a:lnTo>
                    <a:pt x="85725" y="70571"/>
                  </a:lnTo>
                  <a:lnTo>
                    <a:pt x="61155" y="46001"/>
                  </a:lnTo>
                  <a:lnTo>
                    <a:pt x="46001" y="61155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01415" y="4163378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cache manifest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3476625" y="43815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46001" y="61155"/>
                  </a:moveTo>
                  <a:lnTo>
                    <a:pt x="70571" y="85725"/>
                  </a:lnTo>
                  <a:lnTo>
                    <a:pt x="46001" y="110295"/>
                  </a:lnTo>
                  <a:lnTo>
                    <a:pt x="61155" y="125449"/>
                  </a:lnTo>
                  <a:lnTo>
                    <a:pt x="85725" y="100879"/>
                  </a:lnTo>
                  <a:lnTo>
                    <a:pt x="110295" y="125449"/>
                  </a:lnTo>
                  <a:lnTo>
                    <a:pt x="125449" y="110295"/>
                  </a:lnTo>
                  <a:lnTo>
                    <a:pt x="100879" y="85725"/>
                  </a:lnTo>
                  <a:lnTo>
                    <a:pt x="125449" y="61155"/>
                  </a:lnTo>
                  <a:lnTo>
                    <a:pt x="110295" y="46001"/>
                  </a:lnTo>
                  <a:lnTo>
                    <a:pt x="85725" y="70571"/>
                  </a:lnTo>
                  <a:lnTo>
                    <a:pt x="61155" y="46001"/>
                  </a:lnTo>
                  <a:lnTo>
                    <a:pt x="46001" y="61155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01415" y="4401502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retry ledger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476625" y="46196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46001" y="61155"/>
                  </a:moveTo>
                  <a:lnTo>
                    <a:pt x="70571" y="85725"/>
                  </a:lnTo>
                  <a:lnTo>
                    <a:pt x="46001" y="110295"/>
                  </a:lnTo>
                  <a:lnTo>
                    <a:pt x="61155" y="125449"/>
                  </a:lnTo>
                  <a:lnTo>
                    <a:pt x="85725" y="100879"/>
                  </a:lnTo>
                  <a:lnTo>
                    <a:pt x="110295" y="125449"/>
                  </a:lnTo>
                  <a:lnTo>
                    <a:pt x="125449" y="110295"/>
                  </a:lnTo>
                  <a:lnTo>
                    <a:pt x="100879" y="85725"/>
                  </a:lnTo>
                  <a:lnTo>
                    <a:pt x="125449" y="61155"/>
                  </a:lnTo>
                  <a:lnTo>
                    <a:pt x="110295" y="46001"/>
                  </a:lnTo>
                  <a:lnTo>
                    <a:pt x="85725" y="70571"/>
                  </a:lnTo>
                  <a:lnTo>
                    <a:pt x="61155" y="46001"/>
                  </a:lnTo>
                  <a:lnTo>
                    <a:pt x="46001" y="61155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01415" y="4639628"/>
              <a:ext cx="2572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candidate-loop 自证式 bookkeeping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24625" y="3571875"/>
              <a:ext cx="509587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01790" y="3696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采用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715125" y="39052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136165" y="61155"/>
                  </a:moveTo>
                  <a:lnTo>
                    <a:pt x="121010" y="46001"/>
                  </a:lnTo>
                  <a:lnTo>
                    <a:pt x="69652" y="97360"/>
                  </a:lnTo>
                  <a:lnTo>
                    <a:pt x="50440" y="78148"/>
                  </a:lnTo>
                  <a:lnTo>
                    <a:pt x="35285" y="93302"/>
                  </a:lnTo>
                  <a:lnTo>
                    <a:pt x="69652" y="127668"/>
                  </a:lnTo>
                  <a:lnTo>
                    <a:pt x="136165" y="61155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39915" y="39252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Milestone Gates (不用 task list)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715125" y="4143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136165" y="61155"/>
                  </a:moveTo>
                  <a:lnTo>
                    <a:pt x="121010" y="46001"/>
                  </a:lnTo>
                  <a:lnTo>
                    <a:pt x="69652" y="97360"/>
                  </a:lnTo>
                  <a:lnTo>
                    <a:pt x="50440" y="78148"/>
                  </a:lnTo>
                  <a:lnTo>
                    <a:pt x="35285" y="93302"/>
                  </a:lnTo>
                  <a:lnTo>
                    <a:pt x="69652" y="127668"/>
                  </a:lnTo>
                  <a:lnTo>
                    <a:pt x="136165" y="61155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39915" y="4163378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measured-data requirement 硬性 AC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715125" y="43815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136165" y="61155"/>
                  </a:moveTo>
                  <a:lnTo>
                    <a:pt x="121010" y="46001"/>
                  </a:lnTo>
                  <a:lnTo>
                    <a:pt x="69652" y="97360"/>
                  </a:lnTo>
                  <a:lnTo>
                    <a:pt x="50440" y="78148"/>
                  </a:lnTo>
                  <a:lnTo>
                    <a:pt x="35285" y="93302"/>
                  </a:lnTo>
                  <a:lnTo>
                    <a:pt x="69652" y="127668"/>
                  </a:lnTo>
                  <a:lnTo>
                    <a:pt x="136165" y="61155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39915" y="4401502"/>
              <a:ext cx="34234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6 个 packet：cache / scheduler / DRAM / warp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715125" y="46196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70" y="171450"/>
                    <a:pt x="171450" y="133070"/>
                    <a:pt x="171450" y="85725"/>
                  </a:cubicBezTo>
                  <a:cubicBezTo>
                    <a:pt x="171450" y="38380"/>
                    <a:pt x="133070" y="0"/>
                    <a:pt x="85725" y="0"/>
                  </a:cubicBezTo>
                  <a:cubicBezTo>
                    <a:pt x="38380" y="0"/>
                    <a:pt x="0" y="38380"/>
                    <a:pt x="0" y="85725"/>
                  </a:cubicBezTo>
                  <a:cubicBezTo>
                    <a:pt x="0" y="133070"/>
                    <a:pt x="38380" y="171450"/>
                    <a:pt x="85725" y="171450"/>
                  </a:cubicBezTo>
                  <a:close/>
                  <a:moveTo>
                    <a:pt x="136165" y="61155"/>
                  </a:moveTo>
                  <a:lnTo>
                    <a:pt x="121010" y="46001"/>
                  </a:lnTo>
                  <a:lnTo>
                    <a:pt x="69652" y="97360"/>
                  </a:lnTo>
                  <a:lnTo>
                    <a:pt x="50440" y="78148"/>
                  </a:lnTo>
                  <a:lnTo>
                    <a:pt x="35285" y="93302"/>
                  </a:lnTo>
                  <a:lnTo>
                    <a:pt x="69652" y="127668"/>
                  </a:lnTo>
                  <a:lnTo>
                    <a:pt x="136165" y="61155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39915" y="4639628"/>
              <a:ext cx="1652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四 Gate 独立 pass 判据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56260" y="5061585"/>
            <a:ext cx="11064240" cy="986790"/>
            <a:chOff x="556260" y="5061585"/>
            <a:chExt cx="11064240" cy="986790"/>
          </a:xfrm>
        </p:grpSpPr>
        <p:sp>
          <p:nvSpPr>
            <p:cNvPr id="52" name="TextBox 52"/>
            <p:cNvSpPr txBox="1"/>
            <p:nvPr/>
          </p:nvSpPr>
          <p:spPr>
            <a:xfrm>
              <a:off x="556260" y="5061585"/>
              <a:ext cx="2008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四 Milestone Gate 架构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5286375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66750" y="5476875"/>
              <a:ext cx="381000" cy="3810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3173" y="55883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76338" y="547925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Control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78242" y="57240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gold-standard packet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2952750" y="557212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95250"/>
                  </a:moveTo>
                  <a:lnTo>
                    <a:pt x="238125" y="0"/>
                  </a:lnTo>
                  <a:lnTo>
                    <a:pt x="238125" y="1905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286125" y="5286375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3381375" y="5476875"/>
              <a:ext cx="381000" cy="3810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497798" y="55883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890962" y="5479256"/>
              <a:ext cx="7359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Real LLM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892868" y="572404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6 packet 上跑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5667375" y="557212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95250"/>
                  </a:moveTo>
                  <a:lnTo>
                    <a:pt x="238125" y="0"/>
                  </a:lnTo>
                  <a:lnTo>
                    <a:pt x="238125" y="1905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00750" y="5286375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096000" y="5476875"/>
              <a:ext cx="381000" cy="3810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12423" y="55883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05588" y="5479256"/>
              <a:ext cx="7962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Validator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07492" y="57240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R1/R2/R3 三条规则</a:t>
              </a:r>
            </a:p>
          </p:txBody>
        </p:sp>
        <p:sp>
          <p:nvSpPr>
            <p:cNvPr id="70" name="Polygon 70"/>
            <p:cNvSpPr/>
            <p:nvPr/>
          </p:nvSpPr>
          <p:spPr>
            <a:xfrm>
              <a:off x="8382000" y="557212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95250"/>
                  </a:moveTo>
                  <a:lnTo>
                    <a:pt x="238125" y="0"/>
                  </a:lnTo>
                  <a:lnTo>
                    <a:pt x="238125" y="190500"/>
                  </a:ln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715375" y="5286375"/>
              <a:ext cx="2905125" cy="762000"/>
            </a:xfrm>
            <a:prstGeom prst="roundRect">
              <a:avLst>
                <a:gd name="adj" fmla="val 12500"/>
              </a:avLst>
            </a:prstGeom>
            <a:solidFill>
              <a:srgbClr val="F5F7FA"/>
            </a:solidFill>
            <a:ln w="19050">
              <a:solidFill>
                <a:srgbClr val="1E3A5F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810625" y="5476875"/>
              <a:ext cx="381000" cy="381000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27048" y="55883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D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20212" y="547925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Verdict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322118" y="57240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人工语义抽检 + Go/No-Go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61022" y="6578441"/>
            <a:ext cx="11069955" cy="167640"/>
            <a:chOff x="561022" y="6578441"/>
            <a:chExt cx="11069955" cy="167640"/>
          </a:xfrm>
        </p:grpSpPr>
        <p:sp>
          <p:nvSpPr>
            <p:cNvPr id="77" name="TextBox 77"/>
            <p:cNvSpPr txBox="1"/>
            <p:nvPr/>
          </p:nvSpPr>
          <p:spPr>
            <a:xfrm>
              <a:off x="561022" y="6578441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C · Lumina QualE 复现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66622" y="657844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51" grpId="0"/>
      <p:bldP spid="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5146536" cy="981075"/>
            <a:chOff x="542925" y="523875"/>
            <a:chExt cx="5146536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51465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v1 结果：R1/R2/R3 太松 → 假阳性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008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机器验证 100%，人工语义 20% · 硬触发 No-Go 阈值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857375"/>
            <a:ext cx="3143250" cy="3905250"/>
            <a:chOff x="571500" y="1857375"/>
            <a:chExt cx="3143250" cy="3905250"/>
          </a:xfrm>
        </p:grpSpPr>
        <p:sp>
          <p:nvSpPr>
            <p:cNvPr id="8" name="Rectangle 8"/>
            <p:cNvSpPr/>
            <p:nvPr/>
          </p:nvSpPr>
          <p:spPr>
            <a:xfrm>
              <a:off x="571500" y="1857375"/>
              <a:ext cx="3143250" cy="3905250"/>
            </a:xfrm>
            <a:prstGeom prst="roundRect">
              <a:avLst>
                <a:gd name="adj" fmla="val 3030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3143250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57250" y="206692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92002" y="122311"/>
                  </a:moveTo>
                  <a:lnTo>
                    <a:pt x="141142" y="171450"/>
                  </a:lnTo>
                  <a:lnTo>
                    <a:pt x="92002" y="220590"/>
                  </a:lnTo>
                  <a:lnTo>
                    <a:pt x="122311" y="250898"/>
                  </a:lnTo>
                  <a:lnTo>
                    <a:pt x="171450" y="201758"/>
                  </a:lnTo>
                  <a:lnTo>
                    <a:pt x="220590" y="250898"/>
                  </a:lnTo>
                  <a:lnTo>
                    <a:pt x="250898" y="220590"/>
                  </a:lnTo>
                  <a:lnTo>
                    <a:pt x="201758" y="171450"/>
                  </a:lnTo>
                  <a:lnTo>
                    <a:pt x="250898" y="122311"/>
                  </a:lnTo>
                  <a:lnTo>
                    <a:pt x="220590" y="92002"/>
                  </a:lnTo>
                  <a:lnTo>
                    <a:pt x="171450" y="141142"/>
                  </a:lnTo>
                  <a:lnTo>
                    <a:pt x="122311" y="92002"/>
                  </a:lnTo>
                  <a:lnTo>
                    <a:pt x="92002" y="1223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8735" y="2123122"/>
              <a:ext cx="13353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v1 NO_GO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839402"/>
              <a:ext cx="1073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机器验证 pass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090" y="3053715"/>
              <a:ext cx="107064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95A5A6"/>
                  </a:solidFill>
                  <a:latin typeface="Georgia"/>
                  <a:ea typeface="Microsoft YaHei"/>
                  <a:cs typeface="Georgia"/>
                </a:rPr>
                <a:t>100%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35061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86/86 syntactic edges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810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665" y="39824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人工语义抽检 pass_ratio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0090" y="4196715"/>
              <a:ext cx="119715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0.20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46491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硬触发阈值 &lt; 0.30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4953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5106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失败模式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950" y="5362575"/>
              <a:ext cx="25914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假阳性 (false positive)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983355" y="1902142"/>
            <a:ext cx="7637145" cy="4003358"/>
            <a:chOff x="3983355" y="1902142"/>
            <a:chExt cx="7637145" cy="4003358"/>
          </a:xfrm>
        </p:grpSpPr>
        <p:sp>
          <p:nvSpPr>
            <p:cNvPr id="23" name="TextBox 23"/>
            <p:cNvSpPr txBox="1"/>
            <p:nvPr/>
          </p:nvSpPr>
          <p:spPr>
            <a:xfrm>
              <a:off x="3983355" y="1902142"/>
              <a:ext cx="29637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失败根因 · 三条规则各自的问题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219075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00500" y="2190750"/>
              <a:ext cx="857250" cy="1143000"/>
            </a:xfrm>
            <a:prstGeom prst="roundRect">
              <a:avLst>
                <a:gd name="adj" fmla="val 8889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77269" y="2551748"/>
              <a:ext cx="3037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0499" y="2903220"/>
              <a:ext cx="877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symbol match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80635" y="2346960"/>
              <a:ext cx="1419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symbol 匹配太松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1588" y="2640806"/>
              <a:ext cx="3626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DDR 时序常量 (</a:t>
              </a:r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tRAS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, </a:t>
              </a:r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tRCD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) 被误判为 arch knob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2540" y="2887028"/>
              <a:ext cx="3607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gpgpu-sim 老代码：DRAM 常量与现代 </a:t>
              </a:r>
              <a:r>
                <a:rPr lang="zh-CN" sz="1050" dirty="0">
                  <a:solidFill>
                    <a:srgbClr val="5D6D7E"/>
                  </a:solidFill>
                  <a:latin typeface="Consolas"/>
                  <a:ea typeface="Microsoft YaHei"/>
                  <a:cs typeface="Consolas"/>
                </a:rPr>
                <a:t>m_*</a:t>
              </a:r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 命名共存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2540" y="308705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→ symbol 集合污染，把非 knob 也放进 source_node_id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00500" y="3476625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00500" y="3476625"/>
              <a:ext cx="857250" cy="1143000"/>
            </a:xfrm>
            <a:prstGeom prst="roundRect">
              <a:avLst>
                <a:gd name="adj" fmla="val 8889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39889" y="3837622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R2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00357" y="4189095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PPA whitelist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80635" y="3632835"/>
              <a:ext cx="13094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PPA 白名单过宽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81588" y="3926681"/>
              <a:ext cx="39144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IPC / cycles / DRAM_read_bw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全部允许作为 target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82540" y="4172902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但 gpgpu-sim 里许多 counter 只是内部统计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82540" y="4372928"/>
              <a:ext cx="36304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→ LLM 可以给任何 knob → 任何 counter 编造 “因果”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00500" y="47625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00500" y="4762500"/>
              <a:ext cx="857250" cy="1143000"/>
            </a:xfrm>
            <a:prstGeom prst="roundRect">
              <a:avLst>
                <a:gd name="adj" fmla="val 8889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9889" y="512349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R3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08799" y="5474970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substring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80635" y="4918710"/>
              <a:ext cx="31772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substring 无法区分 “提及” 与 “因果”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81588" y="5212556"/>
              <a:ext cx="38651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evidence_text 只要出现 knob 名 = pass，不看语义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2540" y="5458778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注释、debug print、无关分支里都能匹配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2540" y="5658802"/>
              <a:ext cx="3032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→ 表面 100% pass，实际大部分不是因果关系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6019800"/>
            <a:ext cx="11049000" cy="457200"/>
            <a:chOff x="571500" y="6019800"/>
            <a:chExt cx="11049000" cy="457200"/>
          </a:xfrm>
        </p:grpSpPr>
        <p:sp>
          <p:nvSpPr>
            <p:cNvPr id="49" name="Rectangle 49"/>
            <p:cNvSpPr/>
            <p:nvPr/>
          </p:nvSpPr>
          <p:spPr>
            <a:xfrm>
              <a:off x="571500" y="6019800"/>
              <a:ext cx="11049000" cy="4572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5808" y="6177439"/>
              <a:ext cx="54791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失败模式一</a:t>
              </a:r>
              <a:r>
                <a:rPr lang="zh-CN" sz="12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规则太松 → 机器 pass 全绿但语义不成立 — 需要收紧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52" name="TextBox 52"/>
            <p:cNvSpPr txBox="1"/>
            <p:nvPr/>
          </p:nvSpPr>
          <p:spPr>
            <a:xfrm>
              <a:off x="561022" y="6626066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C · Lumina QualE 复现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8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6405944" cy="981075"/>
            <a:chOff x="542925" y="523875"/>
            <a:chExt cx="6405944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64059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v2 结果：R4 命名 pattern 太紧 → 假阴性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1042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语义 100% 全部 plausible，但覆盖率崩到 1/6 packet · 与 v1 相反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857375"/>
            <a:ext cx="3143250" cy="3905250"/>
            <a:chOff x="571500" y="1857375"/>
            <a:chExt cx="3143250" cy="3905250"/>
          </a:xfrm>
        </p:grpSpPr>
        <p:sp>
          <p:nvSpPr>
            <p:cNvPr id="8" name="Rectangle 8"/>
            <p:cNvSpPr/>
            <p:nvPr/>
          </p:nvSpPr>
          <p:spPr>
            <a:xfrm>
              <a:off x="571500" y="1857375"/>
              <a:ext cx="3143250" cy="3905250"/>
            </a:xfrm>
            <a:prstGeom prst="roundRect">
              <a:avLst>
                <a:gd name="adj" fmla="val 3030"/>
              </a:avLst>
            </a:prstGeom>
            <a:solidFill>
              <a:srgbClr val="F5F7FA"/>
            </a:solidFill>
            <a:ln w="19050">
              <a:solidFill>
                <a:srgbClr val="C0392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3143250" cy="7620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57250" y="206692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92002" y="122311"/>
                  </a:moveTo>
                  <a:lnTo>
                    <a:pt x="141142" y="171450"/>
                  </a:lnTo>
                  <a:lnTo>
                    <a:pt x="92002" y="220590"/>
                  </a:lnTo>
                  <a:lnTo>
                    <a:pt x="122311" y="250898"/>
                  </a:lnTo>
                  <a:lnTo>
                    <a:pt x="171450" y="201758"/>
                  </a:lnTo>
                  <a:lnTo>
                    <a:pt x="220590" y="250898"/>
                  </a:lnTo>
                  <a:lnTo>
                    <a:pt x="250898" y="220590"/>
                  </a:lnTo>
                  <a:lnTo>
                    <a:pt x="201758" y="171450"/>
                  </a:lnTo>
                  <a:lnTo>
                    <a:pt x="250898" y="122311"/>
                  </a:lnTo>
                  <a:lnTo>
                    <a:pt x="220590" y="92002"/>
                  </a:lnTo>
                  <a:lnTo>
                    <a:pt x="171450" y="141142"/>
                  </a:lnTo>
                  <a:lnTo>
                    <a:pt x="122311" y="92002"/>
                  </a:lnTo>
                  <a:lnTo>
                    <a:pt x="92002" y="1223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8735" y="2123122"/>
              <a:ext cx="141015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v2 NO_GO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839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人工语义抽检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090" y="3053715"/>
              <a:ext cx="107064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7AE60"/>
                  </a:solidFill>
                  <a:latin typeface="Georgia"/>
                  <a:ea typeface="Microsoft YaHei"/>
                  <a:cs typeface="Georgia"/>
                </a:rPr>
                <a:t>1.00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3506152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11 条 edge 全部 plausible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810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665" y="3982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Packet 覆盖率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0090" y="4196715"/>
              <a:ext cx="109594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1 / 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4649152"/>
              <a:ext cx="1912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硬 Go 条件 ≥ 3 packet 失败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4953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5106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失败模式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950" y="5362575"/>
              <a:ext cx="26489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假阴性 (false negative)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72830" y="1902142"/>
            <a:ext cx="7647670" cy="3955733"/>
            <a:chOff x="3972830" y="1902142"/>
            <a:chExt cx="7647670" cy="3955733"/>
          </a:xfrm>
        </p:grpSpPr>
        <p:sp>
          <p:nvSpPr>
            <p:cNvPr id="23" name="TextBox 23"/>
            <p:cNvSpPr txBox="1"/>
            <p:nvPr/>
          </p:nvSpPr>
          <p:spPr>
            <a:xfrm>
              <a:off x="3983355" y="1902142"/>
              <a:ext cx="26324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v1 → v2 的一步动作 &amp; 新问题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219075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00500" y="2190750"/>
              <a:ext cx="857250" cy="1143000"/>
            </a:xfrm>
            <a:prstGeom prst="roundRect">
              <a:avLst>
                <a:gd name="adj" fmla="val 8889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39889" y="255174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R4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72830" y="291131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naming pattern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80635" y="2346960"/>
              <a:ext cx="2919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新增命名 pattern knob classifier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1588" y="2640806"/>
              <a:ext cx="5499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只把符合 </a:t>
              </a:r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m_config_&lt;name&gt;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/ </a:t>
              </a:r>
              <a:r>
                <a:rPr lang="zh-CN" sz="1050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CONFIG_*</a:t>
              </a:r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等 pattern 的 symbol 判为 knob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2540" y="2887028"/>
              <a:ext cx="458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动机：把 v1 里被误判的 DDR 时序常量、临时变量、debug 变量剔除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2540" y="3087052"/>
              <a:ext cx="3454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结果：11 条 edge 语义全通过 — 但只剩 1 个 packet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00500" y="3476625"/>
              <a:ext cx="7620000" cy="857250"/>
            </a:xfrm>
            <a:prstGeom prst="roundRect">
              <a:avLst>
                <a:gd name="adj" fmla="val 8889"/>
              </a:avLst>
            </a:prstGeom>
            <a:solidFill>
              <a:srgbClr val="F5F7FA"/>
            </a:solidFill>
            <a:ln w="9525">
              <a:solidFill>
                <a:srgbClr val="C0392B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191000" y="3667125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09135" y="3718560"/>
              <a:ext cx="4382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副作用：pattern 只匹配现代命名，误伤大量真 knob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1040" y="3963352"/>
              <a:ext cx="4995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gpgpu-sim 里许多真 knob 用老命名 (例如 </a:t>
              </a:r>
              <a:r>
                <a:rPr lang="zh-CN" sz="1050" dirty="0">
                  <a:solidFill>
                    <a:srgbClr val="5D6D7E"/>
                  </a:solidFill>
                  <a:latin typeface="Consolas"/>
                  <a:ea typeface="Microsoft YaHei"/>
                  <a:cs typeface="Consolas"/>
                </a:rPr>
                <a:t>n_sets</a:t>
              </a:r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, </a:t>
              </a:r>
              <a:r>
                <a:rPr lang="zh-CN" sz="1050" dirty="0">
                  <a:solidFill>
                    <a:srgbClr val="5D6D7E"/>
                  </a:solidFill>
                  <a:latin typeface="Consolas"/>
                  <a:ea typeface="Microsoft YaHei"/>
                  <a:cs typeface="Consolas"/>
                </a:rPr>
                <a:t>n_ways</a:t>
              </a:r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 xml:space="preserve">, </a:t>
              </a:r>
              <a:r>
                <a:rPr lang="zh-CN" sz="1050" dirty="0">
                  <a:solidFill>
                    <a:srgbClr val="5D6D7E"/>
                  </a:solidFill>
                  <a:latin typeface="Consolas"/>
                  <a:ea typeface="Microsoft YaHei"/>
                  <a:cs typeface="Consolas"/>
                </a:rPr>
                <a:t>line_size</a:t>
              </a:r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1040" y="4134802"/>
              <a:ext cx="42822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R4 全部剔除 → validator 认为它们不是 knob → 相关 edge 被拒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5260" y="45377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v1 vs v2 对照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00500" y="4762500"/>
              <a:ext cx="76200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4000500" y="509587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858000" y="4762500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239250" y="4762500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78618" y="48667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维度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6118" y="4866799"/>
              <a:ext cx="6602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v1 (太松)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7368" y="4866799"/>
              <a:ext cx="697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v2 (太紧)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76712" y="5193506"/>
              <a:ext cx="7679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机器 pass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4212" y="5193506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100% (86/86)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15462" y="5193506"/>
              <a:ext cx="9084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100% (11/11)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76712" y="540305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语义 pass_ratio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4212" y="540305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0.20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15462" y="5403056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1.00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76712" y="5612606"/>
              <a:ext cx="9486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Packet 覆盖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4212" y="5612606"/>
              <a:ext cx="416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6 / 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15462" y="56126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1 / 6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6019800"/>
            <a:ext cx="11049000" cy="457200"/>
            <a:chOff x="571500" y="6019800"/>
            <a:chExt cx="11049000" cy="457200"/>
          </a:xfrm>
        </p:grpSpPr>
        <p:sp>
          <p:nvSpPr>
            <p:cNvPr id="55" name="Rectangle 55"/>
            <p:cNvSpPr/>
            <p:nvPr/>
          </p:nvSpPr>
          <p:spPr>
            <a:xfrm>
              <a:off x="571500" y="6019800"/>
              <a:ext cx="11049000" cy="457200"/>
            </a:xfrm>
            <a:prstGeom prst="roundRect">
              <a:avLst>
                <a:gd name="adj" fmla="val 125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5808" y="6177439"/>
              <a:ext cx="93803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Double negative 核心结论</a:t>
              </a:r>
              <a:r>
                <a:rPr lang="zh-CN" sz="12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任何单一规则式 validator 都无法通吃 — 需要放弃规则，转 AST / 两步 LLM prompt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561022" y="6626066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C · Lumina QualE 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4" grpId="0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9942636" cy="981075"/>
            <a:chOff x="542925" y="523875"/>
            <a:chExt cx="9942636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99426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Gap Analysis：v1/v2 NEGATIVE 不能否定 Lumina — 4 大深度错位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2104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v3 方案：切换到 LLMCompass 直接闭合 Gap 1 / 2 / 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165" y="1677352"/>
            <a:ext cx="11062335" cy="656273"/>
            <a:chOff x="558165" y="1677352"/>
            <a:chExt cx="11062335" cy="656273"/>
          </a:xfrm>
        </p:grpSpPr>
        <p:sp>
          <p:nvSpPr>
            <p:cNvPr id="8" name="TextBox 8"/>
            <p:cNvSpPr txBox="1"/>
            <p:nvPr/>
          </p:nvSpPr>
          <p:spPr>
            <a:xfrm>
              <a:off x="558165" y="1677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对照维度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857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BD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52625"/>
              <a:ext cx="5334000" cy="381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7712" y="2069306"/>
              <a:ext cx="142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我们的 v1/v2 实现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0" y="1952625"/>
              <a:ext cx="5524500" cy="381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2212" y="2069306"/>
              <a:ext cx="13311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6A8"/>
                  </a:solidFill>
                  <a:latin typeface="Segoe UI"/>
                  <a:ea typeface="Microsoft YaHei"/>
                  <a:cs typeface="Segoe UI"/>
                </a:rPr>
                <a:t>Lumina 论文原意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2428875"/>
            <a:ext cx="11281115" cy="762000"/>
            <a:chOff x="571500" y="2428875"/>
            <a:chExt cx="11281115" cy="762000"/>
          </a:xfrm>
        </p:grpSpPr>
        <p:sp>
          <p:nvSpPr>
            <p:cNvPr id="15" name="Rectangle 15"/>
            <p:cNvSpPr/>
            <p:nvPr/>
          </p:nvSpPr>
          <p:spPr>
            <a:xfrm>
              <a:off x="571500" y="2428875"/>
              <a:ext cx="285750" cy="7620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6176" y="26927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838" y="252650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Simulator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00125" y="27622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9665" y="286797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gpgpu-sim / Accel-Sim (通用 GPU simulator)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27622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27AE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25540" y="2867978"/>
              <a:ext cx="976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LLMCompass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20915" y="2867978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(LLM inference-oriented simulator)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906125" y="2869406"/>
              <a:ext cx="247650" cy="185738"/>
            </a:xfrm>
            <a:custGeom>
              <a:avLst/>
              <a:gdLst/>
              <a:ahLst/>
              <a:cxnLst/>
              <a:rect l="l" t="t" r="r" b="b"/>
              <a:pathLst>
                <a:path w="247650" h="185738">
                  <a:moveTo>
                    <a:pt x="123825" y="61912"/>
                  </a:moveTo>
                  <a:lnTo>
                    <a:pt x="123825" y="0"/>
                  </a:lnTo>
                  <a:lnTo>
                    <a:pt x="154781" y="0"/>
                  </a:lnTo>
                  <a:lnTo>
                    <a:pt x="247650" y="92869"/>
                  </a:lnTo>
                  <a:lnTo>
                    <a:pt x="154781" y="185738"/>
                  </a:lnTo>
                  <a:lnTo>
                    <a:pt x="123825" y="185738"/>
                  </a:lnTo>
                  <a:lnTo>
                    <a:pt x="123825" y="123825"/>
                  </a:lnTo>
                  <a:lnTo>
                    <a:pt x="0" y="123825"/>
                  </a:lnTo>
                  <a:lnTo>
                    <a:pt x="0" y="61912"/>
                  </a:lnTo>
                  <a:lnTo>
                    <a:pt x="123825" y="61912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69968" y="2895124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v3 可闭合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267075"/>
            <a:ext cx="11281115" cy="762000"/>
            <a:chOff x="571500" y="3267075"/>
            <a:chExt cx="11281115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3267075"/>
              <a:ext cx="285750" cy="7620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298" y="35309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838" y="3364706"/>
              <a:ext cx="8049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Knob 定义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00125" y="36004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665" y="3706178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C++ </a:t>
              </a:r>
              <a:r>
                <a:rPr lang="zh-CN" sz="1050" b="1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m_*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成员变量 (源码级)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36004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27AE6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5540" y="3706178"/>
              <a:ext cx="2771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LLMCompass 定义的 </a:t>
              </a:r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架构参数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(语义级)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0906125" y="3707606"/>
              <a:ext cx="247650" cy="185738"/>
            </a:xfrm>
            <a:custGeom>
              <a:avLst/>
              <a:gdLst/>
              <a:ahLst/>
              <a:cxnLst/>
              <a:rect l="l" t="t" r="r" b="b"/>
              <a:pathLst>
                <a:path w="247650" h="185738">
                  <a:moveTo>
                    <a:pt x="123825" y="61912"/>
                  </a:moveTo>
                  <a:lnTo>
                    <a:pt x="123825" y="0"/>
                  </a:lnTo>
                  <a:lnTo>
                    <a:pt x="154781" y="0"/>
                  </a:lnTo>
                  <a:lnTo>
                    <a:pt x="247650" y="92869"/>
                  </a:lnTo>
                  <a:lnTo>
                    <a:pt x="154781" y="185738"/>
                  </a:lnTo>
                  <a:lnTo>
                    <a:pt x="123825" y="185738"/>
                  </a:lnTo>
                  <a:lnTo>
                    <a:pt x="123825" y="123825"/>
                  </a:lnTo>
                  <a:lnTo>
                    <a:pt x="0" y="123825"/>
                  </a:lnTo>
                  <a:lnTo>
                    <a:pt x="0" y="61912"/>
                  </a:lnTo>
                  <a:lnTo>
                    <a:pt x="123825" y="61912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169968" y="3733324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v3 可闭合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4105275"/>
            <a:ext cx="11281115" cy="762000"/>
            <a:chOff x="571500" y="4105275"/>
            <a:chExt cx="11281115" cy="762000"/>
          </a:xfrm>
        </p:grpSpPr>
        <p:sp>
          <p:nvSpPr>
            <p:cNvPr id="36" name="Rectangle 36"/>
            <p:cNvSpPr/>
            <p:nvPr/>
          </p:nvSpPr>
          <p:spPr>
            <a:xfrm>
              <a:off x="571500" y="4105275"/>
              <a:ext cx="285750" cy="7620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0298" y="43691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5838" y="4202906"/>
              <a:ext cx="9256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PPA metric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00125" y="44386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29665" y="4544378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simulator 内部 counter (cycles / IPC / bw)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0" y="44386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27AE6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25540" y="4544378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LLMCompass </a:t>
              </a:r>
              <a:r>
                <a:rPr lang="zh-CN" sz="105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输出指标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+ critical path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906125" y="4545806"/>
              <a:ext cx="247650" cy="185738"/>
            </a:xfrm>
            <a:custGeom>
              <a:avLst/>
              <a:gdLst/>
              <a:ahLst/>
              <a:cxnLst/>
              <a:rect l="l" t="t" r="r" b="b"/>
              <a:pathLst>
                <a:path w="247650" h="185738">
                  <a:moveTo>
                    <a:pt x="123825" y="61912"/>
                  </a:moveTo>
                  <a:lnTo>
                    <a:pt x="123825" y="0"/>
                  </a:lnTo>
                  <a:lnTo>
                    <a:pt x="154781" y="0"/>
                  </a:lnTo>
                  <a:lnTo>
                    <a:pt x="247650" y="92869"/>
                  </a:lnTo>
                  <a:lnTo>
                    <a:pt x="154781" y="185738"/>
                  </a:lnTo>
                  <a:lnTo>
                    <a:pt x="123825" y="185738"/>
                  </a:lnTo>
                  <a:lnTo>
                    <a:pt x="123825" y="123825"/>
                  </a:lnTo>
                  <a:lnTo>
                    <a:pt x="0" y="123825"/>
                  </a:lnTo>
                  <a:lnTo>
                    <a:pt x="0" y="61912"/>
                  </a:lnTo>
                  <a:lnTo>
                    <a:pt x="123825" y="61912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169968" y="4571524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v3 可闭合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4943475"/>
            <a:ext cx="11370826" cy="762000"/>
            <a:chOff x="571500" y="4943475"/>
            <a:chExt cx="11370826" cy="762000"/>
          </a:xfrm>
        </p:grpSpPr>
        <p:sp>
          <p:nvSpPr>
            <p:cNvPr id="46" name="Rectangle 46"/>
            <p:cNvSpPr/>
            <p:nvPr/>
          </p:nvSpPr>
          <p:spPr>
            <a:xfrm>
              <a:off x="571500" y="4943475"/>
              <a:ext cx="285750" cy="7620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0298" y="52073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838" y="504110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Scope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00125" y="52768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D5DBD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9665" y="538257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仅 QualE 单独实验 (无下游用户)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96000" y="5276850"/>
              <a:ext cx="4667250" cy="333375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4A6FA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25540" y="5382578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QualE + </a:t>
              </a:r>
              <a:r>
                <a:rPr lang="zh-CN" sz="1050" b="1" dirty="0">
                  <a:solidFill>
                    <a:srgbClr val="4A6FA5"/>
                  </a:solidFill>
                  <a:latin typeface="Segoe UI"/>
                  <a:ea typeface="Microsoft YaHei"/>
                  <a:cs typeface="Segoe UI"/>
                </a:rPr>
                <a:t>QuanE + SE + EE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闭环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906125" y="5353050"/>
              <a:ext cx="247650" cy="232172"/>
            </a:xfrm>
            <a:custGeom>
              <a:avLst/>
              <a:gdLst/>
              <a:ahLst/>
              <a:cxnLst/>
              <a:rect l="l" t="t" r="r" b="b"/>
              <a:pathLst>
                <a:path w="247650" h="232172">
                  <a:moveTo>
                    <a:pt x="247650" y="232172"/>
                  </a:moveTo>
                  <a:lnTo>
                    <a:pt x="0" y="232172"/>
                  </a:lnTo>
                  <a:lnTo>
                    <a:pt x="0" y="185738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85738"/>
                  </a:lnTo>
                  <a:lnTo>
                    <a:pt x="247650" y="232172"/>
                  </a:lnTo>
                  <a:close/>
                  <a:moveTo>
                    <a:pt x="108347" y="61912"/>
                  </a:moveTo>
                  <a:lnTo>
                    <a:pt x="139303" y="61912"/>
                  </a:lnTo>
                  <a:lnTo>
                    <a:pt x="139303" y="139303"/>
                  </a:lnTo>
                  <a:lnTo>
                    <a:pt x="108347" y="139303"/>
                  </a:lnTo>
                  <a:lnTo>
                    <a:pt x="108347" y="61912"/>
                  </a:lnTo>
                  <a:close/>
                  <a:moveTo>
                    <a:pt x="108347" y="170259"/>
                  </a:moveTo>
                  <a:lnTo>
                    <a:pt x="139303" y="170259"/>
                  </a:lnTo>
                  <a:lnTo>
                    <a:pt x="139303" y="201216"/>
                  </a:lnTo>
                  <a:lnTo>
                    <a:pt x="108347" y="201216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69968" y="54097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分阶段扩展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905500"/>
            <a:ext cx="6667500" cy="590550"/>
            <a:chOff x="571500" y="5905500"/>
            <a:chExt cx="6667500" cy="590550"/>
          </a:xfrm>
        </p:grpSpPr>
        <p:sp>
          <p:nvSpPr>
            <p:cNvPr id="56" name="Rectangle 56"/>
            <p:cNvSpPr/>
            <p:nvPr/>
          </p:nvSpPr>
          <p:spPr>
            <a:xfrm>
              <a:off x="571500" y="5905500"/>
              <a:ext cx="6667500" cy="571500"/>
            </a:xfrm>
            <a:prstGeom prst="roundRect">
              <a:avLst>
                <a:gd name="adj" fmla="val 13333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42950" y="6019800"/>
              <a:ext cx="317922" cy="317922"/>
            </a:xfrm>
            <a:custGeom>
              <a:avLst/>
              <a:gdLst/>
              <a:ahLst/>
              <a:cxnLst/>
              <a:rect l="l" t="t" r="r" b="b"/>
              <a:pathLst>
                <a:path w="317922" h="317922">
                  <a:moveTo>
                    <a:pt x="226537" y="255161"/>
                  </a:moveTo>
                  <a:cubicBezTo>
                    <a:pt x="202884" y="272876"/>
                    <a:pt x="173510" y="283369"/>
                    <a:pt x="141684" y="283369"/>
                  </a:cubicBezTo>
                  <a:cubicBezTo>
                    <a:pt x="63434" y="283369"/>
                    <a:pt x="0" y="219935"/>
                    <a:pt x="0" y="141684"/>
                  </a:cubicBezTo>
                  <a:cubicBezTo>
                    <a:pt x="0" y="63434"/>
                    <a:pt x="63434" y="0"/>
                    <a:pt x="141684" y="0"/>
                  </a:cubicBezTo>
                  <a:cubicBezTo>
                    <a:pt x="219935" y="0"/>
                    <a:pt x="283369" y="63434"/>
                    <a:pt x="283369" y="141684"/>
                  </a:cubicBezTo>
                  <a:cubicBezTo>
                    <a:pt x="283369" y="173510"/>
                    <a:pt x="272876" y="202884"/>
                    <a:pt x="255161" y="226537"/>
                  </a:cubicBezTo>
                  <a:lnTo>
                    <a:pt x="317922" y="289297"/>
                  </a:lnTo>
                  <a:lnTo>
                    <a:pt x="289297" y="317922"/>
                  </a:lnTo>
                  <a:lnTo>
                    <a:pt x="226537" y="255161"/>
                  </a:lnTo>
                  <a:close/>
                  <a:moveTo>
                    <a:pt x="113060" y="170309"/>
                  </a:moveTo>
                  <a:lnTo>
                    <a:pt x="84435" y="198934"/>
                  </a:lnTo>
                  <a:cubicBezTo>
                    <a:pt x="52818" y="167316"/>
                    <a:pt x="52818" y="116053"/>
                    <a:pt x="84435" y="84435"/>
                  </a:cubicBezTo>
                  <a:cubicBezTo>
                    <a:pt x="116053" y="52818"/>
                    <a:pt x="167316" y="52818"/>
                    <a:pt x="198934" y="84435"/>
                  </a:cubicBezTo>
                  <a:lnTo>
                    <a:pt x="170309" y="113060"/>
                  </a:lnTo>
                  <a:cubicBezTo>
                    <a:pt x="154500" y="97251"/>
                    <a:pt x="128869" y="97251"/>
                    <a:pt x="113060" y="113060"/>
                  </a:cubicBezTo>
                  <a:cubicBezTo>
                    <a:pt x="97251" y="128869"/>
                    <a:pt x="97251" y="154500"/>
                    <a:pt x="113060" y="1703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76338" y="6069806"/>
              <a:ext cx="21592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v3 方向 (spec-first 保留)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75385" y="6252210"/>
              <a:ext cx="59542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切换 </a:t>
              </a:r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LLMCompass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→ 直接闭合 Gap 1/2/3 · Gap 4 分阶段接 QuanE / SE / EE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381875" y="5905500"/>
            <a:ext cx="4238625" cy="571500"/>
            <a:chOff x="7381875" y="5905500"/>
            <a:chExt cx="4238625" cy="571500"/>
          </a:xfrm>
        </p:grpSpPr>
        <p:sp>
          <p:nvSpPr>
            <p:cNvPr id="61" name="Rectangle 61"/>
            <p:cNvSpPr/>
            <p:nvPr/>
          </p:nvSpPr>
          <p:spPr>
            <a:xfrm>
              <a:off x="7381875" y="5905500"/>
              <a:ext cx="4238625" cy="571500"/>
            </a:xfrm>
            <a:prstGeom prst="roundRect">
              <a:avLst>
                <a:gd name="adj" fmla="val 13333"/>
              </a:avLst>
            </a:prstGeom>
            <a:solidFill>
              <a:srgbClr val="F5F7FA"/>
            </a:solidFill>
            <a:ln w="19050">
              <a:solidFill>
                <a:srgbClr val="27AE60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524750" y="60198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lose/>
                  <a:moveTo>
                    <a:pt x="226941" y="101925"/>
                  </a:moveTo>
                  <a:lnTo>
                    <a:pt x="201684" y="76668"/>
                  </a:lnTo>
                  <a:lnTo>
                    <a:pt x="116086" y="162267"/>
                  </a:lnTo>
                  <a:lnTo>
                    <a:pt x="84066" y="130246"/>
                  </a:lnTo>
                  <a:lnTo>
                    <a:pt x="58809" y="155504"/>
                  </a:lnTo>
                  <a:lnTo>
                    <a:pt x="116086" y="212780"/>
                  </a:lnTo>
                  <a:lnTo>
                    <a:pt x="226941" y="101925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92415" y="6077902"/>
              <a:ext cx="20152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v1/v2 工程流程 carry over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92415" y="6249352"/>
              <a:ext cx="33390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spec-first · gate · measured artifact · TDD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61022" y="6626066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C · Lumina QualE 复现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  <p:bldP spid="45" grpId="0"/>
      <p:bldP spid="55" grpId="0"/>
      <p:bldP spid="60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523875"/>
            <a:ext cx="3904381" cy="981075"/>
            <a:chOff x="542925" y="523875"/>
            <a:chExt cx="3904381" cy="981075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4477" y="5805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Part 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2925" y="881062"/>
              <a:ext cx="39043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3A5F"/>
                  </a:solidFill>
                  <a:latin typeface="Georgia"/>
                  <a:ea typeface="Microsoft YaHei"/>
                  <a:cs typeface="Georgia"/>
                </a:rPr>
                <a:t>共同方法论 &amp; 下一步工作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386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两条主线的共通经验 · 后续可行动的具体项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4355" y="1711642"/>
            <a:ext cx="5541645" cy="3860483"/>
            <a:chOff x="554355" y="1711642"/>
            <a:chExt cx="5541645" cy="3860483"/>
          </a:xfrm>
        </p:grpSpPr>
        <p:sp>
          <p:nvSpPr>
            <p:cNvPr id="8" name="TextBox 8"/>
            <p:cNvSpPr txBox="1"/>
            <p:nvPr/>
          </p:nvSpPr>
          <p:spPr>
            <a:xfrm>
              <a:off x="554355" y="1711642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共同方法论贡献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952625"/>
              <a:ext cx="5524500" cy="3619500"/>
            </a:xfrm>
            <a:prstGeom prst="roundRect">
              <a:avLst>
                <a:gd name="adj" fmla="val 2632"/>
              </a:avLst>
            </a:prstGeom>
            <a:solidFill>
              <a:srgbClr val="F5F7FA"/>
            </a:solidFill>
            <a:ln w="19050">
              <a:solidFill>
                <a:srgbClr val="1E3A5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62000" y="2143125"/>
              <a:ext cx="5143500" cy="1000125"/>
              <a:chOff x="762000" y="2143125"/>
              <a:chExt cx="5143500" cy="1000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2143125"/>
                <a:ext cx="5143500" cy="1000125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D5DBD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3450" y="23145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304800"/>
                    </a:move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lose/>
                    <a:moveTo>
                      <a:pt x="242070" y="108720"/>
                    </a:moveTo>
                    <a:lnTo>
                      <a:pt x="215130" y="81780"/>
                    </a:lnTo>
                    <a:lnTo>
                      <a:pt x="123825" y="173084"/>
                    </a:lnTo>
                    <a:lnTo>
                      <a:pt x="89670" y="138930"/>
                    </a:lnTo>
                    <a:lnTo>
                      <a:pt x="62730" y="165870"/>
                    </a:lnTo>
                    <a:lnTo>
                      <a:pt x="123825" y="226966"/>
                    </a:lnTo>
                    <a:lnTo>
                      <a:pt x="242070" y="10872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16355" y="2349818"/>
                <a:ext cx="1183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3A5F"/>
                    </a:solidFill>
                    <a:latin typeface="Georgia"/>
                    <a:ea typeface="Microsoft YaHei"/>
                    <a:cs typeface="Georgia"/>
                  </a:rPr>
                  <a:t>Spec Coding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20165" y="2648902"/>
                <a:ext cx="30477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 xml:space="preserve">以 </a:t>
                </a:r>
                <a:r>
                  <a:rPr lang="zh-CN" sz="1050" b="1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measured 数据</a:t>
                </a:r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 xml:space="preserve"> 为唯一 claim-bearing 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20165" y="2858452"/>
                <a:ext cx="41441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modeled / placeholder / pending 不接受，明确 data_label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286125"/>
              <a:ext cx="5143500" cy="1000125"/>
              <a:chOff x="762000" y="3286125"/>
              <a:chExt cx="5143500" cy="1000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3286125"/>
                <a:ext cx="5143500" cy="1000125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D5DBD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3450" y="34575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304800"/>
                    </a:move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lose/>
                    <a:moveTo>
                      <a:pt x="242070" y="108720"/>
                    </a:moveTo>
                    <a:lnTo>
                      <a:pt x="215130" y="81780"/>
                    </a:lnTo>
                    <a:lnTo>
                      <a:pt x="123825" y="173084"/>
                    </a:lnTo>
                    <a:lnTo>
                      <a:pt x="89670" y="138930"/>
                    </a:lnTo>
                    <a:lnTo>
                      <a:pt x="62730" y="165870"/>
                    </a:lnTo>
                    <a:lnTo>
                      <a:pt x="123825" y="226966"/>
                    </a:lnTo>
                    <a:lnTo>
                      <a:pt x="242070" y="10872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16355" y="3492818"/>
                <a:ext cx="198033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3A5F"/>
                    </a:solidFill>
                    <a:latin typeface="Georgia"/>
                    <a:ea typeface="Microsoft YaHei"/>
                    <a:cs typeface="Georgia"/>
                  </a:rPr>
                  <a:t>Gate-based verdict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20165" y="3791902"/>
                <a:ext cx="40675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四种诚实终态：</a:t>
                </a:r>
                <a:r>
                  <a:rPr lang="zh-CN" sz="1050" b="1" dirty="0">
                    <a:solidFill>
                      <a:srgbClr val="27AE60"/>
                    </a:solidFill>
                    <a:latin typeface="Consolas"/>
                    <a:ea typeface="Microsoft YaHei"/>
                    <a:cs typeface="Consolas"/>
                  </a:rPr>
                  <a:t>POSITIVE</a:t>
                </a:r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 xml:space="preserve"> / </a:t>
                </a:r>
                <a:r>
                  <a:rPr lang="zh-CN" sz="1050" b="1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NEGATIVE</a:t>
                </a:r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 xml:space="preserve"> / </a:t>
                </a:r>
                <a:r>
                  <a:rPr lang="zh-CN" sz="1050" b="1" dirty="0">
                    <a:solidFill>
                      <a:srgbClr val="4A6FA5"/>
                    </a:solidFill>
                    <a:latin typeface="Consolas"/>
                    <a:ea typeface="Microsoft YaHei"/>
                    <a:cs typeface="Consolas"/>
                  </a:rPr>
                  <a:t>PARTIAL</a:t>
                </a:r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 xml:space="preserve"> / </a:t>
                </a:r>
                <a:r>
                  <a:rPr lang="zh-CN" sz="1050" b="1" dirty="0">
                    <a:solidFill>
                      <a:srgbClr val="5D6D7E"/>
                    </a:solidFill>
                    <a:latin typeface="Consolas"/>
                    <a:ea typeface="Microsoft YaHei"/>
                    <a:cs typeface="Consolas"/>
                  </a:rPr>
                  <a:t>BLOCKED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20165" y="4001452"/>
                <a:ext cx="3231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Milestone gates 有硬 AC，不写笼统 task list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4429125"/>
              <a:ext cx="5143500" cy="1000125"/>
              <a:chOff x="762000" y="4429125"/>
              <a:chExt cx="51435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4429125"/>
                <a:ext cx="5143500" cy="1000125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D5DBD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33450" y="46005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304800"/>
                    </a:move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lose/>
                    <a:moveTo>
                      <a:pt x="242070" y="108720"/>
                    </a:moveTo>
                    <a:lnTo>
                      <a:pt x="215130" y="81780"/>
                    </a:lnTo>
                    <a:lnTo>
                      <a:pt x="123825" y="173084"/>
                    </a:lnTo>
                    <a:lnTo>
                      <a:pt x="89670" y="138930"/>
                    </a:lnTo>
                    <a:lnTo>
                      <a:pt x="62730" y="165870"/>
                    </a:lnTo>
                    <a:lnTo>
                      <a:pt x="123825" y="226966"/>
                    </a:lnTo>
                    <a:lnTo>
                      <a:pt x="242070" y="10872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316355" y="4635818"/>
                <a:ext cx="201138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3A5F"/>
                    </a:solidFill>
                    <a:latin typeface="Georgia"/>
                    <a:ea typeface="Microsoft YaHei"/>
                    <a:cs typeface="Georgia"/>
                  </a:rPr>
                  <a:t>Scope limit 强制引用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20165" y="4934902"/>
                <a:ext cx="28560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POSITIVE 声明必与 4-5 条 limit 同时引用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0165" y="5144452"/>
                <a:ext cx="41365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v1 NEGATIVE 也保留 — 它们不冲突，共同 delineate 有效范围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269355" y="1711642"/>
            <a:ext cx="5351145" cy="3908108"/>
            <a:chOff x="6269355" y="1711642"/>
            <a:chExt cx="5351145" cy="3908108"/>
          </a:xfrm>
        </p:grpSpPr>
        <p:sp>
          <p:nvSpPr>
            <p:cNvPr id="29" name="TextBox 29"/>
            <p:cNvSpPr txBox="1"/>
            <p:nvPr/>
          </p:nvSpPr>
          <p:spPr>
            <a:xfrm>
              <a:off x="6269355" y="1711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下一步工作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1952625"/>
              <a:ext cx="5334000" cy="1762125"/>
            </a:xfrm>
            <a:prstGeom prst="roundRect">
              <a:avLst>
                <a:gd name="adj" fmla="val 5405"/>
              </a:avLst>
            </a:prstGeom>
            <a:solidFill>
              <a:srgbClr val="F5F7FA"/>
            </a:solidFill>
            <a:ln w="19050">
              <a:solidFill>
                <a:srgbClr val="0076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952625"/>
              <a:ext cx="5334000" cy="381000"/>
            </a:xfrm>
            <a:prstGeom prst="roundRect">
              <a:avLst>
                <a:gd name="adj" fmla="val 25000"/>
              </a:avLst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9855" y="2064068"/>
              <a:ext cx="2673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PyTorchSim Co-design 主线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477000" y="2481262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0365" y="2486978"/>
              <a:ext cx="456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扩展 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dataflow (300-800 LOC)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/ SPAD partition / DMA schedule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477000" y="2814638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30365" y="2820352"/>
              <a:ext cx="41901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扩大 workload：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ResNet / MobileNet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Conv workload sweep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77000" y="3148012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0365" y="3153728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Multi-mapping ranking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做正式 Gate-3 interaction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477000" y="3481388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0365" y="3487102"/>
              <a:ext cx="399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解锁 mode=1 correctness · 处理 Spike </a:t>
              </a:r>
              <a:r>
                <a:rPr lang="zh-CN" sz="975" dirty="0">
                  <a:solidFill>
                    <a:srgbClr val="2C3E50"/>
                  </a:solidFill>
                  <a:latin typeface="Consolas"/>
                  <a:ea typeface="Microsoft YaHei"/>
                  <a:cs typeface="Consolas"/>
                </a:rPr>
                <a:t>--varch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blocker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3857625"/>
              <a:ext cx="5334000" cy="1762125"/>
            </a:xfrm>
            <a:prstGeom prst="roundRect">
              <a:avLst>
                <a:gd name="adj" fmla="val 5405"/>
              </a:avLst>
            </a:prstGeom>
            <a:solidFill>
              <a:srgbClr val="F5F7FA"/>
            </a:solidFill>
            <a:ln w="19050">
              <a:solidFill>
                <a:srgbClr val="4A6FA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857625"/>
              <a:ext cx="5334000" cy="381000"/>
            </a:xfrm>
            <a:prstGeom prst="roundRect">
              <a:avLst>
                <a:gd name="adj" fmla="val 25000"/>
              </a:avLst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9855" y="3969068"/>
              <a:ext cx="2218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Lumina QualE 复现主线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77000" y="4386262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0365" y="4391978"/>
              <a:ext cx="32624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切换 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LLMCompass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作 v3 基础 → 闭合 Gap 1/2/3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477000" y="4719638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0365" y="4725352"/>
              <a:ext cx="3967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放弃规则式 validator → 转 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AST 分析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或 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LLM 两步 prompt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77000" y="5053012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0365" y="5058728"/>
              <a:ext cx="29327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分阶段扩展 </a:t>
              </a:r>
              <a:r>
                <a:rPr lang="zh-CN" sz="10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QuanE → SE / EE</a:t>
              </a:r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闭环 (Gap 4)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477000" y="5386388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95250" y="47625"/>
                  </a:moveTo>
                  <a:lnTo>
                    <a:pt x="95250" y="0"/>
                  </a:lnTo>
                  <a:lnTo>
                    <a:pt x="119063" y="0"/>
                  </a:lnTo>
                  <a:lnTo>
                    <a:pt x="190500" y="71438"/>
                  </a:lnTo>
                  <a:lnTo>
                    <a:pt x="119063" y="142875"/>
                  </a:lnTo>
                  <a:lnTo>
                    <a:pt x="95250" y="142875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47625"/>
                  </a:lnTo>
                  <a:lnTo>
                    <a:pt x="95250" y="47625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0365" y="5392102"/>
              <a:ext cx="47422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Carry-over v1/v2 工程流程：spec-first + gate + measured + TDD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5905500"/>
            <a:ext cx="11049000" cy="571500"/>
            <a:chOff x="571500" y="5905500"/>
            <a:chExt cx="11049000" cy="571500"/>
          </a:xfrm>
        </p:grpSpPr>
        <p:sp>
          <p:nvSpPr>
            <p:cNvPr id="53" name="Rectangle 53"/>
            <p:cNvSpPr/>
            <p:nvPr/>
          </p:nvSpPr>
          <p:spPr>
            <a:xfrm>
              <a:off x="571500" y="5905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83431" y="601980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60722" y="232767"/>
                  </a:moveTo>
                  <a:lnTo>
                    <a:pt x="60722" y="293489"/>
                  </a:lnTo>
                  <a:lnTo>
                    <a:pt x="91083" y="323850"/>
                  </a:lnTo>
                  <a:lnTo>
                    <a:pt x="151805" y="323850"/>
                  </a:lnTo>
                  <a:lnTo>
                    <a:pt x="182166" y="293489"/>
                  </a:lnTo>
                  <a:lnTo>
                    <a:pt x="182166" y="232767"/>
                  </a:lnTo>
                  <a:lnTo>
                    <a:pt x="207256" y="207677"/>
                  </a:lnTo>
                  <a:cubicBezTo>
                    <a:pt x="230071" y="184862"/>
                    <a:pt x="242888" y="153857"/>
                    <a:pt x="242888" y="121593"/>
                  </a:cubicBezTo>
                  <a:cubicBezTo>
                    <a:pt x="242888" y="54521"/>
                    <a:pt x="188515" y="0"/>
                    <a:pt x="121444" y="0"/>
                  </a:cubicBezTo>
                  <a:cubicBezTo>
                    <a:pt x="54372" y="0"/>
                    <a:pt x="0" y="54521"/>
                    <a:pt x="0" y="121593"/>
                  </a:cubicBezTo>
                  <a:cubicBezTo>
                    <a:pt x="0" y="153857"/>
                    <a:pt x="12817" y="184862"/>
                    <a:pt x="35632" y="207677"/>
                  </a:cubicBezTo>
                  <a:lnTo>
                    <a:pt x="60722" y="232767"/>
                  </a:lnTo>
                  <a:close/>
                  <a:moveTo>
                    <a:pt x="101203" y="199856"/>
                  </a:moveTo>
                  <a:lnTo>
                    <a:pt x="101203" y="121444"/>
                  </a:lnTo>
                  <a:lnTo>
                    <a:pt x="141684" y="121444"/>
                  </a:lnTo>
                  <a:lnTo>
                    <a:pt x="141684" y="199856"/>
                  </a:lnTo>
                  <a:cubicBezTo>
                    <a:pt x="176604" y="190868"/>
                    <a:pt x="202406" y="159169"/>
                    <a:pt x="202406" y="121444"/>
                  </a:cubicBezTo>
                  <a:cubicBezTo>
                    <a:pt x="202406" y="76729"/>
                    <a:pt x="166157" y="40481"/>
                    <a:pt x="121444" y="40481"/>
                  </a:cubicBezTo>
                  <a:cubicBezTo>
                    <a:pt x="76729" y="40481"/>
                    <a:pt x="40481" y="76729"/>
                    <a:pt x="40481" y="121444"/>
                  </a:cubicBezTo>
                  <a:cubicBezTo>
                    <a:pt x="40481" y="159169"/>
                    <a:pt x="66283" y="190868"/>
                    <a:pt x="101203" y="1998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73480" y="6140768"/>
              <a:ext cx="79308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总结</a:t>
              </a: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 xml:space="preserve"> · POSITIVE / NEGATIVE 都是诚实的科研结论 — 都保留、都引用 scope、都指导下一步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61022" y="6626066"/>
              <a:ext cx="7680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Part D · 总结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76A8">
                    <a:alpha val="10000"/>
                  </a:srgbClr>
                </a:gs>
                <a:gs pos="100000">
                  <a:srgbClr val="0076A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333500" cy="6858000"/>
            <a:chOff x="0" y="0"/>
            <a:chExt cx="13335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0" cy="38100"/>
            </a:xfrm>
            <a:prstGeom prst="rect">
              <a:avLst/>
            </a:prstGeom>
            <a:solidFill>
              <a:srgbClr val="0076A8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990153" y="1438275"/>
            <a:ext cx="4211693" cy="2133600"/>
            <a:chOff x="3990153" y="1438275"/>
            <a:chExt cx="4211693" cy="2133600"/>
          </a:xfrm>
        </p:grpSpPr>
        <p:sp>
          <p:nvSpPr>
            <p:cNvPr id="8" name="TextBox 8"/>
            <p:cNvSpPr txBox="1"/>
            <p:nvPr/>
          </p:nvSpPr>
          <p:spPr>
            <a:xfrm>
              <a:off x="3990153" y="1438275"/>
              <a:ext cx="4211693" cy="2133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0" b="1" dirty="0">
                  <a:gradFill>
                    <a:gsLst>
                      <a:gs pos="0">
                        <a:srgbClr val="1E3A5F"/>
                      </a:gs>
                      <a:gs pos="100000">
                        <a:srgbClr val="0076A8"/>
                      </a:gs>
                    </a:gsLst>
                    <a:lin ang="0" scaled="1"/>
                  </a:gradFill>
                  <a:latin typeface="Georgia"/>
                  <a:ea typeface="Microsoft YaHei"/>
                  <a:cs typeface="Georgia"/>
                </a:rPr>
                <a:t>Q &amp;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76814" y="280701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感谢聆听 · 欢迎讨论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90750" y="3524250"/>
            <a:ext cx="7810500" cy="2047875"/>
            <a:chOff x="2190750" y="3524250"/>
            <a:chExt cx="7810500" cy="2047875"/>
          </a:xfrm>
        </p:grpSpPr>
        <p:sp>
          <p:nvSpPr>
            <p:cNvPr id="11" name="Rectangle 11"/>
            <p:cNvSpPr/>
            <p:nvPr/>
          </p:nvSpPr>
          <p:spPr>
            <a:xfrm>
              <a:off x="2190750" y="3524250"/>
              <a:ext cx="7810500" cy="2047875"/>
            </a:xfrm>
            <a:prstGeom prst="roundRect">
              <a:avLst>
                <a:gd name="adj" fmla="val 5581"/>
              </a:avLst>
            </a:prstGeom>
            <a:solidFill>
              <a:srgbClr val="F5F7FA"/>
            </a:solidFill>
            <a:ln w="9525">
              <a:solidFill>
                <a:srgbClr val="D5DBD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66010" y="37280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欢迎讨论方向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600325" y="40481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80360" y="4109085"/>
              <a:ext cx="5463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任一 gate 判决细节：evidence chain 中的具体 verdict 与 rationale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571750" y="4429125"/>
              <a:ext cx="228600" cy="228600"/>
              <a:chOff x="2571750" y="4429125"/>
              <a:chExt cx="228600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628900" y="44862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lose/>
                    <a:moveTo>
                      <a:pt x="28575" y="57150"/>
                    </a:moveTo>
                    <a:cubicBezTo>
                      <a:pt x="28575" y="41368"/>
                      <a:pt x="41368" y="28575"/>
                      <a:pt x="57150" y="28575"/>
                    </a:cubicBezTo>
                    <a:cubicBezTo>
                      <a:pt x="72932" y="28575"/>
                      <a:pt x="85725" y="41368"/>
                      <a:pt x="85725" y="57150"/>
                    </a:cubicBezTo>
                    <a:cubicBezTo>
                      <a:pt x="85725" y="72932"/>
                      <a:pt x="72932" y="85725"/>
                      <a:pt x="57150" y="85725"/>
                    </a:cubicBezTo>
                    <a:cubicBezTo>
                      <a:pt x="41368" y="85725"/>
                      <a:pt x="28575" y="72932"/>
                      <a:pt x="28575" y="5715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71750" y="442912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lose/>
                    <a:moveTo>
                      <a:pt x="28575" y="114300"/>
                    </a:moveTo>
                    <a:cubicBezTo>
                      <a:pt x="28575" y="66955"/>
                      <a:pt x="66955" y="28575"/>
                      <a:pt x="114300" y="28575"/>
                    </a:cubicBezTo>
                    <a:cubicBezTo>
                      <a:pt x="161644" y="28575"/>
                      <a:pt x="200025" y="66955"/>
                      <a:pt x="200025" y="114300"/>
                    </a:cubicBezTo>
                    <a:cubicBezTo>
                      <a:pt x="200025" y="161644"/>
                      <a:pt x="161644" y="200025"/>
                      <a:pt x="114300" y="200025"/>
                    </a:cubicBezTo>
                    <a:cubicBezTo>
                      <a:pt x="66955" y="200025"/>
                      <a:pt x="28575" y="161644"/>
                      <a:pt x="28575" y="11430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880360" y="4490085"/>
              <a:ext cx="4008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如何在 </a:t>
              </a:r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dataflow / SPAD / DMA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轴上跑通 POSITIVE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2571750" y="4810125"/>
              <a:ext cx="224415" cy="224415"/>
            </a:xfrm>
            <a:custGeom>
              <a:avLst/>
              <a:gdLst/>
              <a:ahLst/>
              <a:cxnLst/>
              <a:rect l="l" t="t" r="r" b="b"/>
              <a:pathLst>
                <a:path w="224415" h="224415">
                  <a:moveTo>
                    <a:pt x="159909" y="180114"/>
                  </a:moveTo>
                  <a:cubicBezTo>
                    <a:pt x="143212" y="192618"/>
                    <a:pt x="122477" y="200025"/>
                    <a:pt x="100012" y="200025"/>
                  </a:cubicBezTo>
                  <a:cubicBezTo>
                    <a:pt x="44777" y="200025"/>
                    <a:pt x="0" y="155248"/>
                    <a:pt x="0" y="100012"/>
                  </a:cubicBezTo>
                  <a:cubicBezTo>
                    <a:pt x="0" y="44777"/>
                    <a:pt x="44777" y="0"/>
                    <a:pt x="100012" y="0"/>
                  </a:cubicBezTo>
                  <a:cubicBezTo>
                    <a:pt x="155248" y="0"/>
                    <a:pt x="200025" y="44777"/>
                    <a:pt x="200025" y="100012"/>
                  </a:cubicBezTo>
                  <a:cubicBezTo>
                    <a:pt x="200025" y="122477"/>
                    <a:pt x="192618" y="143212"/>
                    <a:pt x="180114" y="159909"/>
                  </a:cubicBezTo>
                  <a:lnTo>
                    <a:pt x="224415" y="204210"/>
                  </a:lnTo>
                  <a:lnTo>
                    <a:pt x="204210" y="224415"/>
                  </a:lnTo>
                  <a:lnTo>
                    <a:pt x="159909" y="180114"/>
                  </a:lnTo>
                  <a:close/>
                  <a:moveTo>
                    <a:pt x="79807" y="120218"/>
                  </a:moveTo>
                  <a:lnTo>
                    <a:pt x="59601" y="140424"/>
                  </a:lnTo>
                  <a:cubicBezTo>
                    <a:pt x="37283" y="118105"/>
                    <a:pt x="37283" y="81920"/>
                    <a:pt x="59601" y="59601"/>
                  </a:cubicBezTo>
                  <a:cubicBezTo>
                    <a:pt x="81920" y="37283"/>
                    <a:pt x="118105" y="37283"/>
                    <a:pt x="140424" y="59601"/>
                  </a:cubicBezTo>
                  <a:lnTo>
                    <a:pt x="120218" y="79807"/>
                  </a:lnTo>
                  <a:cubicBezTo>
                    <a:pt x="109059" y="68648"/>
                    <a:pt x="90966" y="68648"/>
                    <a:pt x="79807" y="79807"/>
                  </a:cubicBezTo>
                  <a:cubicBezTo>
                    <a:pt x="68648" y="90966"/>
                    <a:pt x="68648" y="109059"/>
                    <a:pt x="79807" y="120218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80360" y="4871085"/>
              <a:ext cx="31150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LLMCompass v3 setup</a:t>
              </a:r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 xml:space="preserve"> 的关键 pitfalls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600325" y="51911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0"/>
                  </a:moveTo>
                  <a:cubicBezTo>
                    <a:pt x="19190" y="0"/>
                    <a:pt x="0" y="19190"/>
                    <a:pt x="0" y="42862"/>
                  </a:cubicBezTo>
                  <a:lnTo>
                    <a:pt x="0" y="185738"/>
                  </a:lnTo>
                  <a:cubicBezTo>
                    <a:pt x="0" y="209410"/>
                    <a:pt x="19190" y="228600"/>
                    <a:pt x="42862" y="228600"/>
                  </a:cubicBezTo>
                  <a:lnTo>
                    <a:pt x="171450" y="228600"/>
                  </a:lnTo>
                  <a:lnTo>
                    <a:pt x="171450" y="200025"/>
                  </a:lnTo>
                  <a:lnTo>
                    <a:pt x="28575" y="200025"/>
                  </a:lnTo>
                  <a:lnTo>
                    <a:pt x="28575" y="171450"/>
                  </a:lnTo>
                  <a:lnTo>
                    <a:pt x="171450" y="171450"/>
                  </a:lnTo>
                  <a:lnTo>
                    <a:pt x="171450" y="0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80360" y="5252085"/>
              <a:ext cx="3228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方法论迁移到其它 simulator 上的可行性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191250"/>
            <a:ext cx="12192000" cy="666750"/>
            <a:chOff x="0" y="6191250"/>
            <a:chExt cx="12192000" cy="666750"/>
          </a:xfrm>
        </p:grpSpPr>
        <p:sp>
          <p:nvSpPr>
            <p:cNvPr id="24" name="Rectangle 24"/>
            <p:cNvSpPr/>
            <p:nvPr/>
          </p:nvSpPr>
          <p:spPr>
            <a:xfrm>
              <a:off x="0" y="6191250"/>
              <a:ext cx="12192000" cy="666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4355" y="64455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dyf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34356" y="6461760"/>
              <a:ext cx="19232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5F7FA"/>
                  </a:solidFill>
                  <a:latin typeface="Segoe UI"/>
                  <a:ea typeface="Microsoft YaHei"/>
                  <a:cs typeface="Segoe UI"/>
                </a:rPr>
                <a:t>2026-07-04 周组会汇报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70110" y="647795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D5DBDB"/>
                  </a:solidFill>
                  <a:latin typeface="Segoe UI"/>
                  <a:ea typeface="Microsoft YaHei"/>
                  <a:cs typeface="Segoe UI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